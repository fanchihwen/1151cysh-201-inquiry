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tags/tag1.xml" ContentType="application/vnd.openxmlformats-officedocument.presentationml.tags+xml"/>
  <Override PartName="/ppt/notesSlides/notesSlide46.xml" ContentType="application/vnd.openxmlformats-officedocument.presentationml.notesSlide+xml"/>
  <Override PartName="/ppt/tags/tag2.xml" ContentType="application/vnd.openxmlformats-officedocument.presentationml.tags+xml"/>
  <Override PartName="/ppt/notesSlides/notesSlide47.xml" ContentType="application/vnd.openxmlformats-officedocument.presentationml.notesSlide+xml"/>
  <Override PartName="/ppt/tags/tag3.xml" ContentType="application/vnd.openxmlformats-officedocument.presentationml.tags+xml"/>
  <Override PartName="/ppt/notesSlides/notesSlide48.xml" ContentType="application/vnd.openxmlformats-officedocument.presentationml.notesSlide+xml"/>
  <Override PartName="/ppt/tags/tag4.xml" ContentType="application/vnd.openxmlformats-officedocument.presentationml.tags+xml"/>
  <Override PartName="/ppt/notesSlides/notesSlide49.xml" ContentType="application/vnd.openxmlformats-officedocument.presentationml.notesSlide+xml"/>
  <Override PartName="/ppt/tags/tag5.xml" ContentType="application/vnd.openxmlformats-officedocument.presentationml.tags+xml"/>
  <Override PartName="/ppt/notesSlides/notesSlide50.xml" ContentType="application/vnd.openxmlformats-officedocument.presentationml.notesSlide+xml"/>
  <Override PartName="/ppt/tags/tag6.xml" ContentType="application/vnd.openxmlformats-officedocument.presentationml.tags+xml"/>
  <Override PartName="/ppt/notesSlides/notesSlide51.xml" ContentType="application/vnd.openxmlformats-officedocument.presentationml.notesSlide+xml"/>
  <Override PartName="/ppt/tags/tag7.xml" ContentType="application/vnd.openxmlformats-officedocument.presentationml.tags+xml"/>
  <Override PartName="/ppt/notesSlides/notesSlide52.xml" ContentType="application/vnd.openxmlformats-officedocument.presentationml.notesSlide+xml"/>
  <Override PartName="/ppt/tags/tag8.xml" ContentType="application/vnd.openxmlformats-officedocument.presentationml.tags+xml"/>
  <Override PartName="/ppt/notesSlides/notesSlide53.xml" ContentType="application/vnd.openxmlformats-officedocument.presentationml.notesSlide+xml"/>
  <Override PartName="/ppt/tags/tag9.xml" ContentType="application/vnd.openxmlformats-officedocument.presentationml.tags+xml"/>
  <Override PartName="/ppt/notesSlides/notesSlide54.xml" ContentType="application/vnd.openxmlformats-officedocument.presentationml.notesSlide+xml"/>
  <Override PartName="/ppt/tags/tag10.xml" ContentType="application/vnd.openxmlformats-officedocument.presentationml.tags+xml"/>
  <Override PartName="/ppt/notesSlides/notesSlide55.xml" ContentType="application/vnd.openxmlformats-officedocument.presentationml.notesSlide+xml"/>
  <Override PartName="/ppt/tags/tag11.xml" ContentType="application/vnd.openxmlformats-officedocument.presentationml.tags+xml"/>
  <Override PartName="/ppt/notesSlides/notesSlide56.xml" ContentType="application/vnd.openxmlformats-officedocument.presentationml.notesSlide+xml"/>
  <Override PartName="/ppt/tags/tag12.xml" ContentType="application/vnd.openxmlformats-officedocument.presentationml.tags+xml"/>
  <Override PartName="/ppt/notesSlides/notesSlide57.xml" ContentType="application/vnd.openxmlformats-officedocument.presentationml.notesSlide+xml"/>
  <Override PartName="/ppt/tags/tag13.xml" ContentType="application/vnd.openxmlformats-officedocument.presentationml.tags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</p:sldIdLst>
  <p:sldSz cx="12192000" cy="6858000"/>
  <p:notesSz cx="6858000" cy="9144000"/>
  <p:embeddedFontLst>
    <p:embeddedFont>
      <p:font typeface="Microsoft JhengHei" panose="020B0604030504040204" pitchFamily="34" charset="-120"/>
      <p:regular r:id="rId85"/>
      <p:bold r:id="rId86"/>
    </p:embeddedFont>
    <p:embeddedFont>
      <p:font typeface="DFKai-SB" panose="03000509000000000000" pitchFamily="65" charset="-120"/>
      <p:regular r:id="rId87"/>
    </p:embeddedFont>
    <p:embeddedFont>
      <p:font typeface="Arial Black" panose="020B0A04020102020204" pitchFamily="34" charset="0"/>
      <p:bold r:id="rId88"/>
    </p:embeddedFont>
    <p:embeddedFont>
      <p:font typeface="Golos Text" panose="02020500000000000000" charset="0"/>
      <p:regular r:id="rId89"/>
      <p:bold r:id="rId90"/>
    </p:embeddedFont>
    <p:embeddedFont>
      <p:font typeface="Noto Sans TC" panose="020B0200000000000000" pitchFamily="34" charset="-120"/>
      <p:regular r:id="rId91"/>
      <p:bold r:id="rId92"/>
    </p:embeddedFont>
    <p:embeddedFont>
      <p:font typeface="Roboto" panose="02000000000000000000" pitchFamily="2" charset="0"/>
      <p:regular r:id="rId93"/>
      <p:bold r:id="rId94"/>
      <p:italic r:id="rId95"/>
      <p:boldItalic r:id="rId9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1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9f93969b8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379f93969b8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379f93969b8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9e7ae5223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9e7ae5223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9e7ae5223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72dfcdfe7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2872dfcdfe7_3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2872dfcdfe7_3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72dfcdfe7_3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872dfcdfe7_3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872dfcdfe7_3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9f5ffd6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f9f5ffd6c1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g3f9f5ffd6c1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872dfcdfe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g2872dfcdfe7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g2872dfcdfe7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5" name="Google Shape;45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872dfcdfe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3" name="Google Shape;483;g2872dfcdfe7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g2872dfcdfe7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872dfcdfe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3" name="Google Shape;493;g2872dfcdfe7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2872dfcdfe7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872dfcdfe7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g2872dfcdfe7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g2872dfcdfe7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872dfcdfe7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g2872dfcdfe7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2872dfcdfe7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7" name="Google Shape;547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0" name="Google Shape;56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8a4cebde5e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3" name="Google Shape;573;g38a4cebde5e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g38a4cebde5e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5" name="Google Shape;58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a4cebde5e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5" name="Google Shape;595;g38a4cebde5e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g38a4cebde5e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409f7c21d5f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409f7c21d5f_1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409f7c21d5f_1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409f7c21d5f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g409f7c21d5f_1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g409f7c21d5f_1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409f7c21d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7" name="Google Shape;637;g409f7c21d5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g409f7c21d5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409f7c21d5f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6" name="Google Shape;646;g409f7c21d5f_1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409f7c21d5f_1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9f7c21d5f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5" name="Google Shape;655;g409f7c21d5f_1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g409f7c21d5f_1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8a4cebde5e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9" name="Google Shape;679;g38a4cebde5e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g38a4cebde5e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8a4cebde5e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g38a4cebde5e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g38a4cebde5e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8a4cebde5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g38a4cebde5e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g38a4cebde5e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先問：有圖表、有數據，就能算科學嗎？這個完整版本保留字源、分界、兩段費曼故事與四題挑戰；依原稿配時約 </a:t>
            </a:r>
            <a:r>
              <a:rPr lang="en-US" altLang="zh-TW"/>
              <a:t>22.5 </a:t>
            </a:r>
            <a:r>
              <a:rPr lang="zh-TW" altLang="en-US"/>
              <a:t>分鐘，並非十分鐘版。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：先看木頭耳機的問題，想 </a:t>
            </a:r>
            <a:r>
              <a:rPr lang="en-US" altLang="zh-TW"/>
              <a:t>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：揭示本節脈絡；教師用一句話交代全程。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2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兩個案例都是教學模擬，不代表已查證商品或本班事件。先讓學生說需要追問什麼。</a:t>
            </a:r>
            <a:r>
              <a:rPr lang="en-US" altLang="zh-TW"/>
              <a:t>A </a:t>
            </a:r>
            <a:r>
              <a:rPr lang="zh-TW" altLang="en-US"/>
              <a:t>的售價、專利與術語本身不是判偽依據；</a:t>
            </a:r>
            <a:r>
              <a:rPr lang="en-US" altLang="zh-TW"/>
              <a:t>B </a:t>
            </a:r>
            <a:r>
              <a:rPr lang="zh-TW" altLang="en-US"/>
              <a:t>則明示改動數據。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</a:t>
            </a:r>
            <a:r>
              <a:rPr lang="en-US" altLang="zh-TW"/>
              <a:t>A</a:t>
            </a:r>
            <a:r>
              <a:rPr lang="zh-TW" altLang="en-US"/>
              <a:t>、</a:t>
            </a:r>
            <a:r>
              <a:rPr lang="en-US" altLang="zh-TW"/>
              <a:t>B </a:t>
            </a:r>
            <a:r>
              <a:rPr lang="zh-TW" altLang="en-US"/>
              <a:t>題幹完整可見，兩個判讀尚未顯示。</a:t>
            </a:r>
          </a:p>
          <a:p>
            <a:r>
              <a:rPr lang="zh-TW" altLang="en-US"/>
              <a:t>等待 </a:t>
            </a:r>
            <a:r>
              <a:rPr lang="en-US" altLang="zh-TW"/>
              <a:t>8 </a:t>
            </a:r>
            <a:r>
              <a:rPr lang="zh-TW" altLang="en-US"/>
              <a:t>秒，請一位學生說明判斷。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</a:t>
            </a:r>
            <a:r>
              <a:rPr lang="en-US" altLang="zh-TW"/>
              <a:t>A </a:t>
            </a:r>
            <a:r>
              <a:rPr lang="zh-TW" altLang="en-US"/>
              <a:t>的證據問題。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</a:t>
            </a:r>
            <a:r>
              <a:rPr lang="en-US" altLang="zh-TW"/>
              <a:t>B </a:t>
            </a:r>
            <a:r>
              <a:rPr lang="zh-TW" altLang="en-US"/>
              <a:t>的資料誠實問題。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3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本頁只作導航，不先解釋每個名詞。學習終點是能提出查核問題，並誠實交代資料。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：第一站。</a:t>
            </a:r>
          </a:p>
          <a:p>
            <a:r>
              <a:rPr lang="zh-TW" altLang="en-US"/>
              <a:t>點擊 </a:t>
            </a:r>
            <a:r>
              <a:rPr lang="en-US" altLang="zh-TW"/>
              <a:t>1–3</a:t>
            </a:r>
            <a:r>
              <a:rPr lang="zh-TW" altLang="en-US"/>
              <a:t>：依序揭示其餘三站；每站只說一句。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4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保留原稿四段歷史與人物，但不再把 </a:t>
            </a:r>
            <a:r>
              <a:rPr lang="en-US" altLang="zh-TW"/>
              <a:t>Scientia </a:t>
            </a:r>
            <a:r>
              <a:rPr lang="zh-TW" altLang="en-US"/>
              <a:t>說成西塞羅獨創，也不把 </a:t>
            </a:r>
            <a:r>
              <a:rPr lang="en-US" altLang="zh-TW"/>
              <a:t>Scientist </a:t>
            </a:r>
            <a:r>
              <a:rPr lang="zh-TW" altLang="en-US"/>
              <a:t>的命名說成科學領域在某一年正式定型。東亞詞語史比單一發明者更複雜；</a:t>
            </a:r>
            <a:r>
              <a:rPr lang="en-US" altLang="zh-TW"/>
              <a:t>1874 </a:t>
            </a:r>
            <a:r>
              <a:rPr lang="zh-TW" altLang="en-US"/>
              <a:t>為原稿歷史錨點，不宣稱首次出現。西周、梁啟超與五四的傳播不應壓成同一事件。來源：</a:t>
            </a:r>
            <a:r>
              <a:rPr lang="en-US" altLang="zh-TW"/>
              <a:t>https://plato.stanford.edu/entries/whewell/</a:t>
            </a:r>
            <a:r>
              <a:rPr lang="zh-TW" altLang="en-US"/>
              <a:t>；科學詞語史研究：</a:t>
            </a:r>
            <a:r>
              <a:rPr lang="en-US" altLang="zh-TW"/>
              <a:t>https://ir.library.osaka-u.ac.jp/repo/ouka/all/56924/mgsl056_123.pdf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：希臘。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：羅馬。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：英國。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：東亞；提醒名稱、方法及制度的演變不同步。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5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150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可證偽性是波普爾的重要想法，但不等於單一充分判準。非科學欄指問題類型，並非禁止以科學研究藝術、宗教等人類現象。相對論例子是教學摘要，不冒充愛因斯坦原話。來源：</a:t>
            </a:r>
            <a:r>
              <a:rPr lang="en-US" altLang="zh-TW"/>
              <a:t>https://plato.stanford.edu/entries/pseudo-science/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：先說可證偽性。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：科學例子。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：非科學問題。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：偽科學警訊。</a:t>
            </a:r>
          </a:p>
          <a:p>
            <a:r>
              <a:rPr lang="zh-TW" altLang="en-US"/>
              <a:t>學生說出「研究結果錯誤」與「逃避證據」有何不同。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6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先讓學生說出一萬次觀察能支持到什麼程度。黑天鵝是全稱命題的邏輯反例；真實實驗中的異常仍要查核測量、條件與其他解釋。原稿「</a:t>
            </a:r>
            <a:r>
              <a:rPr lang="en-US" altLang="zh-TW"/>
              <a:t>0.1 </a:t>
            </a:r>
            <a:r>
              <a:rPr lang="zh-TW" altLang="en-US"/>
              <a:t>秒粉碎」為修辭，改成精確的邏輯敘述。來源：</a:t>
            </a:r>
            <a:r>
              <a:rPr lang="en-US" altLang="zh-TW"/>
              <a:t>https://plato.stanford.edu/archives/spr2013/entries/popper/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：主張與白天鵝觀察。</a:t>
            </a:r>
          </a:p>
          <a:p>
            <a:r>
              <a:rPr lang="zh-TW" altLang="en-US"/>
              <a:t>等待 </a:t>
            </a:r>
            <a:r>
              <a:rPr lang="en-US" altLang="zh-TW"/>
              <a:t>5–8 </a:t>
            </a:r>
            <a:r>
              <a:rPr lang="zh-TW" altLang="en-US"/>
              <a:t>秒，請學生表態。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：觀察能支持的範圍。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：經確認的黑天鵝。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：科學理論持續受檢驗的結論。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7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保留原稿的物資、跑道、火光、塔台、耳機與盼望飛機故事，並標明這是費曼的演說比喻，不當成完整民族誌。把嘲笑的對象轉向研究作風：不是只說別人笨，而是檢查自己。來源：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：戰時與戰後的背景。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：模仿的物件與行動。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：比喻的結果。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：連到實驗報告外觀。</a:t>
            </a:r>
          </a:p>
          <a:p>
            <a:r>
              <a:rPr lang="zh-TW" altLang="en-US"/>
              <a:t>先問少了什麼，再點擊 </a:t>
            </a:r>
            <a:r>
              <a:rPr lang="en-US" altLang="zh-TW"/>
              <a:t>4</a:t>
            </a:r>
            <a:r>
              <a:rPr lang="zh-TW" altLang="en-US"/>
              <a:t>：科學誠實。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8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費曼敘述的是對不合預期與符合預期的數據採取不同查錯標準，以及選擇性排除，不等於證實所有研究者蓄意修改原始數字。保留原稿「</a:t>
            </a:r>
            <a:r>
              <a:rPr lang="en-US" altLang="zh-TW"/>
              <a:t>25 </a:t>
            </a:r>
            <a:r>
              <a:rPr lang="zh-TW" altLang="en-US"/>
              <a:t>年」數字但在畫面明示待查證，不能當確定史實教學。所謂後來的接受值仍有測量不確定度。來源：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：測量偏差的背景。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：偏高結果受到更嚴格檢查。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：相近結果受到較少檢查。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：逐步上移及年數限制。</a:t>
            </a:r>
          </a:p>
          <a:p>
            <a:r>
              <a:rPr lang="zh-TW" altLang="en-US"/>
              <a:t>請學生比較兩種查錯態度，再點擊 </a:t>
            </a:r>
            <a:r>
              <a:rPr lang="en-US" altLang="zh-TW"/>
              <a:t>4</a:t>
            </a:r>
            <a:r>
              <a:rPr lang="zh-TW" altLang="en-US"/>
              <a:t>：不自欺。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9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左欄保留原稿四種行為，右欄保留四個改善方向。異常值不一定是新發現；有明確測量錯誤時可以更正或排除於分析之外，但要保留原始紀錄並說明依據。來源：</a:t>
            </a:r>
            <a:r>
              <a:rPr lang="en-US" altLang="zh-TW"/>
              <a:t>https://www.itl.nist.gov/div898/handbook/eda/section3/eda35h.htm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：四個常見問題。</a:t>
            </a:r>
          </a:p>
          <a:p>
            <a:r>
              <a:rPr lang="zh-TW" altLang="en-US"/>
              <a:t>個人想 </a:t>
            </a:r>
            <a:r>
              <a:rPr lang="en-US" altLang="zh-TW"/>
              <a:t>10 </a:t>
            </a:r>
            <a:r>
              <a:rPr lang="zh-TW" altLang="en-US"/>
              <a:t>秒，同桌交換 </a:t>
            </a:r>
            <a:r>
              <a:rPr lang="en-US" altLang="zh-TW"/>
              <a:t>15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1–4</a:t>
            </a:r>
            <a:r>
              <a:rPr lang="zh-TW" altLang="en-US"/>
              <a:t>：逐項揭示對應作法。</a:t>
            </a:r>
          </a:p>
          <a:p>
            <a:r>
              <a:rPr lang="zh-TW" altLang="en-US"/>
              <a:t>完成時追問：若計時按錯，如何處理並留下紀錄？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10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五張卡保留原稿五類與例子，但不排列成進化或價值高低階梯。類別可能重疊。修正原稿把 </a:t>
            </a:r>
            <a:r>
              <a:rPr lang="en-US" altLang="zh-TW"/>
              <a:t>Proto- </a:t>
            </a:r>
            <a:r>
              <a:rPr lang="zh-TW" altLang="en-US"/>
              <a:t>配成邊緣科學的用法：</a:t>
            </a:r>
            <a:r>
              <a:rPr lang="en-US" altLang="zh-TW"/>
              <a:t>protoscience </a:t>
            </a:r>
            <a:r>
              <a:rPr lang="zh-TW" altLang="en-US"/>
              <a:t>通常譯原科學／雛形科學；本卡所談非主流研究使用 </a:t>
            </a:r>
            <a:r>
              <a:rPr lang="en-US" altLang="zh-TW"/>
              <a:t>fringe science</a:t>
            </a:r>
            <a:r>
              <a:rPr lang="zh-TW" altLang="en-US"/>
              <a:t>。反對一項政策或提出疑問本身不等於反科學，須看面對方法與證據的態度。大陸漂移的歷史只是回顧例子，非主流不保證將來正確。來源：</a:t>
            </a:r>
            <a:r>
              <a:rPr lang="en-US" altLang="zh-TW"/>
              <a:t>https://plato.stanford.edu/entries/pseudo-science/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：反科學名稱與檢查面向。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：第一張的例子。</a:t>
            </a:r>
          </a:p>
          <a:p>
            <a:r>
              <a:rPr lang="zh-TW" altLang="en-US"/>
              <a:t>點擊 </a:t>
            </a:r>
            <a:r>
              <a:rPr lang="en-US" altLang="zh-TW"/>
              <a:t>2–5</a:t>
            </a:r>
            <a:r>
              <a:rPr lang="zh-TW" altLang="en-US"/>
              <a:t>：逐張加入其餘四類。</a:t>
            </a:r>
          </a:p>
          <a:p>
            <a:r>
              <a:rPr lang="zh-TW" altLang="en-US"/>
              <a:t>完成時指出：不同面向可能重疊，不能據此排一條升級階梯。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11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120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完整保留原稿四道情境及其判斷方向。每題先請學生用一句理由作答，再揭示判讀；第 </a:t>
            </a:r>
            <a:r>
              <a:rPr lang="en-US" altLang="zh-TW"/>
              <a:t>3 </a:t>
            </a:r>
            <a:r>
              <a:rPr lang="zh-TW" altLang="en-US"/>
              <a:t>題避免把遭質疑當作正確的證據。四題合計兩分鐘為原稿配時，若學生需更多解釋，延長此頁，不宣稱全段十分鐘。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：情境 </a:t>
            </a:r>
            <a:r>
              <a:rPr lang="en-US" altLang="zh-TW"/>
              <a:t>1</a:t>
            </a:r>
            <a:r>
              <a:rPr lang="zh-TW" altLang="en-US"/>
              <a:t>；想 </a:t>
            </a:r>
            <a:r>
              <a:rPr lang="en-US" altLang="zh-TW"/>
              <a:t>5–8 </a:t>
            </a:r>
            <a:r>
              <a:rPr lang="zh-TW" altLang="en-US"/>
              <a:t>秒。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：第一題回饋。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：情境 </a:t>
            </a:r>
            <a:r>
              <a:rPr lang="en-US" altLang="zh-TW"/>
              <a:t>2</a:t>
            </a:r>
            <a:r>
              <a:rPr lang="zh-TW" altLang="en-US"/>
              <a:t>；先答。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：第二題回饋。</a:t>
            </a:r>
          </a:p>
          <a:p>
            <a:r>
              <a:rPr lang="zh-TW" altLang="en-US"/>
              <a:t>點擊 </a:t>
            </a:r>
            <a:r>
              <a:rPr lang="en-US" altLang="zh-TW"/>
              <a:t>4</a:t>
            </a:r>
            <a:r>
              <a:rPr lang="zh-TW" altLang="en-US"/>
              <a:t>：情境 </a:t>
            </a:r>
            <a:r>
              <a:rPr lang="en-US" altLang="zh-TW"/>
              <a:t>3</a:t>
            </a:r>
            <a:r>
              <a:rPr lang="zh-TW" altLang="en-US"/>
              <a:t>；先答。</a:t>
            </a:r>
          </a:p>
          <a:p>
            <a:r>
              <a:rPr lang="zh-TW" altLang="en-US"/>
              <a:t>點擊 </a:t>
            </a:r>
            <a:r>
              <a:rPr lang="en-US" altLang="zh-TW"/>
              <a:t>5</a:t>
            </a:r>
            <a:r>
              <a:rPr lang="zh-TW" altLang="en-US"/>
              <a:t>：第三題回饋。</a:t>
            </a:r>
          </a:p>
          <a:p>
            <a:r>
              <a:rPr lang="zh-TW" altLang="en-US"/>
              <a:t>點擊 </a:t>
            </a:r>
            <a:r>
              <a:rPr lang="en-US" altLang="zh-TW"/>
              <a:t>6</a:t>
            </a:r>
            <a:r>
              <a:rPr lang="zh-TW" altLang="en-US"/>
              <a:t>：情境 </a:t>
            </a:r>
            <a:r>
              <a:rPr lang="en-US" altLang="zh-TW"/>
              <a:t>4</a:t>
            </a:r>
            <a:r>
              <a:rPr lang="zh-TW" altLang="en-US"/>
              <a:t>；先答。</a:t>
            </a:r>
          </a:p>
          <a:p>
            <a:r>
              <a:rPr lang="zh-TW" altLang="en-US"/>
              <a:t>點擊 </a:t>
            </a:r>
            <a:r>
              <a:rPr lang="en-US" altLang="zh-TW"/>
              <a:t>7</a:t>
            </a:r>
            <a:r>
              <a:rPr lang="zh-TW" altLang="en-US"/>
              <a:t>：第四題回饋。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12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90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保留波普爾之鏡與費曼之鏡的工具，將「照對手」潤飾為也能檢查自己的提問。修正「答不出來立刻判為偽科學」的過度推論；兩問是追查的起點。來源：</a:t>
            </a:r>
            <a:r>
              <a:rPr lang="en-US" altLang="zh-TW"/>
              <a:t>https://plato.stanford.edu/entries/pseudo-science/</a:t>
            </a:r>
            <a:r>
              <a:rPr lang="zh-TW" altLang="en-US"/>
              <a:t>；</a:t>
            </a:r>
            <a:r>
              <a:rPr lang="en-US" altLang="zh-TW"/>
              <a:t>https://calteches.library.caltech.edu/51/2/CargoCult.htm</a:t>
            </a:r>
          </a:p>
          <a:p>
            <a:endParaRPr lang="en-US" altLang="zh-TW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：第一稜鏡的用途。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：第一問，學生自行試問一次。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：如何處理答不清楚的情況。</a:t>
            </a:r>
          </a:p>
          <a:p>
            <a:r>
              <a:rPr lang="zh-TW" altLang="en-US"/>
              <a:t>點擊 </a:t>
            </a:r>
            <a:r>
              <a:rPr lang="en-US" altLang="zh-TW"/>
              <a:t>3</a:t>
            </a:r>
            <a:r>
              <a:rPr lang="zh-TW" altLang="en-US"/>
              <a:t>：第二稜鏡及第二問。</a:t>
            </a:r>
          </a:p>
          <a:p>
            <a:r>
              <a:rPr lang="zh-TW" altLang="en-US"/>
              <a:t>點擊 </a:t>
            </a:r>
            <a:r>
              <a:rPr lang="en-US" altLang="zh-TW"/>
              <a:t>4</a:t>
            </a:r>
            <a:r>
              <a:rPr lang="zh-TW" altLang="en-US"/>
              <a:t>：報告中的具體行動。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TW"/>
              <a:t>【B </a:t>
            </a:r>
            <a:r>
              <a:rPr lang="zh-TW" altLang="en-US"/>
              <a:t>版：完整脈絡潤色步驟版｜來源原第 </a:t>
            </a:r>
            <a:r>
              <a:rPr lang="en-US" altLang="zh-TW"/>
              <a:t>13 </a:t>
            </a:r>
            <a:r>
              <a:rPr lang="zh-TW" altLang="en-US"/>
              <a:t>頁</a:t>
            </a:r>
            <a:r>
              <a:rPr lang="en-US" altLang="zh-TW"/>
              <a:t>】</a:t>
            </a:r>
          </a:p>
          <a:p>
            <a:r>
              <a:rPr lang="zh-TW" altLang="en-US"/>
              <a:t>規劃配時：</a:t>
            </a:r>
            <a:r>
              <a:rPr lang="en-US" altLang="zh-TW"/>
              <a:t>60 </a:t>
            </a:r>
            <a:r>
              <a:rPr lang="zh-TW" altLang="en-US"/>
              <a:t>秒（含師生互動；尚未課堂實測）</a:t>
            </a:r>
          </a:p>
          <a:p>
            <a:endParaRPr lang="zh-TW" altLang="en-US"/>
          </a:p>
          <a:p>
            <a:r>
              <a:rPr lang="zh-TW" altLang="en-US"/>
              <a:t>保留原稿木頭耳機的收束意象、學生祝福及 </a:t>
            </a:r>
            <a:r>
              <a:rPr lang="en-US" altLang="zh-TW"/>
              <a:t>Q&amp;A</a:t>
            </a:r>
            <a:r>
              <a:rPr lang="zh-TW" altLang="en-US"/>
              <a:t>。引文為教師結語的潤飾，不標作費曼原話。若嵌入主簡報，</a:t>
            </a:r>
            <a:r>
              <a:rPr lang="en-US" altLang="zh-TW"/>
              <a:t>Q&amp;A </a:t>
            </a:r>
            <a:r>
              <a:rPr lang="zh-TW" altLang="en-US"/>
              <a:t>可由教師口頭延後至整個單元結束；本檔不刪除。</a:t>
            </a:r>
          </a:p>
          <a:p>
            <a:endParaRPr lang="zh-TW" altLang="en-US"/>
          </a:p>
          <a:p>
            <a:r>
              <a:rPr lang="en-US" altLang="zh-TW"/>
              <a:t>【</a:t>
            </a:r>
            <a:r>
              <a:rPr lang="zh-TW" altLang="en-US"/>
              <a:t>按鍵與停頓</a:t>
            </a:r>
            <a:r>
              <a:rPr lang="en-US" altLang="zh-TW"/>
              <a:t>】</a:t>
            </a:r>
          </a:p>
          <a:p>
            <a:r>
              <a:rPr lang="en-US" altLang="zh-TW"/>
              <a:t>S0</a:t>
            </a:r>
            <a:r>
              <a:rPr lang="zh-TW" altLang="en-US"/>
              <a:t>：本節收束。</a:t>
            </a:r>
          </a:p>
          <a:p>
            <a:r>
              <a:rPr lang="zh-TW" altLang="en-US"/>
              <a:t>點擊 </a:t>
            </a:r>
            <a:r>
              <a:rPr lang="en-US" altLang="zh-TW"/>
              <a:t>1</a:t>
            </a:r>
            <a:r>
              <a:rPr lang="zh-TW" altLang="en-US"/>
              <a:t>：木頭耳機的結語，學生回想一項要避免的研究行為。</a:t>
            </a:r>
          </a:p>
          <a:p>
            <a:r>
              <a:rPr lang="zh-TW" altLang="en-US"/>
              <a:t>點擊 </a:t>
            </a:r>
            <a:r>
              <a:rPr lang="en-US" altLang="zh-TW"/>
              <a:t>2</a:t>
            </a:r>
            <a:r>
              <a:rPr lang="zh-TW" altLang="en-US"/>
              <a:t>：祝福與 </a:t>
            </a:r>
            <a:r>
              <a:rPr lang="en-US" altLang="zh-TW"/>
              <a:t>Q&amp;A</a:t>
            </a:r>
            <a:r>
              <a:rPr lang="zh-TW" altLang="en-US"/>
              <a:t>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5" name="Google Shape;71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8924afeb3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g28924afeb34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g28924afeb34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28924afeb3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0" name="Google Shape;740;g28924afeb34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g28924afeb34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4" name="Google Shape;75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6" name="Google Shape;76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872dfcdfe7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g2872dfcdfe7_4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g2872dfcdfe7_4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4" name="Google Shape;78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4" name="Google Shape;79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5" name="Google Shape;80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872dfcdfe7_3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5" name="Google Shape;815;g2872dfcdfe7_3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g2872dfcdfe7_3_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ff61de19c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5" name="Google Shape;825;g2ff61de19c9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g2ff61de19c9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ff61de19c9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4" name="Google Shape;834;g2ff61de19c9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g2ff61de19c9_0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71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ff61de19c9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3" name="Google Shape;843;g2ff61de19c9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g2ff61de19c9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72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ff61de19c9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2" name="Google Shape;852;g2ff61de19c9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g2ff61de19c9_0_7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73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ff61de19c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1" name="Google Shape;861;g2ff61de19c9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g2ff61de19c9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74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ff61de19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1" name="Google Shape;871;g2ff61de19c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g2ff61de19c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75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ff61de19c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0" name="Google Shape;880;g2ff61de19c9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g2ff61de19c9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76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ff61de19c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9" name="Google Shape;889;g2ff61de19c9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g2ff61de19c9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ff61de19c9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8" name="Google Shape;898;g2ff61de19c9_0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g2ff61de19c9_0_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8" name="Google Shape;908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79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ff61de19c9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8" name="Google Shape;918;g2ff61de19c9_0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g2ff61de19c9_0_10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80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8a9b5f07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8" name="Google Shape;928;g38a9b5f077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g38a9b5f077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81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9" name="Google Shape;939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TW"/>
              <a:t>82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>
  <p:cSld name="标题和内容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 rot="5400000">
            <a:off x="251050" y="-251051"/>
            <a:ext cx="729204" cy="1231306"/>
          </a:xfrm>
          <a:custGeom>
            <a:avLst/>
            <a:gdLst/>
            <a:ahLst/>
            <a:cxnLst/>
            <a:rect l="l" t="t" r="r" b="b"/>
            <a:pathLst>
              <a:path w="729204" h="1231306" extrusionOk="0">
                <a:moveTo>
                  <a:pt x="0" y="1231306"/>
                </a:moveTo>
                <a:lnTo>
                  <a:pt x="0" y="0"/>
                </a:lnTo>
                <a:lnTo>
                  <a:pt x="729204" y="1231306"/>
                </a:lnTo>
                <a:close/>
              </a:path>
            </a:pathLst>
          </a:custGeom>
          <a:solidFill>
            <a:srgbClr val="E0EF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6609144"/>
            <a:ext cx="12192000" cy="248856"/>
          </a:xfrm>
          <a:prstGeom prst="rect">
            <a:avLst/>
          </a:prstGeom>
          <a:solidFill>
            <a:srgbClr val="F1D5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 rot="-1800000">
            <a:off x="21470" y="632339"/>
            <a:ext cx="659692" cy="123743"/>
          </a:xfrm>
          <a:prstGeom prst="roundRect">
            <a:avLst>
              <a:gd name="adj" fmla="val 50000"/>
            </a:avLst>
          </a:prstGeom>
          <a:solidFill>
            <a:srgbClr val="F1D5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>
  <p:cSld name="节标题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项内容">
  <p:cSld name="两项内容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标题幻灯片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jvMAb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hanlin.com.tw/app/keyword/%E5%9C%8B%E4%B8%AD/%E7%90%86%E5%8C%96/%E8%AE%8A%E5%9B%A0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reurl.cc/y6y608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ocus.cc/article/5e3c1ec2fd897800013ae05c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view/201science" TargetMode="Externa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dTrPShwe8fI" TargetMode="External"/><Relationship Id="rId5" Type="http://schemas.openxmlformats.org/officeDocument/2006/relationships/image" Target="../media/image21.png"/><Relationship Id="rId4" Type="http://schemas.openxmlformats.org/officeDocument/2006/relationships/hyperlink" Target="https://www.youtube.com/watch?v=aoPhMd9JuQk" TargetMode="Externa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url.cc/qvrr7N" TargetMode="External"/><Relationship Id="rId4" Type="http://schemas.openxmlformats.org/officeDocument/2006/relationships/hyperlink" Target="https://journals.aps.org/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0" y="0"/>
            <a:ext cx="4359317" cy="6858000"/>
          </a:xfrm>
          <a:custGeom>
            <a:avLst/>
            <a:gdLst/>
            <a:ahLst/>
            <a:cxnLst/>
            <a:rect l="l" t="t" r="r" b="b"/>
            <a:pathLst>
              <a:path w="4359317" h="6858000" extrusionOk="0">
                <a:moveTo>
                  <a:pt x="297872" y="0"/>
                </a:moveTo>
                <a:lnTo>
                  <a:pt x="0" y="0"/>
                </a:lnTo>
                <a:lnTo>
                  <a:pt x="0" y="6858000"/>
                </a:lnTo>
                <a:lnTo>
                  <a:pt x="4359317" y="6858000"/>
                </a:lnTo>
                <a:close/>
              </a:path>
            </a:pathLst>
          </a:custGeom>
          <a:solidFill>
            <a:srgbClr val="E0EF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7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7"/>
          <p:cNvSpPr/>
          <p:nvPr/>
        </p:nvSpPr>
        <p:spPr>
          <a:xfrm>
            <a:off x="11222253" y="607154"/>
            <a:ext cx="591183" cy="591183"/>
          </a:xfrm>
          <a:prstGeom prst="donut">
            <a:avLst>
              <a:gd name="adj" fmla="val 12646"/>
            </a:avLst>
          </a:prstGeom>
          <a:solidFill>
            <a:srgbClr val="E0EF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7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535907"/>
            <a:ext cx="12201785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探究與實作 課程簡介</a:t>
            </a:r>
            <a:endParaRPr sz="4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Science: Inquiry and Practice</a:t>
            </a:r>
            <a:endParaRPr sz="4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5854632" y="2420747"/>
            <a:ext cx="58644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國立嘉義高中</a:t>
            </a:r>
            <a:endParaRPr sz="4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物理科 樊志文</a:t>
            </a:r>
            <a:r>
              <a:rPr lang="zh-TW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老師</a:t>
            </a:r>
            <a:endParaRPr/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生物科 蕭伊岑老師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 b="0" i="0" u="none" strike="noStrike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5" name="Google Shape;35;p8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t="24396"/>
          <a:stretch/>
        </p:blipFill>
        <p:spPr>
          <a:xfrm>
            <a:off x="1700530" y="1085632"/>
            <a:ext cx="9563100" cy="433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本學期課程架構流程</a:t>
            </a:r>
            <a:endParaRPr sz="4400" b="0" i="0" u="none" strike="noStrike" cap="none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4" name="Google Shape;44;p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3">
            <a:alphaModFix/>
          </a:blip>
          <a:srcRect t="15263"/>
          <a:stretch/>
        </p:blipFill>
        <p:spPr>
          <a:xfrm>
            <a:off x="941070" y="1665171"/>
            <a:ext cx="10515600" cy="39594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/>
        </p:nvSpPr>
        <p:spPr>
          <a:xfrm>
            <a:off x="1442720" y="2580640"/>
            <a:ext cx="1371600" cy="584775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勇者的基石</a:t>
            </a:r>
            <a:endParaRPr sz="1600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0" i="0" u="none" strike="noStrike" cap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(Excel)</a:t>
            </a:r>
            <a:endParaRPr sz="1600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7" name="Google Shape;47;p9"/>
          <p:cNvSpPr txBox="1"/>
          <p:nvPr/>
        </p:nvSpPr>
        <p:spPr>
          <a:xfrm>
            <a:off x="8360025" y="2703678"/>
            <a:ext cx="2565900" cy="3387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色層分析</a:t>
            </a:r>
            <a:endParaRPr sz="1600" b="0" i="0" u="none" strike="noStrike" cap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分組說明</a:t>
            </a:r>
            <a:endParaRPr/>
          </a:p>
        </p:txBody>
      </p:sp>
      <p:sp>
        <p:nvSpPr>
          <p:cNvPr id="54" name="Google Shape;54;p1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0"/>
          <p:cNvSpPr txBox="1"/>
          <p:nvPr/>
        </p:nvSpPr>
        <p:spPr>
          <a:xfrm>
            <a:off x="1508260" y="1536194"/>
            <a:ext cx="939900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1.採用分組合作學習，一同努力以達到共同設定的目標。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2.配合學校教室的硬體資源限制，每組學生4人分組，請以2人為單位，找尋你的夥伴，並找老師登記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3.組別可因實驗不同而做重新分配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評分標準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838199" y="1398046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總成績為各主題成績之平均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例：本學期兩大主題，則每一主題占50%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本學期三大主題，則每一主題占33.3%</a:t>
            </a:r>
            <a:endParaRPr/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成績來源：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</a:t>
            </a: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(科學筆記本、平台作業)、上台發表、學習態度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(課堂表現)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上課回答問題 </a:t>
            </a:r>
            <a:r>
              <a:rPr lang="zh-TW" sz="32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每次加平時成績1分</a:t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評分標準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838199" y="1398046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總成績為各主題成績之平均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例：本學期兩大主題，則每一主題占50%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本學期三大主題，則每一主題占33.3%</a:t>
            </a:r>
            <a:endParaRPr/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成績來源：(科學筆記本、平台作業)40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、上台發表40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、(同學互評、學習態度)20</a:t>
            </a: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%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上課回答問題 </a:t>
            </a:r>
            <a:r>
              <a:rPr lang="zh-TW" sz="32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每次加平時成績1分，累積5分以上加總平均1分</a:t>
            </a:r>
            <a:endParaRPr/>
          </a:p>
        </p:txBody>
      </p:sp>
      <p:sp>
        <p:nvSpPr>
          <p:cNvPr id="72" name="Google Shape;72;p1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990600" y="1512771"/>
            <a:ext cx="10515601" cy="3767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實驗室飲食(包含吃&amp;喝)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攜帶食物進入實驗室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未遵守實驗室安全守則(經勸阻不聽)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操作傷害自己與同學的實驗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作業或報告缺繳以致無法及格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報告抄襲</a:t>
            </a:r>
            <a:endParaRPr/>
          </a:p>
        </p:txBody>
      </p:sp>
      <p:sp>
        <p:nvSpPr>
          <p:cNvPr id="82" name="Google Shape;82;p13" descr="畫布"/>
          <p:cNvSpPr txBox="1"/>
          <p:nvPr/>
        </p:nvSpPr>
        <p:spPr>
          <a:xfrm>
            <a:off x="990600" y="3254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總成績38分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8598900" y="2434425"/>
            <a:ext cx="27549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000"/>
              <a:buFont typeface="Microsoft JhengHei"/>
              <a:buNone/>
            </a:pPr>
            <a:r>
              <a:rPr lang="zh-TW" sz="3000" b="0" i="0" u="none" strike="noStrike" cap="none">
                <a:solidFill>
                  <a:srgbClr val="EA433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不用懷疑就是連補考的機會都沒有！！！</a:t>
            </a:r>
            <a:endParaRPr sz="1200" b="0" i="0" u="none" strike="noStrike" cap="none">
              <a:solidFill>
                <a:srgbClr val="EA433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 Black"/>
              <a:buNone/>
            </a:pP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990600" y="1512771"/>
            <a:ext cx="10515600" cy="37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需要兩位認真負責的帥哥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視課程需求於上課前推平板車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幫忙提醒上課注意事項如至實驗室上課或帶實驗衣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期末各兩支嘉獎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" name="Google Shape;93;p14" descr="畫布"/>
          <p:cNvSpPr txBox="1"/>
          <p:nvPr/>
        </p:nvSpPr>
        <p:spPr>
          <a:xfrm>
            <a:off x="990600" y="3254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選小老師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8598900" y="2434425"/>
            <a:ext cx="2754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3000"/>
              <a:buFont typeface="Microsoft JhengHei"/>
              <a:buNone/>
            </a:pPr>
            <a:endParaRPr sz="1200" b="0" i="0" u="none" strike="noStrike" cap="none">
              <a:solidFill>
                <a:srgbClr val="EA4335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956050" y="2957650"/>
            <a:ext cx="678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任務一：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1396500" y="1712250"/>
            <a:ext cx="93990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找好你的夥伴，並以100字左右介紹對方(兩人夥伴)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組上台分享</a:t>
            </a:r>
            <a:endParaRPr sz="29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將作業上傳至Classroom，截止時間：9/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lang="zh-TW" sz="29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晚上11:59</a:t>
            </a:r>
            <a:endParaRPr sz="29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1106169" y="3495824"/>
            <a:ext cx="9979659" cy="559549"/>
            <a:chOff x="1038860" y="2061829"/>
            <a:chExt cx="9979659" cy="559549"/>
          </a:xfrm>
        </p:grpSpPr>
        <p:sp>
          <p:nvSpPr>
            <p:cNvPr id="114" name="Google Shape;114;p16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 cap="non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6"/>
          <p:cNvSpPr txBox="1"/>
          <p:nvPr/>
        </p:nvSpPr>
        <p:spPr>
          <a:xfrm>
            <a:off x="1012189" y="6199770"/>
            <a:ext cx="84124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高中生都要學的探究與實作，與實驗課有何差別？</a:t>
            </a:r>
            <a:r>
              <a:rPr lang="zh-TW" sz="1800" b="0" i="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https://reurl.cc/jvMAb1</a:t>
            </a:r>
            <a:endParaRPr sz="18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2934969" y="1760710"/>
            <a:ext cx="6096000" cy="906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探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討 研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究 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與 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實</a:t>
            </a:r>
            <a:r>
              <a:rPr lang="zh-TW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際操</a:t>
            </a:r>
            <a:r>
              <a:rPr lang="zh-TW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作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021075" y="1269875"/>
            <a:ext cx="107271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1168398" y="3627048"/>
            <a:ext cx="10810200" cy="23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經驗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提出感興趣的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1168398" y="2704891"/>
            <a:ext cx="9979659" cy="559549"/>
            <a:chOff x="1038860" y="2061829"/>
            <a:chExt cx="9979659" cy="559549"/>
          </a:xfrm>
        </p:grpSpPr>
        <p:sp>
          <p:nvSpPr>
            <p:cNvPr id="134" name="Google Shape;134;p17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7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根據已有的知識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和收集的資料，學生對問題的可能答案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50" name="Google Shape;150;p18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51" name="Google Shape;151;p18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" name="Google Shape;158;p18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執行實驗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或進行深入調查來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檢驗假設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對實驗或調查的結果進行分析，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得出結論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：學生將他們的發現與同學或教師分享，進行討論和反思。 </a:t>
            </a:r>
            <a:endParaRPr/>
          </a:p>
        </p:txBody>
      </p:sp>
      <p:grpSp>
        <p:nvGrpSpPr>
          <p:cNvPr id="168" name="Google Shape;168;p19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69" name="Google Shape;169;p19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9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73" name="Google Shape;173;p19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19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DFKai-SB"/>
              <a:buNone/>
            </a:pPr>
            <a:r>
              <a:rPr lang="zh-TW" sz="4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何為探究實作？</a:t>
            </a:r>
            <a:endParaRPr sz="4400">
              <a:solidFill>
                <a:schemeClr val="dk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1168398" y="3627048"/>
            <a:ext cx="1081024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提出問題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：學生根據觀察或經驗提出感興趣的問題。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收集資料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：通過閱讀、調查或實驗收集相關資料。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提出假設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：根據已有的知識和收集的資料，學生對問題的可能答案提出假設。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進行實驗或調查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：設計並執行實驗或進行深入調查來檢驗假設。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分析結果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：對實驗或調查的結果進行分析，得出結論。</a:t>
            </a:r>
            <a:endParaRPr/>
          </a:p>
          <a:p>
            <a:pPr marL="0" marR="0" lvl="0" indent="-152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Microsoft JhengHei"/>
              <a:buChar char="•"/>
            </a:pPr>
            <a:r>
              <a:rPr lang="zh-TW" sz="2400" b="1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分享結果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：學生將他們的發現與同學或教師分享，</a:t>
            </a:r>
            <a:r>
              <a:rPr lang="zh-TW" sz="2400" b="0" i="0" u="none" strike="noStrike" cap="non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進行討論和反思</a:t>
            </a:r>
            <a:r>
              <a:rPr lang="zh-TW" sz="24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 </a:t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1262378" y="2722828"/>
            <a:ext cx="9979659" cy="559549"/>
            <a:chOff x="1038860" y="2061829"/>
            <a:chExt cx="9979659" cy="559549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0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0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191" name="Google Shape;191;p20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0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" name="Google Shape;194;p20"/>
          <p:cNvSpPr txBox="1"/>
          <p:nvPr/>
        </p:nvSpPr>
        <p:spPr>
          <a:xfrm>
            <a:off x="1021077" y="1269882"/>
            <a:ext cx="1022096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一種以學生為中心的學習方法，強調通過提出問題、進行觀察、實驗和分析來主動探索知識。探究實作鼓勵學生積極參與學習過程，</a:t>
            </a:r>
            <a:r>
              <a:rPr lang="zh-TW" sz="24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培養批判性思維、問題解決能力和自主學習的能力</a:t>
            </a:r>
            <a:r>
              <a:rPr lang="zh-TW" sz="240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rPr>
              <a:t>。這種方法通常包括以下步驟：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21"/>
          <p:cNvGrpSpPr/>
          <p:nvPr/>
        </p:nvGrpSpPr>
        <p:grpSpPr>
          <a:xfrm>
            <a:off x="1909424" y="2942872"/>
            <a:ext cx="8226428" cy="2142233"/>
            <a:chOff x="1038859" y="2188392"/>
            <a:chExt cx="8226428" cy="2142233"/>
          </a:xfrm>
        </p:grpSpPr>
        <p:sp>
          <p:nvSpPr>
            <p:cNvPr id="204" name="Google Shape;204;p21"/>
            <p:cNvSpPr txBox="1"/>
            <p:nvPr/>
          </p:nvSpPr>
          <p:spPr>
            <a:xfrm>
              <a:off x="1038859" y="2866918"/>
              <a:ext cx="74058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zh-TW" sz="2400" b="0" i="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 flipH="1">
              <a:off x="4178746" y="3373770"/>
              <a:ext cx="3244029" cy="479074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 rot="8985004" flipH="1">
              <a:off x="3881643" y="2393409"/>
              <a:ext cx="893396" cy="294016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4788274" y="2238338"/>
              <a:ext cx="44770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1"/>
            <p:cNvSpPr txBox="1"/>
            <p:nvPr/>
          </p:nvSpPr>
          <p:spPr>
            <a:xfrm>
              <a:off x="5218429" y="3961293"/>
              <a:ext cx="14306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1"/>
          <p:cNvSpPr txBox="1"/>
          <p:nvPr/>
        </p:nvSpPr>
        <p:spPr>
          <a:xfrm>
            <a:off x="1203050" y="2119525"/>
            <a:ext cx="928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科學方法-</a:t>
            </a:r>
            <a:r>
              <a:rPr lang="zh-TW" sz="2200" i="0">
                <a:solidFill>
                  <a:srgbClr val="454545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觀察現象，得到新的理論或是修正舊有理論的系統方式。</a:t>
            </a:r>
            <a:endParaRPr sz="1600"/>
          </a:p>
        </p:txBody>
      </p:sp>
      <p:grpSp>
        <p:nvGrpSpPr>
          <p:cNvPr id="210" name="Google Shape;210;p21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11" name="Google Shape;211;p21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1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1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15" name="Google Shape;215;p21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1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1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24" name="Google Shape;224;p2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2"/>
          <p:cNvGrpSpPr/>
          <p:nvPr/>
        </p:nvGrpSpPr>
        <p:grpSpPr>
          <a:xfrm>
            <a:off x="876599" y="4699956"/>
            <a:ext cx="10856676" cy="1213624"/>
            <a:chOff x="1157368" y="4941814"/>
            <a:chExt cx="10856676" cy="1213624"/>
          </a:xfrm>
        </p:grpSpPr>
        <p:grpSp>
          <p:nvGrpSpPr>
            <p:cNvPr id="227" name="Google Shape;227;p22"/>
            <p:cNvGrpSpPr/>
            <p:nvPr/>
          </p:nvGrpSpPr>
          <p:grpSpPr>
            <a:xfrm>
              <a:off x="1157368" y="4941814"/>
              <a:ext cx="9233311" cy="1213624"/>
              <a:chOff x="289685" y="4899109"/>
              <a:chExt cx="9233311" cy="1213624"/>
            </a:xfrm>
          </p:grpSpPr>
          <p:sp>
            <p:nvSpPr>
              <p:cNvPr id="228" name="Google Shape;228;p22"/>
              <p:cNvSpPr txBox="1"/>
              <p:nvPr/>
            </p:nvSpPr>
            <p:spPr>
              <a:xfrm>
                <a:off x="1912953" y="5102795"/>
                <a:ext cx="187953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運動是否可以改善肥胖？</a:t>
                </a:r>
                <a:endParaRPr/>
              </a:p>
            </p:txBody>
          </p:sp>
          <p:cxnSp>
            <p:nvCxnSpPr>
              <p:cNvPr id="229" name="Google Shape;229;p22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30" name="Google Shape;230;p22"/>
              <p:cNvSpPr txBox="1"/>
              <p:nvPr/>
            </p:nvSpPr>
            <p:spPr>
              <a:xfrm>
                <a:off x="4252259" y="4929027"/>
                <a:ext cx="110202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運動可以改善肥胖</a:t>
                </a:r>
                <a:endParaRPr/>
              </a:p>
            </p:txBody>
          </p:sp>
          <p:cxnSp>
            <p:nvCxnSpPr>
              <p:cNvPr id="231" name="Google Shape;231;p22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32" name="Google Shape;232;p22"/>
              <p:cNvSpPr txBox="1"/>
              <p:nvPr/>
            </p:nvSpPr>
            <p:spPr>
              <a:xfrm>
                <a:off x="5814062" y="4899109"/>
                <a:ext cx="197865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讓BMI大於25的人每天快走1小時，持續30天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33" name="Google Shape;233;p22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34" name="Google Shape;234;p22"/>
              <p:cNvSpPr txBox="1"/>
              <p:nvPr/>
            </p:nvSpPr>
            <p:spPr>
              <a:xfrm>
                <a:off x="8252496" y="4995073"/>
                <a:ext cx="1270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30天後測量BMI，並分析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235" name="Google Shape;235;p22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體重過重的人幾乎不運動</a:t>
                </a:r>
                <a:endParaRPr/>
              </a:p>
            </p:txBody>
          </p:sp>
          <p:cxnSp>
            <p:nvCxnSpPr>
              <p:cNvPr id="236" name="Google Shape;236;p22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237" name="Google Shape;237;p22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38" name="Google Shape;238;p22"/>
            <p:cNvSpPr txBox="1"/>
            <p:nvPr/>
          </p:nvSpPr>
          <p:spPr>
            <a:xfrm>
              <a:off x="10743412" y="5203424"/>
              <a:ext cx="12706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BMI下降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239" name="Google Shape;239;p22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40" name="Google Shape;240;p22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2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2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2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22"/>
          <p:cNvGrpSpPr/>
          <p:nvPr/>
        </p:nvGrpSpPr>
        <p:grpSpPr>
          <a:xfrm>
            <a:off x="1909424" y="2253579"/>
            <a:ext cx="8226428" cy="2142233"/>
            <a:chOff x="1038859" y="2188392"/>
            <a:chExt cx="8226428" cy="2142233"/>
          </a:xfrm>
        </p:grpSpPr>
        <p:sp>
          <p:nvSpPr>
            <p:cNvPr id="248" name="Google Shape;248;p22"/>
            <p:cNvSpPr txBox="1"/>
            <p:nvPr/>
          </p:nvSpPr>
          <p:spPr>
            <a:xfrm>
              <a:off x="1038859" y="2866918"/>
              <a:ext cx="740589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zh-TW" sz="2400" b="0" i="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2"/>
            <p:cNvSpPr/>
            <p:nvPr/>
          </p:nvSpPr>
          <p:spPr>
            <a:xfrm flipH="1">
              <a:off x="4178746" y="3373770"/>
              <a:ext cx="3244029" cy="479074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2"/>
            <p:cNvSpPr/>
            <p:nvPr/>
          </p:nvSpPr>
          <p:spPr>
            <a:xfrm rot="8985004" flipH="1">
              <a:off x="3881643" y="2393409"/>
              <a:ext cx="893396" cy="294016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2"/>
            <p:cNvSpPr txBox="1"/>
            <p:nvPr/>
          </p:nvSpPr>
          <p:spPr>
            <a:xfrm>
              <a:off x="4788274" y="2238338"/>
              <a:ext cx="447701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5218429" y="3961293"/>
              <a:ext cx="14306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0" name="Google Shape;260;p23"/>
          <p:cNvGrpSpPr/>
          <p:nvPr/>
        </p:nvGrpSpPr>
        <p:grpSpPr>
          <a:xfrm>
            <a:off x="1106169" y="1435205"/>
            <a:ext cx="9979659" cy="559549"/>
            <a:chOff x="1038860" y="2061829"/>
            <a:chExt cx="9979659" cy="559549"/>
          </a:xfrm>
        </p:grpSpPr>
        <p:sp>
          <p:nvSpPr>
            <p:cNvPr id="261" name="Google Shape;261;p23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3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3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3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23"/>
          <p:cNvGrpSpPr/>
          <p:nvPr/>
        </p:nvGrpSpPr>
        <p:grpSpPr>
          <a:xfrm>
            <a:off x="917252" y="4026075"/>
            <a:ext cx="10691873" cy="1876770"/>
            <a:chOff x="944017" y="3726779"/>
            <a:chExt cx="10159514" cy="1876770"/>
          </a:xfrm>
        </p:grpSpPr>
        <p:sp>
          <p:nvSpPr>
            <p:cNvPr id="269" name="Google Shape;269;p23"/>
            <p:cNvSpPr txBox="1"/>
            <p:nvPr/>
          </p:nvSpPr>
          <p:spPr>
            <a:xfrm>
              <a:off x="944017" y="3726779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確定運動可以改善肥胖</a:t>
              </a:r>
              <a:endParaRPr sz="2000"/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2117405" y="4587749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何種運動改善肥胖效果最好？</a:t>
              </a:r>
              <a:endParaRPr sz="2000"/>
            </a:p>
          </p:txBody>
        </p:sp>
        <p:sp>
          <p:nvSpPr>
            <p:cNvPr id="271" name="Google Shape;271;p23"/>
            <p:cNvSpPr txBox="1"/>
            <p:nvPr/>
          </p:nvSpPr>
          <p:spPr>
            <a:xfrm>
              <a:off x="4503235" y="4447295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讓受試者分別進行不同運動30天</a:t>
              </a:r>
              <a:endParaRPr sz="2000"/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6811916" y="4401317"/>
              <a:ext cx="16350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分析從事不同運動的人BMI下降的比例</a:t>
              </a:r>
              <a:endParaRPr sz="2000"/>
            </a:p>
          </p:txBody>
        </p:sp>
        <p:sp>
          <p:nvSpPr>
            <p:cNvPr id="273" name="Google Shape;273;p23"/>
            <p:cNvSpPr/>
            <p:nvPr/>
          </p:nvSpPr>
          <p:spPr>
            <a:xfrm rot="5400000">
              <a:off x="1396738" y="4535111"/>
              <a:ext cx="612000" cy="288000"/>
            </a:xfrm>
            <a:prstGeom prst="bentUpArrow">
              <a:avLst>
                <a:gd name="adj1" fmla="val 25000"/>
                <a:gd name="adj2" fmla="val 25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3962400" y="4836160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6241816" y="4825100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3"/>
            <p:cNvSpPr txBox="1"/>
            <p:nvPr/>
          </p:nvSpPr>
          <p:spPr>
            <a:xfrm>
              <a:off x="9257031" y="4501933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確認BMI下降最多的運動為何</a:t>
              </a:r>
              <a:endParaRPr sz="2000"/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8588594" y="4825099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p23"/>
          <p:cNvGrpSpPr/>
          <p:nvPr/>
        </p:nvGrpSpPr>
        <p:grpSpPr>
          <a:xfrm>
            <a:off x="917239" y="2403590"/>
            <a:ext cx="10856676" cy="1213624"/>
            <a:chOff x="1157368" y="4941814"/>
            <a:chExt cx="10856676" cy="1213624"/>
          </a:xfrm>
        </p:grpSpPr>
        <p:grpSp>
          <p:nvGrpSpPr>
            <p:cNvPr id="279" name="Google Shape;279;p23"/>
            <p:cNvGrpSpPr/>
            <p:nvPr/>
          </p:nvGrpSpPr>
          <p:grpSpPr>
            <a:xfrm>
              <a:off x="1157368" y="4941814"/>
              <a:ext cx="9233443" cy="1213624"/>
              <a:chOff x="289685" y="4899109"/>
              <a:chExt cx="9233443" cy="1213624"/>
            </a:xfrm>
          </p:grpSpPr>
          <p:sp>
            <p:nvSpPr>
              <p:cNvPr id="280" name="Google Shape;280;p23"/>
              <p:cNvSpPr txBox="1"/>
              <p:nvPr/>
            </p:nvSpPr>
            <p:spPr>
              <a:xfrm>
                <a:off x="1912953" y="5102795"/>
                <a:ext cx="1879530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運動是否可以改善肥胖？</a:t>
                </a:r>
                <a:endParaRPr/>
              </a:p>
            </p:txBody>
          </p:sp>
          <p:cxnSp>
            <p:nvCxnSpPr>
              <p:cNvPr id="281" name="Google Shape;281;p23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82" name="Google Shape;282;p23"/>
              <p:cNvSpPr txBox="1"/>
              <p:nvPr/>
            </p:nvSpPr>
            <p:spPr>
              <a:xfrm>
                <a:off x="4252259" y="4929027"/>
                <a:ext cx="110202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運動可以改善肥胖</a:t>
                </a:r>
                <a:endParaRPr/>
              </a:p>
            </p:txBody>
          </p:sp>
          <p:cxnSp>
            <p:nvCxnSpPr>
              <p:cNvPr id="283" name="Google Shape;283;p23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84" name="Google Shape;284;p23"/>
              <p:cNvSpPr txBox="1"/>
              <p:nvPr/>
            </p:nvSpPr>
            <p:spPr>
              <a:xfrm>
                <a:off x="5814062" y="4899109"/>
                <a:ext cx="1978658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讓BMI大於25的人每天快走1小時，持續30天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285" name="Google Shape;285;p23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286" name="Google Shape;286;p23"/>
              <p:cNvSpPr txBox="1"/>
              <p:nvPr/>
            </p:nvSpPr>
            <p:spPr>
              <a:xfrm>
                <a:off x="8252496" y="4995073"/>
                <a:ext cx="1270632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30天后測量BMI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287" name="Google Shape;287;p23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體重過重的人幾乎不運動</a:t>
                </a:r>
                <a:endParaRPr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288" name="Google Shape;288;p23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289" name="Google Shape;289;p23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90" name="Google Shape;290;p23"/>
            <p:cNvSpPr txBox="1"/>
            <p:nvPr/>
          </p:nvSpPr>
          <p:spPr>
            <a:xfrm>
              <a:off x="10743412" y="5203424"/>
              <a:ext cx="12706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BMI下降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8" name="Google Shape;298;p24"/>
          <p:cNvGrpSpPr/>
          <p:nvPr/>
        </p:nvGrpSpPr>
        <p:grpSpPr>
          <a:xfrm>
            <a:off x="876599" y="4653666"/>
            <a:ext cx="10795269" cy="1399808"/>
            <a:chOff x="1157368" y="4895524"/>
            <a:chExt cx="10795269" cy="1399808"/>
          </a:xfrm>
        </p:grpSpPr>
        <p:grpSp>
          <p:nvGrpSpPr>
            <p:cNvPr id="299" name="Google Shape;299;p24"/>
            <p:cNvGrpSpPr/>
            <p:nvPr/>
          </p:nvGrpSpPr>
          <p:grpSpPr>
            <a:xfrm>
              <a:off x="1157368" y="4896428"/>
              <a:ext cx="9149236" cy="1398904"/>
              <a:chOff x="289685" y="4853723"/>
              <a:chExt cx="9149236" cy="1398904"/>
            </a:xfrm>
          </p:grpSpPr>
          <p:sp>
            <p:nvSpPr>
              <p:cNvPr id="300" name="Google Shape;300;p24"/>
              <p:cNvSpPr txBox="1"/>
              <p:nvPr/>
            </p:nvSpPr>
            <p:spPr>
              <a:xfrm>
                <a:off x="2024835" y="5052928"/>
                <a:ext cx="16245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油溫是否太高？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01" name="Google Shape;301;p24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02" name="Google Shape;302;p24"/>
              <p:cNvSpPr txBox="1"/>
              <p:nvPr/>
            </p:nvSpPr>
            <p:spPr>
              <a:xfrm>
                <a:off x="4252259" y="4929027"/>
                <a:ext cx="11019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控制油溫低一些較不易焦黑</a:t>
                </a:r>
                <a:endParaRPr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303" name="Google Shape;303;p24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04" name="Google Shape;304;p24"/>
              <p:cNvSpPr txBox="1"/>
              <p:nvPr/>
            </p:nvSpPr>
            <p:spPr>
              <a:xfrm>
                <a:off x="5814062" y="4899109"/>
                <a:ext cx="19788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炸鹹酥雞時，使用溫度計，分次以不同油溫炸90秒。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05" name="Google Shape;305;p24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06" name="Google Shape;306;p24"/>
              <p:cNvSpPr txBox="1"/>
              <p:nvPr/>
            </p:nvSpPr>
            <p:spPr>
              <a:xfrm>
                <a:off x="8168421" y="4853723"/>
                <a:ext cx="12705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分析以不同油溫油炸的結果是否焦黑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307" name="Google Shape;307;p24"/>
              <p:cNvSpPr txBox="1"/>
              <p:nvPr/>
            </p:nvSpPr>
            <p:spPr>
              <a:xfrm>
                <a:off x="289685" y="48990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為何炸鹹酥雞老是焦黑失敗</a:t>
                </a:r>
                <a:endParaRPr/>
              </a:p>
            </p:txBody>
          </p:sp>
          <p:cxnSp>
            <p:nvCxnSpPr>
              <p:cNvPr id="308" name="Google Shape;308;p24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309" name="Google Shape;309;p24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10" name="Google Shape;310;p24"/>
            <p:cNvSpPr txBox="1"/>
            <p:nvPr/>
          </p:nvSpPr>
          <p:spPr>
            <a:xfrm>
              <a:off x="10682137" y="4895524"/>
              <a:ext cx="12705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油溫較低時，焦黑失敗的問題改善。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311" name="Google Shape;311;p24"/>
          <p:cNvGrpSpPr/>
          <p:nvPr/>
        </p:nvGrpSpPr>
        <p:grpSpPr>
          <a:xfrm>
            <a:off x="1106169" y="1435205"/>
            <a:ext cx="9979778" cy="559529"/>
            <a:chOff x="1038860" y="2061829"/>
            <a:chExt cx="9979778" cy="559529"/>
          </a:xfrm>
        </p:grpSpPr>
        <p:sp>
          <p:nvSpPr>
            <p:cNvPr id="312" name="Google Shape;312;p24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4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4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16" name="Google Shape;316;p24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4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9" name="Google Shape;319;p24"/>
          <p:cNvGrpSpPr/>
          <p:nvPr/>
        </p:nvGrpSpPr>
        <p:grpSpPr>
          <a:xfrm>
            <a:off x="1909424" y="2253529"/>
            <a:ext cx="8226315" cy="2142251"/>
            <a:chOff x="1038859" y="2188342"/>
            <a:chExt cx="8226315" cy="2142251"/>
          </a:xfrm>
        </p:grpSpPr>
        <p:sp>
          <p:nvSpPr>
            <p:cNvPr id="320" name="Google Shape;320;p24"/>
            <p:cNvSpPr txBox="1"/>
            <p:nvPr/>
          </p:nvSpPr>
          <p:spPr>
            <a:xfrm>
              <a:off x="1038859" y="2866918"/>
              <a:ext cx="7405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 </a:t>
              </a:r>
              <a:r>
                <a:rPr lang="zh-TW" sz="2400" b="0" i="0">
                  <a:solidFill>
                    <a:schemeClr val="accent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觀察→提出問題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 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形成假設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4"/>
            <p:cNvSpPr/>
            <p:nvPr/>
          </p:nvSpPr>
          <p:spPr>
            <a:xfrm flipH="1">
              <a:off x="4178875" y="3373770"/>
              <a:ext cx="3243900" cy="47910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4"/>
            <p:cNvSpPr/>
            <p:nvPr/>
          </p:nvSpPr>
          <p:spPr>
            <a:xfrm rot="8984946" flipH="1">
              <a:off x="3881609" y="2393312"/>
              <a:ext cx="893234" cy="294160"/>
            </a:xfrm>
            <a:prstGeom prst="curvedUpArrow">
              <a:avLst>
                <a:gd name="adj1" fmla="val 25000"/>
                <a:gd name="adj2" fmla="val 50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4"/>
            <p:cNvSpPr txBox="1"/>
            <p:nvPr/>
          </p:nvSpPr>
          <p:spPr>
            <a:xfrm>
              <a:off x="4788274" y="2238338"/>
              <a:ext cx="4476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提出新假設</a:t>
              </a:r>
              <a:r>
                <a:rPr lang="zh-TW" sz="24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</a:t>
              </a:r>
              <a:r>
                <a:rPr lang="zh-TW" sz="2400" b="0" i="0">
                  <a:solidFill>
                    <a:schemeClr val="accent1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實驗</a:t>
              </a:r>
              <a:r>
                <a:rPr lang="zh-TW" sz="2400" b="0" i="0">
                  <a:solidFill>
                    <a:srgbClr val="FF0000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→分析→結論</a:t>
              </a:r>
              <a:endParaRPr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4"/>
            <p:cNvSpPr txBox="1"/>
            <p:nvPr/>
          </p:nvSpPr>
          <p:spPr>
            <a:xfrm>
              <a:off x="5218429" y="3961293"/>
              <a:ext cx="1430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 b="0" i="0">
                  <a:solidFill>
                    <a:srgbClr val="4D5156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與假設不符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25"/>
          <p:cNvGrpSpPr/>
          <p:nvPr/>
        </p:nvGrpSpPr>
        <p:grpSpPr>
          <a:xfrm>
            <a:off x="1106169" y="1435205"/>
            <a:ext cx="9979778" cy="559529"/>
            <a:chOff x="1038860" y="2061829"/>
            <a:chExt cx="9979778" cy="559529"/>
          </a:xfrm>
        </p:grpSpPr>
        <p:sp>
          <p:nvSpPr>
            <p:cNvPr id="333" name="Google Shape;333;p25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5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5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accent1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5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0" name="Google Shape;340;p25"/>
          <p:cNvGrpSpPr/>
          <p:nvPr/>
        </p:nvGrpSpPr>
        <p:grpSpPr>
          <a:xfrm>
            <a:off x="926425" y="3912888"/>
            <a:ext cx="10159519" cy="1928113"/>
            <a:chOff x="944012" y="3687385"/>
            <a:chExt cx="10159519" cy="1928113"/>
          </a:xfrm>
        </p:grpSpPr>
        <p:sp>
          <p:nvSpPr>
            <p:cNvPr id="341" name="Google Shape;341;p25"/>
            <p:cNvSpPr txBox="1"/>
            <p:nvPr/>
          </p:nvSpPr>
          <p:spPr>
            <a:xfrm>
              <a:off x="944012" y="3687385"/>
              <a:ext cx="20904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確定油溫降低可以改善焦黑問題</a:t>
              </a:r>
              <a:endParaRPr sz="2000"/>
            </a:p>
          </p:txBody>
        </p:sp>
        <p:sp>
          <p:nvSpPr>
            <p:cNvPr id="342" name="Google Shape;342;p25"/>
            <p:cNvSpPr txBox="1"/>
            <p:nvPr/>
          </p:nvSpPr>
          <p:spPr>
            <a:xfrm>
              <a:off x="2117413" y="4587747"/>
              <a:ext cx="1846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6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油炸結果最佳的油溫下，炸多久最適合?</a:t>
              </a:r>
              <a:endParaRPr sz="2000"/>
            </a:p>
          </p:txBody>
        </p:sp>
        <p:sp>
          <p:nvSpPr>
            <p:cNvPr id="343" name="Google Shape;343;p25"/>
            <p:cNvSpPr txBox="1"/>
            <p:nvPr/>
          </p:nvSpPr>
          <p:spPr>
            <a:xfrm>
              <a:off x="4456103" y="4599697"/>
              <a:ext cx="1738500" cy="101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以該油溫炸鹹酥雞，改變油炸時長。</a:t>
              </a:r>
              <a:endParaRPr sz="2000"/>
            </a:p>
          </p:txBody>
        </p:sp>
        <p:sp>
          <p:nvSpPr>
            <p:cNvPr id="344" name="Google Shape;344;p25"/>
            <p:cNvSpPr txBox="1"/>
            <p:nvPr/>
          </p:nvSpPr>
          <p:spPr>
            <a:xfrm>
              <a:off x="6811912" y="4629922"/>
              <a:ext cx="1738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分析不同時長的油炸結果</a:t>
              </a:r>
              <a:endParaRPr sz="2000"/>
            </a:p>
          </p:txBody>
        </p:sp>
        <p:sp>
          <p:nvSpPr>
            <p:cNvPr id="345" name="Google Shape;345;p25"/>
            <p:cNvSpPr/>
            <p:nvPr/>
          </p:nvSpPr>
          <p:spPr>
            <a:xfrm rot="5400000">
              <a:off x="1384963" y="4749761"/>
              <a:ext cx="612000" cy="288000"/>
            </a:xfrm>
            <a:prstGeom prst="bentUpArrow">
              <a:avLst>
                <a:gd name="adj1" fmla="val 25000"/>
                <a:gd name="adj2" fmla="val 25000"/>
                <a:gd name="adj3" fmla="val 25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5"/>
            <p:cNvSpPr/>
            <p:nvPr/>
          </p:nvSpPr>
          <p:spPr>
            <a:xfrm>
              <a:off x="3962400" y="4836160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>
              <a:off x="6241816" y="4825100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9257031" y="4578133"/>
              <a:ext cx="1846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確認最佳油炸時長為何</a:t>
              </a:r>
              <a:endParaRPr sz="2000"/>
            </a:p>
          </p:txBody>
        </p:sp>
        <p:sp>
          <p:nvSpPr>
            <p:cNvPr id="349" name="Google Shape;349;p25"/>
            <p:cNvSpPr/>
            <p:nvPr/>
          </p:nvSpPr>
          <p:spPr>
            <a:xfrm>
              <a:off x="8588594" y="4825099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0" name="Google Shape;350;p25"/>
          <p:cNvGrpSpPr/>
          <p:nvPr/>
        </p:nvGrpSpPr>
        <p:grpSpPr>
          <a:xfrm>
            <a:off x="838199" y="2226453"/>
            <a:ext cx="10795269" cy="1399808"/>
            <a:chOff x="1157368" y="4895524"/>
            <a:chExt cx="10795269" cy="1399808"/>
          </a:xfrm>
        </p:grpSpPr>
        <p:grpSp>
          <p:nvGrpSpPr>
            <p:cNvPr id="351" name="Google Shape;351;p25"/>
            <p:cNvGrpSpPr/>
            <p:nvPr/>
          </p:nvGrpSpPr>
          <p:grpSpPr>
            <a:xfrm>
              <a:off x="1157368" y="4896428"/>
              <a:ext cx="9149236" cy="1398904"/>
              <a:chOff x="289685" y="4853723"/>
              <a:chExt cx="9149236" cy="1398904"/>
            </a:xfrm>
          </p:grpSpPr>
          <p:sp>
            <p:nvSpPr>
              <p:cNvPr id="352" name="Google Shape;352;p25"/>
              <p:cNvSpPr txBox="1"/>
              <p:nvPr/>
            </p:nvSpPr>
            <p:spPr>
              <a:xfrm>
                <a:off x="1912953" y="5102795"/>
                <a:ext cx="18795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油溫是否太高？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53" name="Google Shape;353;p25"/>
              <p:cNvCxnSpPr/>
              <p:nvPr/>
            </p:nvCxnSpPr>
            <p:spPr>
              <a:xfrm>
                <a:off x="3761215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54" name="Google Shape;354;p25"/>
              <p:cNvSpPr txBox="1"/>
              <p:nvPr/>
            </p:nvSpPr>
            <p:spPr>
              <a:xfrm>
                <a:off x="4252259" y="4929027"/>
                <a:ext cx="11019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控制油溫低一些較不易焦黑</a:t>
                </a:r>
                <a:endParaRPr sz="2000">
                  <a:solidFill>
                    <a:schemeClr val="accent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cxnSp>
            <p:nvCxnSpPr>
              <p:cNvPr id="355" name="Google Shape;355;p25"/>
              <p:cNvCxnSpPr/>
              <p:nvPr/>
            </p:nvCxnSpPr>
            <p:spPr>
              <a:xfrm>
                <a:off x="5286039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56" name="Google Shape;356;p25"/>
              <p:cNvSpPr txBox="1"/>
              <p:nvPr/>
            </p:nvSpPr>
            <p:spPr>
              <a:xfrm>
                <a:off x="5814062" y="4899109"/>
                <a:ext cx="19788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炸鹹酥雞時，使用溫度計，分次以不同油溫炸90秒。</a:t>
                </a:r>
                <a:endParaRPr>
                  <a:solidFill>
                    <a:schemeClr val="accent1"/>
                  </a:solidFill>
                </a:endParaRPr>
              </a:p>
            </p:txBody>
          </p:sp>
          <p:cxnSp>
            <p:nvCxnSpPr>
              <p:cNvPr id="357" name="Google Shape;357;p25"/>
              <p:cNvCxnSpPr/>
              <p:nvPr/>
            </p:nvCxnSpPr>
            <p:spPr>
              <a:xfrm>
                <a:off x="7792720" y="530285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358" name="Google Shape;358;p25"/>
              <p:cNvSpPr txBox="1"/>
              <p:nvPr/>
            </p:nvSpPr>
            <p:spPr>
              <a:xfrm>
                <a:off x="8168421" y="4853723"/>
                <a:ext cx="1270500" cy="132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rgbClr val="FF0000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分析以不同油溫油炸的結果是否焦黑</a:t>
                </a:r>
                <a:endParaRPr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359" name="Google Shape;359;p25"/>
              <p:cNvSpPr txBox="1"/>
              <p:nvPr/>
            </p:nvSpPr>
            <p:spPr>
              <a:xfrm>
                <a:off x="289685" y="5096933"/>
                <a:ext cx="12585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000">
                    <a:solidFill>
                      <a:schemeClr val="accent6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為何炸鹹酥雞老是焦黑失敗</a:t>
                </a:r>
                <a:endParaRPr/>
              </a:p>
            </p:txBody>
          </p:sp>
          <p:cxnSp>
            <p:nvCxnSpPr>
              <p:cNvPr id="360" name="Google Shape;360;p25"/>
              <p:cNvCxnSpPr/>
              <p:nvPr/>
            </p:nvCxnSpPr>
            <p:spPr>
              <a:xfrm>
                <a:off x="1516953" y="5406940"/>
                <a:ext cx="3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cxnSp>
          <p:nvCxnSpPr>
            <p:cNvPr id="361" name="Google Shape;361;p25"/>
            <p:cNvCxnSpPr/>
            <p:nvPr/>
          </p:nvCxnSpPr>
          <p:spPr>
            <a:xfrm>
              <a:off x="10243848" y="5403479"/>
              <a:ext cx="3960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362" name="Google Shape;362;p25"/>
            <p:cNvSpPr txBox="1"/>
            <p:nvPr/>
          </p:nvSpPr>
          <p:spPr>
            <a:xfrm>
              <a:off x="10682137" y="4895524"/>
              <a:ext cx="1270500" cy="132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000">
                  <a:solidFill>
                    <a:srgbClr val="FF000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油溫較低時，焦黑失敗的問題改善。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26"/>
          <p:cNvGrpSpPr/>
          <p:nvPr/>
        </p:nvGrpSpPr>
        <p:grpSpPr>
          <a:xfrm>
            <a:off x="1106169" y="1304400"/>
            <a:ext cx="9979659" cy="559549"/>
            <a:chOff x="1038860" y="2061829"/>
            <a:chExt cx="9979659" cy="559549"/>
          </a:xfrm>
        </p:grpSpPr>
        <p:sp>
          <p:nvSpPr>
            <p:cNvPr id="372" name="Google Shape;372;p26"/>
            <p:cNvSpPr txBox="1"/>
            <p:nvPr/>
          </p:nvSpPr>
          <p:spPr>
            <a:xfrm>
              <a:off x="1038860" y="2098158"/>
              <a:ext cx="1828800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6"/>
            <p:cNvSpPr txBox="1"/>
            <p:nvPr/>
          </p:nvSpPr>
          <p:spPr>
            <a:xfrm>
              <a:off x="9006838" y="2098158"/>
              <a:ext cx="20116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6"/>
            <p:cNvSpPr txBox="1"/>
            <p:nvPr/>
          </p:nvSpPr>
          <p:spPr>
            <a:xfrm>
              <a:off x="3362960" y="2098158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6"/>
            <p:cNvSpPr txBox="1"/>
            <p:nvPr/>
          </p:nvSpPr>
          <p:spPr>
            <a:xfrm>
              <a:off x="6184899" y="2061829"/>
              <a:ext cx="2103121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69113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5448300" y="2250656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8201660" y="2228963"/>
              <a:ext cx="647699" cy="26161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9" name="Google Shape;379;p26"/>
          <p:cNvSpPr txBox="1"/>
          <p:nvPr/>
        </p:nvSpPr>
        <p:spPr>
          <a:xfrm>
            <a:off x="976575" y="2940250"/>
            <a:ext cx="109011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「操作(縱)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」：進行實驗操作時，只能改變一項的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「控制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」：實驗中除了操作(縱)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外，其餘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都保持不變，避免影響實驗。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「應變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」：實驗中隨操作(縱)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改變後，實驗「結果」也隨之改變的</a:t>
            </a:r>
            <a:r>
              <a:rPr lang="zh-TW" sz="3000" i="0" strike="noStrike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變因</a:t>
            </a:r>
            <a:r>
              <a:rPr lang="zh-TW" sz="3000" i="0">
                <a:solidFill>
                  <a:schemeClr val="dk1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6"/>
          <p:cNvSpPr txBox="1"/>
          <p:nvPr/>
        </p:nvSpPr>
        <p:spPr>
          <a:xfrm>
            <a:off x="838199" y="2243768"/>
            <a:ext cx="31000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 b="1">
                <a:solidFill>
                  <a:srgbClr val="262626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實驗中的變因</a:t>
            </a:r>
            <a:endParaRPr sz="3200">
              <a:solidFill>
                <a:srgbClr val="262626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7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何為探究實作？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87" name="Google Shape;387;p27"/>
          <p:cNvSpPr txBox="1"/>
          <p:nvPr/>
        </p:nvSpPr>
        <p:spPr>
          <a:xfrm>
            <a:off x="414000" y="2503325"/>
            <a:ext cx="26616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54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zh-TW" sz="2500">
                <a:solidFill>
                  <a:schemeClr val="accent6"/>
                </a:solidFill>
                <a:latin typeface="DFKai-SB"/>
                <a:ea typeface="DFKai-SB"/>
                <a:cs typeface="DFKai-SB"/>
                <a:sym typeface="DFKai-SB"/>
              </a:rPr>
              <a:t>市場痛點分析、投資標的發掘 </a:t>
            </a:r>
            <a:endParaRPr sz="2500">
              <a:solidFill>
                <a:schemeClr val="accent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27"/>
          <p:cNvGrpSpPr/>
          <p:nvPr/>
        </p:nvGrpSpPr>
        <p:grpSpPr>
          <a:xfrm>
            <a:off x="1106169" y="1304400"/>
            <a:ext cx="9979778" cy="559529"/>
            <a:chOff x="1038860" y="2061829"/>
            <a:chExt cx="9979778" cy="559529"/>
          </a:xfrm>
        </p:grpSpPr>
        <p:sp>
          <p:nvSpPr>
            <p:cNvPr id="390" name="Google Shape;390;p27"/>
            <p:cNvSpPr txBox="1"/>
            <p:nvPr/>
          </p:nvSpPr>
          <p:spPr>
            <a:xfrm>
              <a:off x="1038860" y="2098158"/>
              <a:ext cx="1828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chemeClr val="accent6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發現問題</a:t>
              </a:r>
              <a:endParaRPr sz="28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7"/>
            <p:cNvSpPr txBox="1"/>
            <p:nvPr/>
          </p:nvSpPr>
          <p:spPr>
            <a:xfrm>
              <a:off x="9006838" y="2098158"/>
              <a:ext cx="20118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 i="0" u="none" strike="noStrike">
                  <a:solidFill>
                    <a:srgbClr val="373737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表達與分享</a:t>
              </a: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7"/>
            <p:cNvSpPr txBox="1"/>
            <p:nvPr/>
          </p:nvSpPr>
          <p:spPr>
            <a:xfrm>
              <a:off x="3362960" y="2098158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6D9EEB"/>
                  </a:solidFill>
                  <a:highlight>
                    <a:srgbClr val="FFFFFF"/>
                  </a:highlight>
                  <a:latin typeface="Noto Sans TC"/>
                  <a:ea typeface="Noto Sans TC"/>
                  <a:cs typeface="Noto Sans TC"/>
                  <a:sym typeface="Noto Sans TC"/>
                </a:rPr>
                <a:t>規劃與研究</a:t>
              </a:r>
              <a:endParaRPr sz="2800">
                <a:solidFill>
                  <a:srgbClr val="6D9EE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7"/>
            <p:cNvSpPr txBox="1"/>
            <p:nvPr/>
          </p:nvSpPr>
          <p:spPr>
            <a:xfrm>
              <a:off x="6184899" y="2061829"/>
              <a:ext cx="2103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800" b="1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論證與建模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394" name="Google Shape;394;p27"/>
            <p:cNvSpPr/>
            <p:nvPr/>
          </p:nvSpPr>
          <p:spPr>
            <a:xfrm>
              <a:off x="269113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7"/>
            <p:cNvSpPr/>
            <p:nvPr/>
          </p:nvSpPr>
          <p:spPr>
            <a:xfrm>
              <a:off x="5448300" y="2250656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7"/>
            <p:cNvSpPr/>
            <p:nvPr/>
          </p:nvSpPr>
          <p:spPr>
            <a:xfrm>
              <a:off x="8201660" y="2228963"/>
              <a:ext cx="647700" cy="261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BBD6EE"/>
            </a:solidFill>
            <a:ln w="12700" cap="flat" cmpd="sng">
              <a:solidFill>
                <a:srgbClr val="BBD6EE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27"/>
          <p:cNvSpPr txBox="1"/>
          <p:nvPr/>
        </p:nvSpPr>
        <p:spPr>
          <a:xfrm>
            <a:off x="3358300" y="2336525"/>
            <a:ext cx="25041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solidFill>
                  <a:srgbClr val="6D9EEB"/>
                </a:solidFill>
                <a:latin typeface="DFKai-SB"/>
                <a:ea typeface="DFKai-SB"/>
                <a:cs typeface="DFKai-SB"/>
                <a:sym typeface="DFKai-SB"/>
              </a:rPr>
              <a:t>商業模式驗證、市場 A/B 測試 </a:t>
            </a:r>
            <a:endParaRPr sz="2500">
              <a:solidFill>
                <a:srgbClr val="6D9EEB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8" name="Google Shape;398;p27"/>
          <p:cNvSpPr txBox="1"/>
          <p:nvPr/>
        </p:nvSpPr>
        <p:spPr>
          <a:xfrm>
            <a:off x="6145100" y="2442575"/>
            <a:ext cx="30000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數據分析、財務預測與避險模型 </a:t>
            </a:r>
            <a:endParaRPr sz="2500">
              <a:solidFill>
                <a:srgbClr val="FF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399" name="Google Shape;399;p27"/>
          <p:cNvSpPr txBox="1"/>
          <p:nvPr/>
        </p:nvSpPr>
        <p:spPr>
          <a:xfrm>
            <a:off x="9298050" y="2395425"/>
            <a:ext cx="2273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DFKai-SB"/>
                <a:ea typeface="DFKai-SB"/>
                <a:cs typeface="DFKai-SB"/>
                <a:sym typeface="DFKai-SB"/>
              </a:rPr>
              <a:t>商業簡報、投資報告撰寫 </a:t>
            </a:r>
            <a:endParaRPr sz="25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0" name="Google Shape;400;p27"/>
          <p:cNvSpPr txBox="1"/>
          <p:nvPr/>
        </p:nvSpPr>
        <p:spPr>
          <a:xfrm>
            <a:off x="530225" y="3645600"/>
            <a:ext cx="26616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accent6"/>
                </a:solidFill>
                <a:latin typeface="DFKai-SB"/>
                <a:ea typeface="DFKai-SB"/>
                <a:cs typeface="DFKai-SB"/>
                <a:sym typeface="DFKai-SB"/>
              </a:rPr>
              <a:t>從日常現象或雜亂數據中，找出具備商業價值或值得投資的異常狀況（例如：特定產品銷量為何突然變化）。 </a:t>
            </a:r>
            <a:endParaRPr sz="2000">
              <a:solidFill>
                <a:schemeClr val="accent6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1" name="Google Shape;401;p27"/>
          <p:cNvSpPr txBox="1"/>
          <p:nvPr/>
        </p:nvSpPr>
        <p:spPr>
          <a:xfrm>
            <a:off x="3242825" y="3645600"/>
            <a:ext cx="2786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6D9EEB"/>
                </a:solidFill>
                <a:latin typeface="DFKai-SB"/>
                <a:ea typeface="DFKai-SB"/>
                <a:cs typeface="DFKai-SB"/>
                <a:sym typeface="DFKai-SB"/>
              </a:rPr>
              <a:t>學習如何設定「控制變因」與「操縱變因」。在行銷上即是區分對照組與實驗組，確保數據的差異真正來自特定商業策略。 </a:t>
            </a:r>
            <a:endParaRPr sz="2000">
              <a:solidFill>
                <a:srgbClr val="6D9EEB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6221713" y="3645600"/>
            <a:ext cx="2661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運用數A的量化優勢，判讀圖表背後的相關性與因果關係，避免「偽相關」導致錯誤的投資或政策判斷。 </a:t>
            </a:r>
            <a:endParaRPr sz="2000">
              <a:solidFill>
                <a:srgbClr val="FF0000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9193350" y="3718975"/>
            <a:ext cx="26616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將複雜的數據與實驗結果，轉化為投資人或非技術背景的高階主管能聽懂的圖表與決策建議。 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任務二：</a:t>
            </a:r>
            <a:endParaRPr/>
          </a:p>
        </p:txBody>
      </p:sp>
      <p:sp>
        <p:nvSpPr>
          <p:cNvPr id="410" name="Google Shape;410;p2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1029261" y="5146000"/>
            <a:ext cx="105156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分別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寫出該實驗中的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操縱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變因，及應變變因，並與組員討論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設計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一個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新的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實驗例子，上台分享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，並上傳classroom</a:t>
            </a:r>
            <a:endParaRPr sz="2900" i="0" u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12" name="Google Shape;412;p28"/>
          <p:cNvGrpSpPr/>
          <p:nvPr/>
        </p:nvGrpSpPr>
        <p:grpSpPr>
          <a:xfrm>
            <a:off x="838199" y="1236741"/>
            <a:ext cx="10897736" cy="1963001"/>
            <a:chOff x="363940" y="2307555"/>
            <a:chExt cx="10897736" cy="2133928"/>
          </a:xfrm>
        </p:grpSpPr>
        <p:grpSp>
          <p:nvGrpSpPr>
            <p:cNvPr id="413" name="Google Shape;413;p28"/>
            <p:cNvGrpSpPr/>
            <p:nvPr/>
          </p:nvGrpSpPr>
          <p:grpSpPr>
            <a:xfrm>
              <a:off x="363940" y="2307555"/>
              <a:ext cx="10897736" cy="2133928"/>
              <a:chOff x="267064" y="4369164"/>
              <a:chExt cx="10897736" cy="2133928"/>
            </a:xfrm>
          </p:grpSpPr>
          <p:sp>
            <p:nvSpPr>
              <p:cNvPr id="414" name="Google Shape;414;p28"/>
              <p:cNvSpPr txBox="1"/>
              <p:nvPr/>
            </p:nvSpPr>
            <p:spPr>
              <a:xfrm>
                <a:off x="267064" y="4403083"/>
                <a:ext cx="14763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確定運動可以改善肥胖</a:t>
                </a:r>
                <a:endParaRPr/>
              </a:p>
            </p:txBody>
          </p:sp>
          <p:sp>
            <p:nvSpPr>
              <p:cNvPr id="415" name="Google Shape;415;p28"/>
              <p:cNvSpPr txBox="1"/>
              <p:nvPr/>
            </p:nvSpPr>
            <p:spPr>
              <a:xfrm>
                <a:off x="2157599" y="4403083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何種運動改善肥胖效果最好？</a:t>
                </a:r>
                <a:endParaRPr/>
              </a:p>
            </p:txBody>
          </p:sp>
          <p:sp>
            <p:nvSpPr>
              <p:cNvPr id="416" name="Google Shape;416;p28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讓受試者分別進行不同運動30天</a:t>
                </a:r>
                <a:endParaRPr/>
              </a:p>
            </p:txBody>
          </p:sp>
          <p:sp>
            <p:nvSpPr>
              <p:cNvPr id="417" name="Google Shape;417;p28"/>
              <p:cNvSpPr txBox="1"/>
              <p:nvPr/>
            </p:nvSpPr>
            <p:spPr>
              <a:xfrm>
                <a:off x="6397040" y="4394692"/>
                <a:ext cx="21951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分析從事不同運動(跑步、重訓、打籃球)的人BMI下降的比例</a:t>
                </a:r>
                <a:endParaRPr/>
              </a:p>
            </p:txBody>
          </p:sp>
          <p:sp>
            <p:nvSpPr>
              <p:cNvPr id="418" name="Google Shape;418;p28"/>
              <p:cNvSpPr/>
              <p:nvPr/>
            </p:nvSpPr>
            <p:spPr>
              <a:xfrm>
                <a:off x="3781456" y="4825099"/>
                <a:ext cx="453138" cy="148951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8"/>
              <p:cNvSpPr/>
              <p:nvPr/>
            </p:nvSpPr>
            <p:spPr>
              <a:xfrm>
                <a:off x="5892219" y="4825098"/>
                <a:ext cx="453138" cy="148951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8"/>
              <p:cNvSpPr txBox="1"/>
              <p:nvPr/>
            </p:nvSpPr>
            <p:spPr>
              <a:xfrm>
                <a:off x="9318300" y="4570013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確認BMI下降最多的運動為何</a:t>
                </a:r>
                <a:endParaRPr/>
              </a:p>
            </p:txBody>
          </p:sp>
          <p:sp>
            <p:nvSpPr>
              <p:cNvPr id="421" name="Google Shape;421;p28"/>
              <p:cNvSpPr/>
              <p:nvPr/>
            </p:nvSpPr>
            <p:spPr>
              <a:xfrm>
                <a:off x="8700904" y="4899535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" name="Google Shape;422;p28"/>
            <p:cNvSpPr/>
            <p:nvPr/>
          </p:nvSpPr>
          <p:spPr>
            <a:xfrm>
              <a:off x="1812607" y="2804568"/>
              <a:ext cx="453138" cy="148951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28"/>
          <p:cNvGrpSpPr/>
          <p:nvPr/>
        </p:nvGrpSpPr>
        <p:grpSpPr>
          <a:xfrm>
            <a:off x="838199" y="3217941"/>
            <a:ext cx="10467686" cy="2339967"/>
            <a:chOff x="363940" y="2307555"/>
            <a:chExt cx="10467686" cy="2543719"/>
          </a:xfrm>
        </p:grpSpPr>
        <p:grpSp>
          <p:nvGrpSpPr>
            <p:cNvPr id="424" name="Google Shape;424;p28"/>
            <p:cNvGrpSpPr/>
            <p:nvPr/>
          </p:nvGrpSpPr>
          <p:grpSpPr>
            <a:xfrm>
              <a:off x="363940" y="2307555"/>
              <a:ext cx="10467686" cy="2543719"/>
              <a:chOff x="267064" y="4369164"/>
              <a:chExt cx="10467686" cy="2543719"/>
            </a:xfrm>
          </p:grpSpPr>
          <p:sp>
            <p:nvSpPr>
              <p:cNvPr id="425" name="Google Shape;425;p28"/>
              <p:cNvSpPr txBox="1"/>
              <p:nvPr/>
            </p:nvSpPr>
            <p:spPr>
              <a:xfrm>
                <a:off x="267064" y="4403083"/>
                <a:ext cx="14763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確定油溫降低可以改善焦黑問題</a:t>
                </a:r>
                <a:endParaRPr sz="20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6" name="Google Shape;426;p28"/>
              <p:cNvSpPr txBox="1"/>
              <p:nvPr/>
            </p:nvSpPr>
            <p:spPr>
              <a:xfrm>
                <a:off x="2157599" y="4403083"/>
                <a:ext cx="1635000" cy="25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油炸結果最佳的油溫下，炸多久最適合?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7" name="Google Shape;427;p28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以該油溫炸鹹酥雞，改變油炸時長</a:t>
                </a:r>
                <a:endParaRPr sz="2400">
                  <a:solidFill>
                    <a:schemeClr val="dk1"/>
                  </a:solidFill>
                </a:endParaRPr>
              </a:p>
            </p:txBody>
          </p:sp>
          <p:sp>
            <p:nvSpPr>
              <p:cNvPr id="428" name="Google Shape;428;p28"/>
              <p:cNvSpPr txBox="1"/>
              <p:nvPr/>
            </p:nvSpPr>
            <p:spPr>
              <a:xfrm>
                <a:off x="6397036" y="4394697"/>
                <a:ext cx="17766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分析不同時長的油炸結果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>
                <a:off x="3781456" y="4825099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>
                <a:off x="5892219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28"/>
              <p:cNvSpPr txBox="1"/>
              <p:nvPr/>
            </p:nvSpPr>
            <p:spPr>
              <a:xfrm>
                <a:off x="8888250" y="4447296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確認最佳油炸時長為何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>
                <a:off x="8331754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28"/>
            <p:cNvSpPr/>
            <p:nvPr/>
          </p:nvSpPr>
          <p:spPr>
            <a:xfrm>
              <a:off x="1812607" y="2804568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9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任務二：</a:t>
            </a:r>
            <a:endParaRPr/>
          </a:p>
        </p:txBody>
      </p:sp>
      <p:sp>
        <p:nvSpPr>
          <p:cNvPr id="440" name="Google Shape;440;p2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1600309" y="4312727"/>
            <a:ext cx="93990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Char char="•"/>
            </a:pP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寫出該實驗中的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操縱</a:t>
            </a:r>
            <a:r>
              <a:rPr lang="zh-TW" sz="2900" i="0" u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變因，及應變變因，並與組員討論一個實驗例子，上台分享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，並上傳classroom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pSp>
        <p:nvGrpSpPr>
          <p:cNvPr id="442" name="Google Shape;442;p29"/>
          <p:cNvGrpSpPr/>
          <p:nvPr/>
        </p:nvGrpSpPr>
        <p:grpSpPr>
          <a:xfrm>
            <a:off x="838199" y="1465341"/>
            <a:ext cx="10467686" cy="2339967"/>
            <a:chOff x="363940" y="2307555"/>
            <a:chExt cx="10467686" cy="2543719"/>
          </a:xfrm>
        </p:grpSpPr>
        <p:grpSp>
          <p:nvGrpSpPr>
            <p:cNvPr id="443" name="Google Shape;443;p29"/>
            <p:cNvGrpSpPr/>
            <p:nvPr/>
          </p:nvGrpSpPr>
          <p:grpSpPr>
            <a:xfrm>
              <a:off x="363940" y="2307555"/>
              <a:ext cx="10467686" cy="2543719"/>
              <a:chOff x="267064" y="4369164"/>
              <a:chExt cx="10467686" cy="2543719"/>
            </a:xfrm>
          </p:grpSpPr>
          <p:sp>
            <p:nvSpPr>
              <p:cNvPr id="444" name="Google Shape;444;p29"/>
              <p:cNvSpPr txBox="1"/>
              <p:nvPr/>
            </p:nvSpPr>
            <p:spPr>
              <a:xfrm>
                <a:off x="267064" y="4403083"/>
                <a:ext cx="1476300" cy="210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確定油溫降低可以改善焦黑問題</a:t>
                </a:r>
                <a:endParaRPr sz="20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5" name="Google Shape;445;p29"/>
              <p:cNvSpPr txBox="1"/>
              <p:nvPr/>
            </p:nvSpPr>
            <p:spPr>
              <a:xfrm>
                <a:off x="2157599" y="4403083"/>
                <a:ext cx="1635000" cy="25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油炸結果最佳的油溫下，炸多久最適合?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6" name="Google Shape;446;p29"/>
              <p:cNvSpPr txBox="1"/>
              <p:nvPr/>
            </p:nvSpPr>
            <p:spPr>
              <a:xfrm>
                <a:off x="4404641" y="4369164"/>
                <a:ext cx="16350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以該油溫炸鹹酥雞，改變油炸時長</a:t>
                </a:r>
                <a:endParaRPr sz="2400">
                  <a:solidFill>
                    <a:schemeClr val="dk1"/>
                  </a:solidFill>
                </a:endParaRPr>
              </a:p>
            </p:txBody>
          </p:sp>
          <p:sp>
            <p:nvSpPr>
              <p:cNvPr id="447" name="Google Shape;447;p29"/>
              <p:cNvSpPr txBox="1"/>
              <p:nvPr/>
            </p:nvSpPr>
            <p:spPr>
              <a:xfrm>
                <a:off x="6397036" y="4394697"/>
                <a:ext cx="1776600" cy="170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分析不同時長的油炸結果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3781456" y="4825099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5892219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9"/>
              <p:cNvSpPr txBox="1"/>
              <p:nvPr/>
            </p:nvSpPr>
            <p:spPr>
              <a:xfrm>
                <a:off x="8888250" y="4447296"/>
                <a:ext cx="1846500" cy="13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Font typeface="Arial"/>
                  <a:buNone/>
                </a:pPr>
                <a:r>
                  <a:rPr lang="zh-TW" sz="2400">
                    <a:solidFill>
                      <a:schemeClr val="dk1"/>
                    </a:solidFill>
                    <a:latin typeface="Microsoft JhengHei"/>
                    <a:ea typeface="Microsoft JhengHei"/>
                    <a:cs typeface="Microsoft JhengHei"/>
                    <a:sym typeface="Microsoft JhengHei"/>
                  </a:rPr>
                  <a:t>確認最佳油炸時長為何</a:t>
                </a:r>
                <a:endParaRPr sz="2400">
                  <a:solidFill>
                    <a:schemeClr val="dk1"/>
                  </a:solidFill>
                </a:endParaRPr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endParaRPr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8331754" y="4825098"/>
                <a:ext cx="453000" cy="1491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12700" cap="flat" cmpd="sng">
                <a:solidFill>
                  <a:srgbClr val="1C305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" name="Google Shape;452;p29"/>
            <p:cNvSpPr/>
            <p:nvPr/>
          </p:nvSpPr>
          <p:spPr>
            <a:xfrm>
              <a:off x="1812607" y="2804568"/>
              <a:ext cx="453000" cy="1491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 cmpd="sng">
              <a:solidFill>
                <a:srgbClr val="1C305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你可以獲得什麼？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1859280" y="1533091"/>
            <a:ext cx="4135120" cy="4031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短期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學測成績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長期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基礎科學研究能力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報告撰寫功力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演講實力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探究考題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8" name="Google Shape;468;p3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1635760" y="1710993"/>
            <a:ext cx="9144000" cy="255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繪圖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圖表判讀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由圖表或敘述解釋實驗結果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判斷實驗正確性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提出實驗缺漏</a:t>
            </a:r>
            <a:endParaRPr sz="32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77" name="Google Shape;477;p3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9038" y="1201138"/>
            <a:ext cx="6557825" cy="261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9050" y="4010375"/>
            <a:ext cx="6557800" cy="149351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2"/>
          <p:cNvSpPr txBox="1"/>
          <p:nvPr/>
        </p:nvSpPr>
        <p:spPr>
          <a:xfrm>
            <a:off x="9116850" y="582250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113學測</a:t>
            </a:r>
            <a:endParaRPr sz="25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87" name="Google Shape;487;p33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750" y="1348300"/>
            <a:ext cx="6733997" cy="4692776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3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113學測</a:t>
            </a:r>
            <a:endParaRPr sz="25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9" name="Google Shape;4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50" y="1151563"/>
            <a:ext cx="6125553" cy="3238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4"/>
          <p:cNvPicPr preferRelativeResize="0"/>
          <p:nvPr/>
        </p:nvPicPr>
        <p:blipFill rotWithShape="1">
          <a:blip r:embed="rId4">
            <a:alphaModFix/>
          </a:blip>
          <a:srcRect t="55707" r="42726"/>
          <a:stretch/>
        </p:blipFill>
        <p:spPr>
          <a:xfrm>
            <a:off x="6931925" y="1534425"/>
            <a:ext cx="4990589" cy="189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4"/>
          <p:cNvPicPr preferRelativeResize="0"/>
          <p:nvPr/>
        </p:nvPicPr>
        <p:blipFill rotWithShape="1">
          <a:blip r:embed="rId4">
            <a:alphaModFix/>
          </a:blip>
          <a:srcRect b="44361"/>
          <a:stretch/>
        </p:blipFill>
        <p:spPr>
          <a:xfrm>
            <a:off x="365750" y="4546925"/>
            <a:ext cx="6936989" cy="18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4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112分科</a:t>
            </a:r>
            <a:endParaRPr sz="2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1" name="Google Shape;5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850" y="1130562"/>
            <a:ext cx="7839125" cy="197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5725" y="3233163"/>
            <a:ext cx="7417250" cy="2272162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5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111學測</a:t>
            </a:r>
            <a:endParaRPr sz="25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6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大考題型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20" name="Google Shape;520;p36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36"/>
          <p:cNvPicPr preferRelativeResize="0"/>
          <p:nvPr/>
        </p:nvPicPr>
        <p:blipFill rotWithShape="1">
          <a:blip r:embed="rId3">
            <a:alphaModFix/>
          </a:blip>
          <a:srcRect r="47440"/>
          <a:stretch/>
        </p:blipFill>
        <p:spPr>
          <a:xfrm>
            <a:off x="400400" y="1111450"/>
            <a:ext cx="3898400" cy="22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400" y="1237450"/>
            <a:ext cx="7197875" cy="443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6"/>
          <p:cNvPicPr preferRelativeResize="0"/>
          <p:nvPr/>
        </p:nvPicPr>
        <p:blipFill rotWithShape="1">
          <a:blip r:embed="rId3">
            <a:alphaModFix/>
          </a:blip>
          <a:srcRect l="52559"/>
          <a:stretch/>
        </p:blipFill>
        <p:spPr>
          <a:xfrm>
            <a:off x="779950" y="3491000"/>
            <a:ext cx="3518850" cy="227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6"/>
          <p:cNvSpPr txBox="1"/>
          <p:nvPr/>
        </p:nvSpPr>
        <p:spPr>
          <a:xfrm>
            <a:off x="9230025" y="5935650"/>
            <a:ext cx="14487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111學測</a:t>
            </a:r>
            <a:endParaRPr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7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34" name="Google Shape;534;p37"/>
          <p:cNvSpPr txBox="1"/>
          <p:nvPr/>
        </p:nvSpPr>
        <p:spPr>
          <a:xfrm>
            <a:off x="838198" y="1665171"/>
            <a:ext cx="10515601" cy="2977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6604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zh-TW" sz="32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為了節省整理資訊的時間、專注思考筆記內容，1950年代，美國康乃爾大學（Cornell University）教授華特‧波克（Walter Pauk）開發了一套在課堂、講座、閱讀時，記錄資訊的方法，稱為「康乃爾筆記法」。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8"/>
          <p:cNvSpPr txBox="1"/>
          <p:nvPr/>
        </p:nvSpPr>
        <p:spPr>
          <a:xfrm>
            <a:off x="991374" y="1865496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38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8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43" name="Google Shape;543;p38"/>
          <p:cNvSpPr txBox="1"/>
          <p:nvPr/>
        </p:nvSpPr>
        <p:spPr>
          <a:xfrm>
            <a:off x="931675" y="1387325"/>
            <a:ext cx="5077800" cy="43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Noto Sans Symbols"/>
              <a:buChar char="⮚"/>
            </a:pPr>
            <a:r>
              <a:rPr lang="zh-TW" sz="26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筆記頁面劃分成「一大兩小」3個區塊。一大，指的是右邊的「筆記欄」；兩小，分別是左邊的「整理欄」和下方的「摘要欄」。每個區塊的大小並沒有硬性規定，唯有筆記欄需要大一點的空間。</a:t>
            </a:r>
            <a:endParaRPr sz="26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44" name="Google Shape;54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3800" y="1173100"/>
            <a:ext cx="3864926" cy="49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3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3" name="Google Shape;553;p39"/>
          <p:cNvSpPr txBox="1"/>
          <p:nvPr/>
        </p:nvSpPr>
        <p:spPr>
          <a:xfrm>
            <a:off x="692761" y="1227131"/>
            <a:ext cx="4021477" cy="4955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20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【基本用法】將筆記切成 3+1個區塊</a:t>
            </a:r>
            <a:endParaRPr sz="20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上方區塊「資訊區」：用來記錄筆記主題、日期、編號、頁碼等資訊。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右側大區塊是「記錄（筆記）區」（Notetaking column）：上課中使用，記錄上課內容筆記。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左側是「關鍵字區」（Cue column）：能喚起記憶的線索，寫下問題或關鍵字詞。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 Black"/>
              <a:buAutoNum type="arabicPeriod"/>
            </a:pPr>
            <a:r>
              <a:rPr lang="zh-TW" sz="2000" b="0" i="0">
                <a:solidFill>
                  <a:srgbClr val="212529"/>
                </a:solidFill>
                <a:highlight>
                  <a:srgbClr val="FFFFFF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下方區塊是「複習（摘要）區」（Summary column）：下課後使用，摘要重點，有助於快速複習。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54" name="Google Shape;554;p39"/>
          <p:cNvPicPr preferRelativeResize="0"/>
          <p:nvPr/>
        </p:nvPicPr>
        <p:blipFill rotWithShape="1">
          <a:blip r:embed="rId3">
            <a:alphaModFix/>
          </a:blip>
          <a:srcRect l="9440" r="5786"/>
          <a:stretch/>
        </p:blipFill>
        <p:spPr>
          <a:xfrm>
            <a:off x="8615679" y="1773772"/>
            <a:ext cx="3159761" cy="386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9"/>
          <p:cNvPicPr preferRelativeResize="0"/>
          <p:nvPr/>
        </p:nvPicPr>
        <p:blipFill rotWithShape="1">
          <a:blip r:embed="rId4">
            <a:alphaModFix/>
          </a:blip>
          <a:srcRect l="11271" r="8159"/>
          <a:stretch/>
        </p:blipFill>
        <p:spPr>
          <a:xfrm>
            <a:off x="5135878" y="1773772"/>
            <a:ext cx="3058161" cy="372571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9"/>
          <p:cNvSpPr txBox="1"/>
          <p:nvPr/>
        </p:nvSpPr>
        <p:spPr>
          <a:xfrm>
            <a:off x="9067142" y="5823899"/>
            <a:ext cx="2479698" cy="46166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心得反思</a:t>
            </a:r>
            <a:endParaRPr/>
          </a:p>
        </p:txBody>
      </p:sp>
      <p:sp>
        <p:nvSpPr>
          <p:cNvPr id="557" name="Google Shape;557;p39"/>
          <p:cNvSpPr/>
          <p:nvPr/>
        </p:nvSpPr>
        <p:spPr>
          <a:xfrm>
            <a:off x="10182531" y="5192829"/>
            <a:ext cx="284480" cy="56896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4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4" name="Google Shape;564;p4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66" name="Google Shape;566;p40"/>
          <p:cNvSpPr txBox="1"/>
          <p:nvPr/>
        </p:nvSpPr>
        <p:spPr>
          <a:xfrm>
            <a:off x="692761" y="1227131"/>
            <a:ext cx="4021477" cy="4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學長們的範例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567" name="Google Shape;56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2174" y="1888267"/>
            <a:ext cx="2831393" cy="429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8065" y="1879948"/>
            <a:ext cx="2924584" cy="4297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55171" y="1819370"/>
            <a:ext cx="2831393" cy="4386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0" name="Google Shape;570;p40"/>
          <p:cNvCxnSpPr/>
          <p:nvPr/>
        </p:nvCxnSpPr>
        <p:spPr>
          <a:xfrm>
            <a:off x="2556625" y="-259125"/>
            <a:ext cx="1658400" cy="165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1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7" name="Google Shape;577;p4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1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zh-TW" sz="4400" b="1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 b="1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79" name="Google Shape;579;p41"/>
          <p:cNvSpPr txBox="1"/>
          <p:nvPr/>
        </p:nvSpPr>
        <p:spPr>
          <a:xfrm>
            <a:off x="692761" y="1227131"/>
            <a:ext cx="40215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學長們的範例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cxnSp>
        <p:nvCxnSpPr>
          <p:cNvPr id="580" name="Google Shape;580;p41"/>
          <p:cNvCxnSpPr/>
          <p:nvPr/>
        </p:nvCxnSpPr>
        <p:spPr>
          <a:xfrm>
            <a:off x="2556625" y="-259125"/>
            <a:ext cx="1658400" cy="165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81" name="Google Shape;58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8563" y="1800613"/>
            <a:ext cx="3495675" cy="465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375" y="1800625"/>
            <a:ext cx="3387439" cy="465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89" name="Google Shape;589;p42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4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2"/>
          <p:cNvSpPr txBox="1"/>
          <p:nvPr/>
        </p:nvSpPr>
        <p:spPr>
          <a:xfrm>
            <a:off x="1246484" y="1688230"/>
            <a:ext cx="6096000" cy="2246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zh-TW" sz="2000" b="0" i="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科學筆記本：康乃爾筆記法 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0" i="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https://reurl.cc/y6y608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br>
              <a:rPr lang="zh-TW" sz="2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zh-TW" sz="2000" b="0" i="0" u="none" strike="noStrike">
                <a:solidFill>
                  <a:srgbClr val="000000"/>
                </a:solidFill>
                <a:latin typeface="Golos Text"/>
                <a:ea typeface="Golos Text"/>
                <a:cs typeface="Golos Text"/>
                <a:sym typeface="Golos Text"/>
              </a:rPr>
              <a:t>康乃爾筆記法+ 5R筆記法</a:t>
            </a:r>
            <a:endParaRPr sz="20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 b="0" i="0" u="sng" strike="noStrike">
                <a:solidFill>
                  <a:srgbClr val="1155CC"/>
                </a:solidFill>
                <a:latin typeface="Golos Text"/>
                <a:ea typeface="Golos Text"/>
                <a:cs typeface="Golos Text"/>
                <a:sym typeface="Golos Tex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https://vocus.cc/article/5e3c1ec2fd897800013ae05c</a:t>
            </a:r>
            <a:br>
              <a:rPr lang="zh-TW" sz="2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2"/>
          <p:cNvSpPr txBox="1"/>
          <p:nvPr/>
        </p:nvSpPr>
        <p:spPr>
          <a:xfrm>
            <a:off x="692761" y="1227131"/>
            <a:ext cx="4021477" cy="4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461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⮚"/>
            </a:pPr>
            <a:r>
              <a:rPr lang="zh-TW" sz="32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參考資料</a:t>
            </a:r>
            <a:endParaRPr sz="32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99" name="Google Shape;599;p43"/>
          <p:cNvSpPr txBox="1"/>
          <p:nvPr/>
        </p:nvSpPr>
        <p:spPr>
          <a:xfrm>
            <a:off x="838200" y="2230399"/>
            <a:ext cx="10515600" cy="3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化石紀錄顯示物種會隨時間改變，並出現過渡形態。比較解剖學中，同源構造暗示不同物種可能有共同祖先，而趨同演化則說明不同物種因相似環境壓力而出現相似特徵。分子生物學的研究則顯示，DNA 與蛋白質序列的相似度可以反映物種間的親緣關係。生物地理分布，如島嶼特有種，也能解釋物種如何因地理隔離而分化。胚胎學觀察則發現，不同物種在胚胎早期的發育階段常有相似之處。</a:t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43"/>
          <p:cNvSpPr txBox="1"/>
          <p:nvPr/>
        </p:nvSpPr>
        <p:spPr>
          <a:xfrm>
            <a:off x="915425" y="1380238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6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44" descr="畫布"/>
          <p:cNvSpPr txBox="1"/>
          <p:nvPr/>
        </p:nvSpPr>
        <p:spPr>
          <a:xfrm>
            <a:off x="702100" y="98613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3900">
                <a:latin typeface="Microsoft JhengHei"/>
                <a:ea typeface="Microsoft JhengHei"/>
                <a:cs typeface="Microsoft JhengHei"/>
                <a:sym typeface="Microsoft JhengHei"/>
              </a:rPr>
              <a:t>練習範例</a:t>
            </a: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3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p44"/>
          <p:cNvCxnSpPr/>
          <p:nvPr/>
        </p:nvCxnSpPr>
        <p:spPr>
          <a:xfrm>
            <a:off x="3823125" y="1405421"/>
            <a:ext cx="42900" cy="42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0" name="Google Shape;610;p44"/>
          <p:cNvSpPr txBox="1"/>
          <p:nvPr/>
        </p:nvSpPr>
        <p:spPr>
          <a:xfrm>
            <a:off x="915425" y="819762"/>
            <a:ext cx="633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000"/>
          </a:p>
        </p:txBody>
      </p:sp>
      <p:grpSp>
        <p:nvGrpSpPr>
          <p:cNvPr id="611" name="Google Shape;611;p44"/>
          <p:cNvGrpSpPr/>
          <p:nvPr/>
        </p:nvGrpSpPr>
        <p:grpSpPr>
          <a:xfrm>
            <a:off x="915425" y="1475458"/>
            <a:ext cx="10438250" cy="4107317"/>
            <a:chOff x="915425" y="1677164"/>
            <a:chExt cx="10438250" cy="4107317"/>
          </a:xfrm>
        </p:grpSpPr>
        <p:sp>
          <p:nvSpPr>
            <p:cNvPr id="612" name="Google Shape;612;p44"/>
            <p:cNvSpPr txBox="1"/>
            <p:nvPr/>
          </p:nvSpPr>
          <p:spPr>
            <a:xfrm>
              <a:off x="915425" y="1715102"/>
              <a:ext cx="1802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化石紀錄</a:t>
              </a:r>
              <a:endParaRPr/>
            </a:p>
          </p:txBody>
        </p:sp>
        <p:sp>
          <p:nvSpPr>
            <p:cNvPr id="613" name="Google Shape;613;p44"/>
            <p:cNvSpPr txBox="1"/>
            <p:nvPr/>
          </p:nvSpPr>
          <p:spPr>
            <a:xfrm>
              <a:off x="915425" y="2473155"/>
              <a:ext cx="16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解剖學</a:t>
              </a:r>
              <a:endParaRPr/>
            </a:p>
          </p:txBody>
        </p:sp>
        <p:sp>
          <p:nvSpPr>
            <p:cNvPr id="614" name="Google Shape;614;p44"/>
            <p:cNvSpPr txBox="1"/>
            <p:nvPr/>
          </p:nvSpPr>
          <p:spPr>
            <a:xfrm>
              <a:off x="4005775" y="2397264"/>
              <a:ext cx="7347900" cy="13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同源：可能有共同祖先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趨同演化：不同物種，相似環境壓力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15" name="Google Shape;615;p44"/>
            <p:cNvSpPr txBox="1"/>
            <p:nvPr/>
          </p:nvSpPr>
          <p:spPr>
            <a:xfrm>
              <a:off x="915425" y="3747414"/>
              <a:ext cx="271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分子生物學</a:t>
              </a:r>
              <a:endParaRPr/>
            </a:p>
          </p:txBody>
        </p:sp>
        <p:sp>
          <p:nvSpPr>
            <p:cNvPr id="616" name="Google Shape;616;p44"/>
            <p:cNvSpPr txBox="1"/>
            <p:nvPr/>
          </p:nvSpPr>
          <p:spPr>
            <a:xfrm>
              <a:off x="4005775" y="3728664"/>
              <a:ext cx="6780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分析DNA 與蛋白質序列的相似度</a:t>
              </a:r>
              <a:endParaRPr/>
            </a:p>
          </p:txBody>
        </p:sp>
        <p:sp>
          <p:nvSpPr>
            <p:cNvPr id="617" name="Google Shape;617;p44"/>
            <p:cNvSpPr txBox="1"/>
            <p:nvPr/>
          </p:nvSpPr>
          <p:spPr>
            <a:xfrm>
              <a:off x="3990275" y="1677164"/>
              <a:ext cx="4080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物種會隨時間改變</a:t>
              </a:r>
              <a:endParaRPr/>
            </a:p>
          </p:txBody>
        </p:sp>
        <p:sp>
          <p:nvSpPr>
            <p:cNvPr id="618" name="Google Shape;618;p44"/>
            <p:cNvSpPr txBox="1"/>
            <p:nvPr/>
          </p:nvSpPr>
          <p:spPr>
            <a:xfrm>
              <a:off x="915425" y="43751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生物地理分布</a:t>
              </a:r>
              <a:endParaRPr/>
            </a:p>
          </p:txBody>
        </p:sp>
        <p:sp>
          <p:nvSpPr>
            <p:cNvPr id="619" name="Google Shape;619;p44"/>
            <p:cNvSpPr txBox="1"/>
            <p:nvPr/>
          </p:nvSpPr>
          <p:spPr>
            <a:xfrm>
              <a:off x="4055700" y="4433327"/>
              <a:ext cx="6978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解釋物種如何因地理隔離而分化</a:t>
              </a:r>
              <a:endParaRPr/>
            </a:p>
          </p:txBody>
        </p:sp>
        <p:sp>
          <p:nvSpPr>
            <p:cNvPr id="620" name="Google Shape;620;p44"/>
            <p:cNvSpPr txBox="1"/>
            <p:nvPr/>
          </p:nvSpPr>
          <p:spPr>
            <a:xfrm>
              <a:off x="915425" y="50387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胚胎學</a:t>
              </a:r>
              <a:endParaRPr/>
            </a:p>
          </p:txBody>
        </p:sp>
        <p:sp>
          <p:nvSpPr>
            <p:cNvPr id="621" name="Google Shape;621;p44"/>
            <p:cNvSpPr txBox="1"/>
            <p:nvPr/>
          </p:nvSpPr>
          <p:spPr>
            <a:xfrm>
              <a:off x="4055725" y="5137981"/>
              <a:ext cx="6038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不同物種胚胎早期相似</a:t>
              </a:r>
              <a:endParaRPr/>
            </a:p>
          </p:txBody>
        </p:sp>
      </p:grpSp>
      <p:sp>
        <p:nvSpPr>
          <p:cNvPr id="622" name="Google Shape;622;p44"/>
          <p:cNvSpPr txBox="1"/>
          <p:nvPr/>
        </p:nvSpPr>
        <p:spPr>
          <a:xfrm>
            <a:off x="866525" y="5633025"/>
            <a:ext cx="1032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演化證據來自化石、解剖、分子、生物地理與胚胎學，顯示物種具有共同祖先並隨環境改變。</a:t>
            </a:r>
            <a:endParaRPr/>
          </a:p>
        </p:txBody>
      </p:sp>
      <p:cxnSp>
        <p:nvCxnSpPr>
          <p:cNvPr id="623" name="Google Shape;623;p44"/>
          <p:cNvCxnSpPr/>
          <p:nvPr/>
        </p:nvCxnSpPr>
        <p:spPr>
          <a:xfrm rot="10800000" flipH="1">
            <a:off x="702100" y="137452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4" name="Google Shape;624;p44"/>
          <p:cNvCxnSpPr/>
          <p:nvPr/>
        </p:nvCxnSpPr>
        <p:spPr>
          <a:xfrm rot="10800000" flipH="1">
            <a:off x="836525" y="559197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1" name="Google Shape;631;p45"/>
          <p:cNvSpPr txBox="1"/>
          <p:nvPr/>
        </p:nvSpPr>
        <p:spPr>
          <a:xfrm>
            <a:off x="838200" y="2230399"/>
            <a:ext cx="10515600" cy="3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化石紀錄顯示物種會隨時間改變，並出現過渡形態。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比較解剖學中，同源構造暗示不同物種可能有共同祖先，而趨同演化則說明不同物種因相似環境壓力而出現相似特徵。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分子生物學的研究則顯示，DNA 與蛋白質序列的相似度可以反映物種間的親緣關係。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生物地理分布，如島嶼特有種，也能解釋物種如何因地理隔離而分化。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胚胎學觀察則發現，不同物種在胚胎早期的發育階段常有相似之處。</a:t>
            </a:r>
            <a:r>
              <a:rPr lang="zh-TW" sz="30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|</a:t>
            </a: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3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32" name="Google Shape;632;p4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5"/>
          <p:cNvSpPr txBox="1"/>
          <p:nvPr/>
        </p:nvSpPr>
        <p:spPr>
          <a:xfrm>
            <a:off x="915425" y="1380238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600"/>
          </a:p>
        </p:txBody>
      </p:sp>
      <p:sp>
        <p:nvSpPr>
          <p:cNvPr id="634" name="Google Shape;634;p45"/>
          <p:cNvSpPr txBox="1"/>
          <p:nvPr/>
        </p:nvSpPr>
        <p:spPr>
          <a:xfrm>
            <a:off x="6782825" y="13802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逐句拆解(看句號)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6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1" name="Google Shape;641;p46"/>
          <p:cNvSpPr txBox="1"/>
          <p:nvPr/>
        </p:nvSpPr>
        <p:spPr>
          <a:xfrm>
            <a:off x="838200" y="1099165"/>
            <a:ext cx="10515600" cy="47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化石紀錄顯示物種會隨時間改變，並出現過渡形態。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比較解剖學中，同源構造暗示不同物種可能有共同祖先，而趨同演化則說明不同物種因相似環境壓力而出現相似特徵。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分子生物學的研究則顯示，DNA 與蛋白質序列的相似度可以反映物種間的親緣關係。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生物地理分布，如島嶼特有種，也能解釋物種如何因地理隔離而分化。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胚胎學觀察則發現，不同物種在胚胎早期的發育階段常有相似之處。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42" name="Google Shape;642;p4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6"/>
          <p:cNvSpPr txBox="1"/>
          <p:nvPr/>
        </p:nvSpPr>
        <p:spPr>
          <a:xfrm>
            <a:off x="7106580" y="10040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逐句拆解(條列示)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3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康乃爾筆記法-練習範例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0" name="Google Shape;650;p47"/>
          <p:cNvSpPr txBox="1"/>
          <p:nvPr/>
        </p:nvSpPr>
        <p:spPr>
          <a:xfrm>
            <a:off x="838200" y="1099150"/>
            <a:ext cx="10515600" cy="48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演化理論有來自不同領域的支持。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化石紀錄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顯示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物種會隨時間改變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，並出現過渡形態。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比較解剖學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同源構造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暗示不同物種可能有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共同祖先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趨同演化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則說明不同物種因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相似環境壓力而出現相似特徵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分子生物學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的研究則顯示，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DNA 與蛋白質序列的相似度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可以反映物種間的親緣關係。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生物地理分布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，如島嶼特有種，也能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解釋物種如何因地理隔離而分化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412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Microsoft JhengHei"/>
              <a:buAutoNum type="arabicPeriod"/>
            </a:pPr>
            <a:r>
              <a:rPr lang="zh-TW" sz="29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胚胎學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觀察則發現，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不同物種在胚胎早期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的發育階段常有</a:t>
            </a:r>
            <a:r>
              <a:rPr lang="zh-TW" sz="29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相似</a:t>
            </a: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之處。</a:t>
            </a: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254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endParaRPr sz="2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1" name="Google Shape;651;p4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47"/>
          <p:cNvSpPr txBox="1"/>
          <p:nvPr/>
        </p:nvSpPr>
        <p:spPr>
          <a:xfrm>
            <a:off x="7122200" y="1004050"/>
            <a:ext cx="52107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每句重點</a:t>
            </a:r>
            <a:endParaRPr sz="36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8" descr="畫布"/>
          <p:cNvSpPr txBox="1"/>
          <p:nvPr/>
        </p:nvSpPr>
        <p:spPr>
          <a:xfrm>
            <a:off x="702100" y="98613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3900">
                <a:latin typeface="Microsoft JhengHei"/>
                <a:ea typeface="Microsoft JhengHei"/>
                <a:cs typeface="Microsoft JhengHei"/>
                <a:sym typeface="Microsoft JhengHei"/>
              </a:rPr>
              <a:t>練習範例</a:t>
            </a:r>
            <a:r>
              <a:rPr lang="zh-TW" sz="39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39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48"/>
          <p:cNvCxnSpPr/>
          <p:nvPr/>
        </p:nvCxnSpPr>
        <p:spPr>
          <a:xfrm>
            <a:off x="3823125" y="1405421"/>
            <a:ext cx="42900" cy="42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1" name="Google Shape;661;p48"/>
          <p:cNvSpPr txBox="1"/>
          <p:nvPr/>
        </p:nvSpPr>
        <p:spPr>
          <a:xfrm>
            <a:off x="915425" y="819762"/>
            <a:ext cx="6333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主題一：演化的證據</a:t>
            </a:r>
            <a:endParaRPr sz="3000"/>
          </a:p>
        </p:txBody>
      </p:sp>
      <p:grpSp>
        <p:nvGrpSpPr>
          <p:cNvPr id="662" name="Google Shape;662;p48"/>
          <p:cNvGrpSpPr/>
          <p:nvPr/>
        </p:nvGrpSpPr>
        <p:grpSpPr>
          <a:xfrm>
            <a:off x="915425" y="1475458"/>
            <a:ext cx="10438250" cy="4107317"/>
            <a:chOff x="915425" y="1677164"/>
            <a:chExt cx="10438250" cy="4107317"/>
          </a:xfrm>
        </p:grpSpPr>
        <p:sp>
          <p:nvSpPr>
            <p:cNvPr id="663" name="Google Shape;663;p48"/>
            <p:cNvSpPr txBox="1"/>
            <p:nvPr/>
          </p:nvSpPr>
          <p:spPr>
            <a:xfrm>
              <a:off x="915425" y="1715102"/>
              <a:ext cx="1802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化石紀錄</a:t>
              </a:r>
              <a:endParaRPr/>
            </a:p>
          </p:txBody>
        </p:sp>
        <p:sp>
          <p:nvSpPr>
            <p:cNvPr id="664" name="Google Shape;664;p48"/>
            <p:cNvSpPr txBox="1"/>
            <p:nvPr/>
          </p:nvSpPr>
          <p:spPr>
            <a:xfrm>
              <a:off x="915425" y="2473155"/>
              <a:ext cx="1644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解剖學</a:t>
              </a:r>
              <a:endParaRPr/>
            </a:p>
          </p:txBody>
        </p:sp>
        <p:sp>
          <p:nvSpPr>
            <p:cNvPr id="665" name="Google Shape;665;p48"/>
            <p:cNvSpPr txBox="1"/>
            <p:nvPr/>
          </p:nvSpPr>
          <p:spPr>
            <a:xfrm>
              <a:off x="4005775" y="2397264"/>
              <a:ext cx="7347900" cy="133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同源：可能有共同祖先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趨同演化：不同物種，相似環境壓力</a:t>
              </a:r>
              <a:endParaRPr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666" name="Google Shape;666;p48"/>
            <p:cNvSpPr txBox="1"/>
            <p:nvPr/>
          </p:nvSpPr>
          <p:spPr>
            <a:xfrm>
              <a:off x="915425" y="3747414"/>
              <a:ext cx="2718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分子生物學</a:t>
              </a:r>
              <a:endParaRPr/>
            </a:p>
          </p:txBody>
        </p:sp>
        <p:sp>
          <p:nvSpPr>
            <p:cNvPr id="667" name="Google Shape;667;p48"/>
            <p:cNvSpPr txBox="1"/>
            <p:nvPr/>
          </p:nvSpPr>
          <p:spPr>
            <a:xfrm>
              <a:off x="4005775" y="3728664"/>
              <a:ext cx="67803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分析DNA 與蛋白質序列的相似度</a:t>
              </a:r>
              <a:endParaRPr/>
            </a:p>
          </p:txBody>
        </p:sp>
        <p:sp>
          <p:nvSpPr>
            <p:cNvPr id="668" name="Google Shape;668;p48"/>
            <p:cNvSpPr txBox="1"/>
            <p:nvPr/>
          </p:nvSpPr>
          <p:spPr>
            <a:xfrm>
              <a:off x="3990275" y="1677164"/>
              <a:ext cx="4080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物種會隨時間改變</a:t>
              </a:r>
              <a:endParaRPr/>
            </a:p>
          </p:txBody>
        </p:sp>
        <p:sp>
          <p:nvSpPr>
            <p:cNvPr id="669" name="Google Shape;669;p48"/>
            <p:cNvSpPr txBox="1"/>
            <p:nvPr/>
          </p:nvSpPr>
          <p:spPr>
            <a:xfrm>
              <a:off x="915425" y="43751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生物地理分布</a:t>
              </a:r>
              <a:endParaRPr/>
            </a:p>
          </p:txBody>
        </p:sp>
        <p:sp>
          <p:nvSpPr>
            <p:cNvPr id="670" name="Google Shape;670;p48"/>
            <p:cNvSpPr txBox="1"/>
            <p:nvPr/>
          </p:nvSpPr>
          <p:spPr>
            <a:xfrm>
              <a:off x="4055700" y="4433327"/>
              <a:ext cx="6978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解釋物種如何因地理隔離而分化</a:t>
              </a:r>
              <a:endParaRPr/>
            </a:p>
          </p:txBody>
        </p:sp>
        <p:sp>
          <p:nvSpPr>
            <p:cNvPr id="671" name="Google Shape;671;p48"/>
            <p:cNvSpPr txBox="1"/>
            <p:nvPr/>
          </p:nvSpPr>
          <p:spPr>
            <a:xfrm>
              <a:off x="915425" y="5038752"/>
              <a:ext cx="30000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胚胎學</a:t>
              </a:r>
              <a:endParaRPr/>
            </a:p>
          </p:txBody>
        </p:sp>
        <p:sp>
          <p:nvSpPr>
            <p:cNvPr id="672" name="Google Shape;672;p48"/>
            <p:cNvSpPr txBox="1"/>
            <p:nvPr/>
          </p:nvSpPr>
          <p:spPr>
            <a:xfrm>
              <a:off x="4055725" y="5137981"/>
              <a:ext cx="60384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3000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不同物種胚胎早期相似</a:t>
              </a:r>
              <a:endParaRPr/>
            </a:p>
          </p:txBody>
        </p:sp>
      </p:grpSp>
      <p:sp>
        <p:nvSpPr>
          <p:cNvPr id="673" name="Google Shape;673;p48"/>
          <p:cNvSpPr txBox="1"/>
          <p:nvPr/>
        </p:nvSpPr>
        <p:spPr>
          <a:xfrm>
            <a:off x="866525" y="5633025"/>
            <a:ext cx="1032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演化證據來自化石、解剖、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分生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、生物地理與胚胎學，顯示物種有共同祖先並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因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環境壓力，隨</a:t>
            </a:r>
            <a:r>
              <a:rPr lang="zh-TW" sz="3000">
                <a:solidFill>
                  <a:srgbClr val="0000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時間而緩慢</a:t>
            </a: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改變。</a:t>
            </a:r>
            <a:endParaRPr/>
          </a:p>
        </p:txBody>
      </p:sp>
      <p:cxnSp>
        <p:nvCxnSpPr>
          <p:cNvPr id="674" name="Google Shape;674;p48"/>
          <p:cNvCxnSpPr/>
          <p:nvPr/>
        </p:nvCxnSpPr>
        <p:spPr>
          <a:xfrm rot="10800000" flipH="1">
            <a:off x="702100" y="137452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5" name="Google Shape;675;p48"/>
          <p:cNvCxnSpPr/>
          <p:nvPr/>
        </p:nvCxnSpPr>
        <p:spPr>
          <a:xfrm rot="10800000" flipH="1">
            <a:off x="836525" y="5591975"/>
            <a:ext cx="10388100" cy="2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6" name="Google Shape;676;p48"/>
          <p:cNvSpPr txBox="1"/>
          <p:nvPr/>
        </p:nvSpPr>
        <p:spPr>
          <a:xfrm>
            <a:off x="5744350" y="804450"/>
            <a:ext cx="5210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200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(每人總結 可能不同)</a:t>
            </a:r>
            <a:endParaRPr sz="3200">
              <a:solidFill>
                <a:srgbClr val="FF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9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83" name="Google Shape;683;p49"/>
          <p:cNvSpPr txBox="1"/>
          <p:nvPr/>
        </p:nvSpPr>
        <p:spPr>
          <a:xfrm>
            <a:off x="748900" y="2141100"/>
            <a:ext cx="10817700" cy="37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5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rPr lang="zh-TW" sz="3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水分子之間透過氫鍵作用，展現出許多與其他液體不同的特性。首先，水具有高比熱，能吸收或釋放大量熱能而使溫度變化緩慢，有助於穩定生物體與環境的溫度。其次，水的表面張力較高，使得某些昆蟲能在水面行走。水的凝聚性讓水分子彼此吸引，附著性則讓水分子與其他物質產生吸引力，兩者共同造成毛細現象。最後，水具有密度異常性：固態冰的密度比液態水小，因此冰會浮在水面上，為水生生物提供保護。</a:t>
            </a:r>
            <a:endParaRPr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4" name="Google Shape;684;p4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9"/>
          <p:cNvSpPr txBox="1"/>
          <p:nvPr/>
        </p:nvSpPr>
        <p:spPr>
          <a:xfrm>
            <a:off x="915425" y="1364713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主題二：水的性質</a:t>
            </a:r>
            <a:endParaRPr sz="36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50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康乃爾筆記法-</a:t>
            </a: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練習</a:t>
            </a:r>
            <a:r>
              <a:rPr lang="zh-TW" sz="44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 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692" name="Google Shape;692;p50"/>
          <p:cNvSpPr txBox="1"/>
          <p:nvPr/>
        </p:nvSpPr>
        <p:spPr>
          <a:xfrm>
            <a:off x="106725" y="1832452"/>
            <a:ext cx="11846700" cy="41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54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Arial"/>
              <a:buNone/>
            </a:pPr>
            <a:r>
              <a:rPr lang="zh-TW" sz="29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能源是人類生活與工業發展不可或缺的基礎。依照來源與是否能再生，可分為可再生能源與非再生能源。非再生能源包括石油、煤和天然氣，雖然能量密度高且易於使用，但屬於有限資源，燃燒後會釋放二氧化碳，造成空氣污染與溫室效應。核能雖然不直接排放二氧化碳，且單位能量輸出高，但會產生放射性廢料，需要妥善處理。相對而言，可再生能源如太陽能、風能、水力、地熱與生質能，來源持續不斷，污染相對較少，但其效率與穩定性受自然條件影響，例如日照時間或風力大小。隨著氣候變遷問題加劇，各國積極推動能源轉型，以降低對化石燃料的依賴，發展更永續的能源系統。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0"/>
          <p:cNvSpPr txBox="1"/>
          <p:nvPr/>
        </p:nvSpPr>
        <p:spPr>
          <a:xfrm>
            <a:off x="424300" y="1094213"/>
            <a:ext cx="633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主題三：能源</a:t>
            </a:r>
            <a:endParaRPr sz="3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1" descr="畫布"/>
          <p:cNvSpPr txBox="1"/>
          <p:nvPr/>
        </p:nvSpPr>
        <p:spPr>
          <a:xfrm>
            <a:off x="620975" y="42128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Microsoft JhengHei"/>
              <a:buNone/>
            </a:pPr>
            <a:r>
              <a:rPr lang="zh-TW" sz="4400">
                <a:latin typeface="Microsoft JhengHei"/>
                <a:ea typeface="Microsoft JhengHei"/>
                <a:cs typeface="Microsoft JhengHei"/>
                <a:sym typeface="Microsoft JhengHei"/>
              </a:rPr>
              <a:t>任務三：</a:t>
            </a: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康乃爾筆記法摘要練習 </a:t>
            </a:r>
            <a:endParaRPr sz="440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1" name="Google Shape;701;p5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1"/>
          <p:cNvSpPr txBox="1"/>
          <p:nvPr/>
        </p:nvSpPr>
        <p:spPr>
          <a:xfrm>
            <a:off x="527900" y="2094625"/>
            <a:ext cx="11266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solidFill>
                  <a:srgbClr val="202124"/>
                </a:solidFill>
                <a:highlight>
                  <a:srgbClr val="F8F9FA"/>
                </a:highlight>
                <a:latin typeface="Roboto"/>
                <a:ea typeface="Roboto"/>
                <a:cs typeface="Roboto"/>
                <a:sym typeface="Roboto"/>
              </a:rPr>
              <a:t>請將主題二及主題三分別作出摘要筆記，並拍照上傳</a:t>
            </a:r>
            <a:endParaRPr sz="3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359317" cy="6858000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222253" y="607154"/>
            <a:ext cx="591183" cy="591183"/>
          </a:xfrm>
          <a:prstGeom prst="rect">
            <a:avLst/>
          </a:prstGeom>
          <a:solidFill>
            <a:srgbClr val="E0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9920" y="5257800"/>
            <a:ext cx="2326640" cy="4572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C3052"/>
                </a:solidFill>
                <a:latin typeface="Times New Roman"/>
              </a:defRPr>
            </a:pPr>
            <a:r>
              <a:rPr>
                <a:latin typeface="Times New Roman" panose="02020603050405020304" pitchFamily="18" charset="0"/>
              </a:rPr>
              <a:t>Inquiry &amp;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474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K01-C6-B2">
            <a:extLst>
              <a:ext uri="{FF2B5EF4-FFF2-40B4-BE49-F238E27FC236}">
                <a16:creationId xmlns:a16="http://schemas.microsoft.com/office/drawing/2014/main" id="{1069509A-2115-4800-E992-BC3A343658E9}"/>
              </a:ext>
            </a:extLst>
          </p:cNvPr>
          <p:cNvSpPr txBox="1"/>
          <p:nvPr/>
        </p:nvSpPr>
        <p:spPr>
          <a:xfrm>
            <a:off x="820420" y="2313940"/>
            <a:ext cx="1052068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4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木頭耳機能召喚飛機</a:t>
            </a:r>
            <a:r>
              <a:rPr lang="zh-TW" altLang="en-US" sz="4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4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1-C6-B3">
            <a:extLst>
              <a:ext uri="{FF2B5EF4-FFF2-40B4-BE49-F238E27FC236}">
                <a16:creationId xmlns:a16="http://schemas.microsoft.com/office/drawing/2014/main" id="{D3B89AC6-D7FD-BEEA-ACE0-CD0DD080F6B9}"/>
              </a:ext>
            </a:extLst>
          </p:cNvPr>
          <p:cNvSpPr txBox="1"/>
          <p:nvPr/>
        </p:nvSpPr>
        <p:spPr>
          <a:xfrm>
            <a:off x="820420" y="3190240"/>
            <a:ext cx="10520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探索科學的邊界：從亞里斯多德、波普爾到費曼的「貨物崇拜」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2378F59C-5BB2-E693-639B-A51C833C093C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⚔ 認知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衝突 </a:t>
            </a:r>
            <a:r>
              <a:rPr lang="en-US" altLang="zh-TW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課堂模擬情境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658965C7-890C-704C-96D6-865CD1136127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哪一個，才是真正的「科學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2-C4-B1">
            <a:extLst>
              <a:ext uri="{FF2B5EF4-FFF2-40B4-BE49-F238E27FC236}">
                <a16:creationId xmlns:a16="http://schemas.microsoft.com/office/drawing/2014/main" id="{09E025FB-C8FE-7225-3A98-C08C1F3254E7}"/>
              </a:ext>
            </a:extLst>
          </p:cNvPr>
          <p:cNvSpPr txBox="1"/>
          <p:nvPr/>
        </p:nvSpPr>
        <p:spPr>
          <a:xfrm>
            <a:off x="947420" y="2199640"/>
            <a:ext cx="4688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候選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者 </a:t>
            </a:r>
            <a:r>
              <a:rPr lang="en-US" altLang="zh-TW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</a:t>
            </a:r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量子共振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手環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2-C4-B2">
            <a:extLst>
              <a:ext uri="{FF2B5EF4-FFF2-40B4-BE49-F238E27FC236}">
                <a16:creationId xmlns:a16="http://schemas.microsoft.com/office/drawing/2014/main" id="{76F7434A-FEB0-798B-8579-B22C689058CA}"/>
              </a:ext>
            </a:extLst>
          </p:cNvPr>
          <p:cNvSpPr txBox="1"/>
          <p:nvPr/>
        </p:nvSpPr>
        <p:spPr>
          <a:xfrm>
            <a:off x="947420" y="2720340"/>
            <a:ext cx="4688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宣稱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使用「次微米諧振頻率」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展示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專利磁場圖譜、國際認證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標價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NT$ 3,990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2-C4-B3">
            <a:extLst>
              <a:ext uri="{FF2B5EF4-FFF2-40B4-BE49-F238E27FC236}">
                <a16:creationId xmlns:a16="http://schemas.microsoft.com/office/drawing/2014/main" id="{223E753D-394F-4E9F-49B8-088F46C52B86}"/>
              </a:ext>
            </a:extLst>
          </p:cNvPr>
          <p:cNvSpPr txBox="1"/>
          <p:nvPr/>
        </p:nvSpPr>
        <p:spPr>
          <a:xfrm>
            <a:off x="947420" y="3901440"/>
            <a:ext cx="4688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這些包裝還不能證明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有效。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2-C4-B4">
            <a:extLst>
              <a:ext uri="{FF2B5EF4-FFF2-40B4-BE49-F238E27FC236}">
                <a16:creationId xmlns:a16="http://schemas.microsoft.com/office/drawing/2014/main" id="{5C872F33-CF28-82B6-3CF4-7F181517B8BC}"/>
              </a:ext>
            </a:extLst>
          </p:cNvPr>
          <p:cNvSpPr txBox="1"/>
          <p:nvPr/>
        </p:nvSpPr>
        <p:spPr>
          <a:xfrm>
            <a:off x="947420" y="4358640"/>
            <a:ext cx="4688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若一直迴避檢驗、用話術解釋失敗，就有偽科學的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警訊。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2-C5-B1">
            <a:extLst>
              <a:ext uri="{FF2B5EF4-FFF2-40B4-BE49-F238E27FC236}">
                <a16:creationId xmlns:a16="http://schemas.microsoft.com/office/drawing/2014/main" id="{D37F646D-ECAF-CE8F-53E1-A53BAAA9EE22}"/>
              </a:ext>
            </a:extLst>
          </p:cNvPr>
          <p:cNvSpPr txBox="1"/>
          <p:nvPr/>
        </p:nvSpPr>
        <p:spPr>
          <a:xfrm>
            <a:off x="6433820" y="2390140"/>
            <a:ext cx="4688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候選者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B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：探究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A+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報告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2-C5-B2">
            <a:extLst>
              <a:ext uri="{FF2B5EF4-FFF2-40B4-BE49-F238E27FC236}">
                <a16:creationId xmlns:a16="http://schemas.microsoft.com/office/drawing/2014/main" id="{1D28A562-8C01-CF93-E3C2-8CD80C98C71E}"/>
              </a:ext>
            </a:extLst>
          </p:cNvPr>
          <p:cNvSpPr txBox="1"/>
          <p:nvPr/>
        </p:nvSpPr>
        <p:spPr>
          <a:xfrm>
            <a:off x="6433820" y="2910840"/>
            <a:ext cx="4688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單擺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週期與公式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怕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被扣分，組員悄悄改數據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圖表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漂亮，拿下全班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最高分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2-C5-B3">
            <a:extLst>
              <a:ext uri="{FF2B5EF4-FFF2-40B4-BE49-F238E27FC236}">
                <a16:creationId xmlns:a16="http://schemas.microsoft.com/office/drawing/2014/main" id="{17854F77-57EA-F825-8CD5-49DD3C87D0B3}"/>
              </a:ext>
            </a:extLst>
          </p:cNvPr>
          <p:cNvSpPr txBox="1"/>
          <p:nvPr/>
        </p:nvSpPr>
        <p:spPr>
          <a:xfrm>
            <a:off x="6433820" y="4091940"/>
            <a:ext cx="4688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貨物崇拜式的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研究外觀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2-C5-B4">
            <a:extLst>
              <a:ext uri="{FF2B5EF4-FFF2-40B4-BE49-F238E27FC236}">
                <a16:creationId xmlns:a16="http://schemas.microsoft.com/office/drawing/2014/main" id="{FA4C130D-8907-491E-647E-BFB07C574E70}"/>
              </a:ext>
            </a:extLst>
          </p:cNvPr>
          <p:cNvSpPr txBox="1"/>
          <p:nvPr/>
        </p:nvSpPr>
        <p:spPr>
          <a:xfrm>
            <a:off x="6433820" y="4549140"/>
            <a:ext cx="46888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形式完整，卻失去資料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182880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182880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0" y="3703320"/>
            <a:ext cx="5120640" cy="182880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7554DCD9-D5FD-7BAF-A471-C50268644B8D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🧭 雙 </a:t>
            </a:r>
            <a:r>
              <a:rPr lang="en-US" altLang="zh-TW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GPS 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定位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914EF59A-D029-304C-BEA1-FB955D5378F8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今天短講的四個探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案關卡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3-C4-B1">
            <a:extLst>
              <a:ext uri="{FF2B5EF4-FFF2-40B4-BE49-F238E27FC236}">
                <a16:creationId xmlns:a16="http://schemas.microsoft.com/office/drawing/2014/main" id="{F4E9633C-671D-B7C7-00AE-33DB2D31269B}"/>
              </a:ext>
            </a:extLst>
          </p:cNvPr>
          <p:cNvSpPr txBox="1"/>
          <p:nvPr/>
        </p:nvSpPr>
        <p:spPr>
          <a:xfrm>
            <a:off x="820420" y="178054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字源考古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3-C4-B2">
            <a:extLst>
              <a:ext uri="{FF2B5EF4-FFF2-40B4-BE49-F238E27FC236}">
                <a16:creationId xmlns:a16="http://schemas.microsoft.com/office/drawing/2014/main" id="{794AA17D-4F1B-0E81-78A5-48CA504A732A}"/>
              </a:ext>
            </a:extLst>
          </p:cNvPr>
          <p:cNvSpPr txBox="1"/>
          <p:nvPr/>
        </p:nvSpPr>
        <p:spPr>
          <a:xfrm>
            <a:off x="820420" y="2301240"/>
            <a:ext cx="4942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亞里斯多德的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Episteme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、羅馬的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Scientia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、休厄爾的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Scientist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、西周的「分科之學」。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3-C5-B1">
            <a:extLst>
              <a:ext uri="{FF2B5EF4-FFF2-40B4-BE49-F238E27FC236}">
                <a16:creationId xmlns:a16="http://schemas.microsoft.com/office/drawing/2014/main" id="{35830C3E-D85E-6457-1885-37D30449E9D1}"/>
              </a:ext>
            </a:extLst>
          </p:cNvPr>
          <p:cNvSpPr txBox="1"/>
          <p:nvPr/>
        </p:nvSpPr>
        <p:spPr>
          <a:xfrm>
            <a:off x="6306820" y="178054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</a:t>
            </a:r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普爾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之刀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3-C5-B2">
            <a:extLst>
              <a:ext uri="{FF2B5EF4-FFF2-40B4-BE49-F238E27FC236}">
                <a16:creationId xmlns:a16="http://schemas.microsoft.com/office/drawing/2014/main" id="{07EE37CD-AEA6-A0BA-D6BD-30390C9C64B1}"/>
              </a:ext>
            </a:extLst>
          </p:cNvPr>
          <p:cNvSpPr txBox="1"/>
          <p:nvPr/>
        </p:nvSpPr>
        <p:spPr>
          <a:xfrm>
            <a:off x="6306820" y="2301240"/>
            <a:ext cx="49428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可證偽性：什麼結果會使我們修正主張？它是檢查問題，不是判定一切的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捷徑。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3-C6-B1">
            <a:extLst>
              <a:ext uri="{FF2B5EF4-FFF2-40B4-BE49-F238E27FC236}">
                <a16:creationId xmlns:a16="http://schemas.microsoft.com/office/drawing/2014/main" id="{42B2B153-29C1-0268-D2DB-C1FFBD97AAC5}"/>
              </a:ext>
            </a:extLst>
          </p:cNvPr>
          <p:cNvSpPr txBox="1"/>
          <p:nvPr/>
        </p:nvSpPr>
        <p:spPr>
          <a:xfrm>
            <a:off x="820420" y="398272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第三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費曼照妖鏡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3-C6-B2">
            <a:extLst>
              <a:ext uri="{FF2B5EF4-FFF2-40B4-BE49-F238E27FC236}">
                <a16:creationId xmlns:a16="http://schemas.microsoft.com/office/drawing/2014/main" id="{556B24FB-3AA6-D542-1264-22E882FC833B}"/>
              </a:ext>
            </a:extLst>
          </p:cNvPr>
          <p:cNvSpPr txBox="1"/>
          <p:nvPr/>
        </p:nvSpPr>
        <p:spPr>
          <a:xfrm>
            <a:off x="820420" y="4503420"/>
            <a:ext cx="4942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竹子跑道、密立根油滴的逐步上移，以及探究實作中容易忽略的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3-C7-B1">
            <a:extLst>
              <a:ext uri="{FF2B5EF4-FFF2-40B4-BE49-F238E27FC236}">
                <a16:creationId xmlns:a16="http://schemas.microsoft.com/office/drawing/2014/main" id="{FDBB3A40-5773-7BA4-2269-4C3DCECB9E2B}"/>
              </a:ext>
            </a:extLst>
          </p:cNvPr>
          <p:cNvSpPr txBox="1"/>
          <p:nvPr/>
        </p:nvSpPr>
        <p:spPr>
          <a:xfrm>
            <a:off x="6306820" y="3982720"/>
            <a:ext cx="4942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第四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站 </a:t>
            </a:r>
            <a:r>
              <a:rPr lang="en-US" altLang="zh-TW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實戰雙稜鏡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03-C7-B2">
            <a:extLst>
              <a:ext uri="{FF2B5EF4-FFF2-40B4-BE49-F238E27FC236}">
                <a16:creationId xmlns:a16="http://schemas.microsoft.com/office/drawing/2014/main" id="{38D7DE6D-5FC3-52E0-C39B-2CC932945152}"/>
              </a:ext>
            </a:extLst>
          </p:cNvPr>
          <p:cNvSpPr txBox="1"/>
          <p:nvPr/>
        </p:nvSpPr>
        <p:spPr>
          <a:xfrm>
            <a:off x="6306820" y="4503420"/>
            <a:ext cx="49428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透過四道情境挑戰，練習用波普爾之問查主張、費曼之問查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自己。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C3052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155CC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1E7E34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200" b="1">
                <a:solidFill>
                  <a:srgbClr val="FFD966"/>
                </a:solidFill>
                <a:latin typeface="Microsoft JhengHei"/>
              </a:defRPr>
            </a:pPr>
            <a:endParaRPr sz="2200" b="0">
              <a:solidFill>
                <a:srgbClr val="212121"/>
              </a:solidFill>
              <a:latin typeface="Microsoft JhengHei"/>
            </a:endParaRPr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E7DA1A42-CD35-F8D5-BA00-AD77166E4E3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🏛 第一站：字源考古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DD5ADE9C-CDDE-C7CE-E6AD-4A43DB5AE10D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「科學」一詞的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歷史脈絡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4-C4-B1">
            <a:extLst>
              <a:ext uri="{FF2B5EF4-FFF2-40B4-BE49-F238E27FC236}">
                <a16:creationId xmlns:a16="http://schemas.microsoft.com/office/drawing/2014/main" id="{32AB68C9-B65D-AE96-C7B9-42DB7B6EB12D}"/>
              </a:ext>
            </a:extLst>
          </p:cNvPr>
          <p:cNvSpPr txBox="1"/>
          <p:nvPr/>
        </p:nvSpPr>
        <p:spPr>
          <a:xfrm>
            <a:off x="922020" y="174244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西元前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世紀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希臘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｜亞里斯多德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Episteme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討論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有系統的知識，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Doxa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意見）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區分。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4-C5-B1">
            <a:extLst>
              <a:ext uri="{FF2B5EF4-FFF2-40B4-BE49-F238E27FC236}">
                <a16:creationId xmlns:a16="http://schemas.microsoft.com/office/drawing/2014/main" id="{0F763B4E-0002-025E-C8FF-ADEC0AF7FFE1}"/>
              </a:ext>
            </a:extLst>
          </p:cNvPr>
          <p:cNvSpPr txBox="1"/>
          <p:nvPr/>
        </p:nvSpPr>
        <p:spPr>
          <a:xfrm>
            <a:off x="922020" y="270256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西元前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世紀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羅馬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｜西塞羅等人以拉丁語討論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知識；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Scientia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源自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scire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知道），泛指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學問。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4-C6-B1">
            <a:extLst>
              <a:ext uri="{FF2B5EF4-FFF2-40B4-BE49-F238E27FC236}">
                <a16:creationId xmlns:a16="http://schemas.microsoft.com/office/drawing/2014/main" id="{438B0952-562C-7E55-2E42-8A9BE90FFBD5}"/>
              </a:ext>
            </a:extLst>
          </p:cNvPr>
          <p:cNvSpPr txBox="1"/>
          <p:nvPr/>
        </p:nvSpPr>
        <p:spPr>
          <a:xfrm>
            <a:off x="922020" y="366268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1833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英國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｜休厄爾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提出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Scientist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科學家）。名稱出現，不等於科學方法在這一年才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誕生。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4-C7-B1">
            <a:extLst>
              <a:ext uri="{FF2B5EF4-FFF2-40B4-BE49-F238E27FC236}">
                <a16:creationId xmlns:a16="http://schemas.microsoft.com/office/drawing/2014/main" id="{704A767A-21DB-02DF-18F1-3EAE6A3886E6}"/>
              </a:ext>
            </a:extLst>
          </p:cNvPr>
          <p:cNvSpPr txBox="1"/>
          <p:nvPr/>
        </p:nvSpPr>
        <p:spPr>
          <a:xfrm>
            <a:off x="922020" y="4622800"/>
            <a:ext cx="10226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1874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年前後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東亞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｜西周使用「科學」（分科之學）；梁啟超等人傳播此詞，五四時期倡「賽先生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0" y="1691640"/>
            <a:ext cx="3383280" cy="39319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CF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595959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1691640"/>
            <a:ext cx="338328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5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7" name="K-header-label">
            <a:extLst>
              <a:ext uri="{FF2B5EF4-FFF2-40B4-BE49-F238E27FC236}">
                <a16:creationId xmlns:a16="http://schemas.microsoft.com/office/drawing/2014/main" id="{F1A0DFE6-12C2-0ECB-512B-BFC057EE712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⚖ 第二站：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分界問題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19E34117-841C-5229-1D89-885461670E75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科學、非科學與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5-C4-B1">
            <a:extLst>
              <a:ext uri="{FF2B5EF4-FFF2-40B4-BE49-F238E27FC236}">
                <a16:creationId xmlns:a16="http://schemas.microsoft.com/office/drawing/2014/main" id="{4C4DD265-94AA-0252-8105-8F99EEC108DA}"/>
              </a:ext>
            </a:extLst>
          </p:cNvPr>
          <p:cNvSpPr txBox="1"/>
          <p:nvPr/>
        </p:nvSpPr>
        <p:spPr>
          <a:xfrm>
            <a:off x="833120" y="1793240"/>
            <a:ext cx="31800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科學（</a:t>
            </a:r>
            <a:r>
              <a:rPr lang="en-US" altLang="zh-TW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Science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5-C4-B2">
            <a:extLst>
              <a:ext uri="{FF2B5EF4-FFF2-40B4-BE49-F238E27FC236}">
                <a16:creationId xmlns:a16="http://schemas.microsoft.com/office/drawing/2014/main" id="{1920D72E-C950-A9D8-65B1-5C5C02F25468}"/>
              </a:ext>
            </a:extLst>
          </p:cNvPr>
          <p:cNvSpPr txBox="1"/>
          <p:nvPr/>
        </p:nvSpPr>
        <p:spPr>
          <a:xfrm>
            <a:off x="833120" y="2313940"/>
            <a:ext cx="318008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可證偽性</a:t>
            </a:r>
          </a:p>
          <a:p>
            <a:r>
              <a:rPr lang="en-US" altLang="zh-TW" sz="25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(Falsifiability)</a:t>
            </a:r>
            <a:endParaRPr lang="zh-TW" altLang="en-US" sz="25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5-C4-B3">
            <a:extLst>
              <a:ext uri="{FF2B5EF4-FFF2-40B4-BE49-F238E27FC236}">
                <a16:creationId xmlns:a16="http://schemas.microsoft.com/office/drawing/2014/main" id="{2D6DD72F-CC7A-9797-C96A-CB3D3EF1C42C}"/>
              </a:ext>
            </a:extLst>
          </p:cNvPr>
          <p:cNvSpPr txBox="1"/>
          <p:nvPr/>
        </p:nvSpPr>
        <p:spPr>
          <a:xfrm>
            <a:off x="833120" y="3152140"/>
            <a:ext cx="3180080" cy="2362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讓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主張承受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被反駁的風險。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相對論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預測日食時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光線偏折，可與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觀測結果比較。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接受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必要時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2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5-C5-B1">
            <a:extLst>
              <a:ext uri="{FF2B5EF4-FFF2-40B4-BE49-F238E27FC236}">
                <a16:creationId xmlns:a16="http://schemas.microsoft.com/office/drawing/2014/main" id="{B589C72C-B7C4-E888-B387-B5A244DBCADF}"/>
              </a:ext>
            </a:extLst>
          </p:cNvPr>
          <p:cNvSpPr txBox="1"/>
          <p:nvPr/>
        </p:nvSpPr>
        <p:spPr>
          <a:xfrm>
            <a:off x="4490720" y="1996440"/>
            <a:ext cx="318008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非科學（</a:t>
            </a:r>
            <a:r>
              <a:rPr lang="en-US" altLang="zh-TW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Non-science</a:t>
            </a:r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4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5-C5-B2">
            <a:extLst>
              <a:ext uri="{FF2B5EF4-FFF2-40B4-BE49-F238E27FC236}">
                <a16:creationId xmlns:a16="http://schemas.microsoft.com/office/drawing/2014/main" id="{5676123B-28ED-17B2-079B-46E6AEF1BC91}"/>
              </a:ext>
            </a:extLst>
          </p:cNvPr>
          <p:cNvSpPr txBox="1"/>
          <p:nvPr/>
        </p:nvSpPr>
        <p:spPr>
          <a:xfrm>
            <a:off x="4490720" y="2847340"/>
            <a:ext cx="31800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不以實驗判定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的問題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5-C5-B3">
            <a:extLst>
              <a:ext uri="{FF2B5EF4-FFF2-40B4-BE49-F238E27FC236}">
                <a16:creationId xmlns:a16="http://schemas.microsoft.com/office/drawing/2014/main" id="{C83AE179-105A-EF6C-A72B-F68122C2E352}"/>
              </a:ext>
            </a:extLst>
          </p:cNvPr>
          <p:cNvSpPr txBox="1"/>
          <p:nvPr/>
        </p:nvSpPr>
        <p:spPr>
          <a:xfrm>
            <a:off x="4490720" y="3291840"/>
            <a:ext cx="3180080" cy="203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文學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、藝術、哲學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與信仰，涉及價值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或意義。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這首詩美不美？」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無法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只靠實驗判定，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仍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有價值。</a:t>
            </a:r>
            <a:endParaRPr lang="zh-TW" altLang="en-US" sz="22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5-C6-B1">
            <a:extLst>
              <a:ext uri="{FF2B5EF4-FFF2-40B4-BE49-F238E27FC236}">
                <a16:creationId xmlns:a16="http://schemas.microsoft.com/office/drawing/2014/main" id="{6D3BD3DB-AEAF-E9A1-737A-9E87360904C1}"/>
              </a:ext>
            </a:extLst>
          </p:cNvPr>
          <p:cNvSpPr txBox="1"/>
          <p:nvPr/>
        </p:nvSpPr>
        <p:spPr>
          <a:xfrm>
            <a:off x="8148320" y="2136140"/>
            <a:ext cx="318008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偽科學（</a:t>
            </a:r>
            <a:r>
              <a:rPr lang="en-US" altLang="zh-TW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Pseudoscience</a:t>
            </a:r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6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5-C6-B2">
            <a:extLst>
              <a:ext uri="{FF2B5EF4-FFF2-40B4-BE49-F238E27FC236}">
                <a16:creationId xmlns:a16="http://schemas.microsoft.com/office/drawing/2014/main" id="{736E09F2-53D5-9D34-A1F3-0257F103A23A}"/>
              </a:ext>
            </a:extLst>
          </p:cNvPr>
          <p:cNvSpPr txBox="1"/>
          <p:nvPr/>
        </p:nvSpPr>
        <p:spPr>
          <a:xfrm>
            <a:off x="8148320" y="3050540"/>
            <a:ext cx="318008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自稱科學，卻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逃避證據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05-C6-B3">
            <a:extLst>
              <a:ext uri="{FF2B5EF4-FFF2-40B4-BE49-F238E27FC236}">
                <a16:creationId xmlns:a16="http://schemas.microsoft.com/office/drawing/2014/main" id="{D6F0204D-5CB2-4065-3B3C-22AD3559C4AD}"/>
              </a:ext>
            </a:extLst>
          </p:cNvPr>
          <p:cNvSpPr txBox="1"/>
          <p:nvPr/>
        </p:nvSpPr>
        <p:spPr>
          <a:xfrm>
            <a:off x="8148320" y="3495040"/>
            <a:ext cx="3180080" cy="168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難以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檢驗或無視反證。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算命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占星：準了稱神，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不準就推給水逆干擾。</a:t>
            </a:r>
          </a:p>
          <a:p>
            <a:r>
              <a:rPr lang="en-US" altLang="zh-TW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應</a:t>
            </a:r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查具體主張，</a:t>
            </a:r>
          </a:p>
          <a:p>
            <a:r>
              <a:rPr lang="zh-TW" altLang="en-US" sz="22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不靠單一條件</a:t>
            </a:r>
            <a:r>
              <a:rPr lang="zh-TW" altLang="en-US" sz="22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定性。</a:t>
            </a:r>
            <a:endParaRPr lang="zh-TW" altLang="en-US" sz="22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46888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343400"/>
            <a:ext cx="10607040" cy="12801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4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BCF95BFE-88D4-6ADB-E00A-876924F78A8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🦢 關鍵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思維實驗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F6CD629A-F62A-0E41-C629-C5F33E42D066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白天鵝再多，能證明所有天鵝皆白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嗎？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6-C4-B1">
            <a:extLst>
              <a:ext uri="{FF2B5EF4-FFF2-40B4-BE49-F238E27FC236}">
                <a16:creationId xmlns:a16="http://schemas.microsoft.com/office/drawing/2014/main" id="{987E62CC-9BCA-AC8D-A605-3AABCC5FEDDE}"/>
              </a:ext>
            </a:extLst>
          </p:cNvPr>
          <p:cNvSpPr txBox="1"/>
          <p:nvPr/>
        </p:nvSpPr>
        <p:spPr>
          <a:xfrm>
            <a:off x="871220" y="2021840"/>
            <a:ext cx="10327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觀察支持與反例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的差別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6-C4-B2">
            <a:extLst>
              <a:ext uri="{FF2B5EF4-FFF2-40B4-BE49-F238E27FC236}">
                <a16:creationId xmlns:a16="http://schemas.microsoft.com/office/drawing/2014/main" id="{AC8CB173-76C1-87D7-E535-54B3AF5031A0}"/>
              </a:ext>
            </a:extLst>
          </p:cNvPr>
          <p:cNvSpPr txBox="1"/>
          <p:nvPr/>
        </p:nvSpPr>
        <p:spPr>
          <a:xfrm>
            <a:off x="871220" y="2542540"/>
            <a:ext cx="10327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在歐洲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看見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1,000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、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10,000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，甚至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1,000,000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隻白天鵝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……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6-C4-B3">
            <a:extLst>
              <a:ext uri="{FF2B5EF4-FFF2-40B4-BE49-F238E27FC236}">
                <a16:creationId xmlns:a16="http://schemas.microsoft.com/office/drawing/2014/main" id="{DE620FB3-5EB9-6450-C717-197EB76DFBC2}"/>
              </a:ext>
            </a:extLst>
          </p:cNvPr>
          <p:cNvSpPr txBox="1"/>
          <p:nvPr/>
        </p:nvSpPr>
        <p:spPr>
          <a:xfrm>
            <a:off x="871220" y="2987040"/>
            <a:ext cx="10327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只能說目前所見皆白，不能保證其他地方沒有不同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顏色。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6-C4-B4">
            <a:extLst>
              <a:ext uri="{FF2B5EF4-FFF2-40B4-BE49-F238E27FC236}">
                <a16:creationId xmlns:a16="http://schemas.microsoft.com/office/drawing/2014/main" id="{DFEDEEEC-D1A6-214B-33DD-E89695DFDB68}"/>
              </a:ext>
            </a:extLst>
          </p:cNvPr>
          <p:cNvSpPr txBox="1"/>
          <p:nvPr/>
        </p:nvSpPr>
        <p:spPr>
          <a:xfrm>
            <a:off x="871220" y="3431540"/>
            <a:ext cx="103276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在澳洲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確認 </a:t>
            </a:r>
            <a:r>
              <a:rPr lang="en-US" altLang="zh-TW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隻</a:t>
            </a:r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黑天鵝，就足以反駁「所有天鵝皆白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」。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6-C5-B1">
            <a:extLst>
              <a:ext uri="{FF2B5EF4-FFF2-40B4-BE49-F238E27FC236}">
                <a16:creationId xmlns:a16="http://schemas.microsoft.com/office/drawing/2014/main" id="{0183EAAD-AD84-17A8-C046-F3581CC0BC62}"/>
              </a:ext>
            </a:extLst>
          </p:cNvPr>
          <p:cNvSpPr txBox="1"/>
          <p:nvPr/>
        </p:nvSpPr>
        <p:spPr>
          <a:xfrm>
            <a:off x="845820" y="4521200"/>
            <a:ext cx="10378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波普爾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的提醒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6-C5-B2">
            <a:extLst>
              <a:ext uri="{FF2B5EF4-FFF2-40B4-BE49-F238E27FC236}">
                <a16:creationId xmlns:a16="http://schemas.microsoft.com/office/drawing/2014/main" id="{583D192A-B6A9-E460-26F3-7144E9582E19}"/>
              </a:ext>
            </a:extLst>
          </p:cNvPr>
          <p:cNvSpPr txBox="1"/>
          <p:nvPr/>
        </p:nvSpPr>
        <p:spPr>
          <a:xfrm>
            <a:off x="845820" y="5041900"/>
            <a:ext cx="103784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5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科學理論接受持續檢驗；現有支持不等於永遠</a:t>
            </a:r>
            <a:r>
              <a:rPr lang="zh-TW" altLang="en-US" sz="25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正確。</a:t>
            </a:r>
            <a:endParaRPr lang="zh-TW" altLang="en-US" sz="25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24256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 lang="zh-TW" altLang="en-US" dirty="0">
              <a:solidFill>
                <a:srgbClr val="FFF2CC"/>
              </a:solidFill>
            </a:endParaRPr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3C9D0F11-EAED-8715-AA6A-768B50879B5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✈ 第三站：費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曼照妖鏡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46F6BE83-9F80-0102-3AFD-1082D4D1C0F5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 </a:t>
            </a:r>
            <a:r>
              <a:rPr lang="en-US" altLang="zh-TW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1974 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演說：貨物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崇拜科學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7-C4-B1">
            <a:extLst>
              <a:ext uri="{FF2B5EF4-FFF2-40B4-BE49-F238E27FC236}">
                <a16:creationId xmlns:a16="http://schemas.microsoft.com/office/drawing/2014/main" id="{EC334D57-09C0-96DD-3E8D-48A07C9A9965}"/>
              </a:ext>
            </a:extLst>
          </p:cNvPr>
          <p:cNvSpPr txBox="1"/>
          <p:nvPr/>
        </p:nvSpPr>
        <p:spPr>
          <a:xfrm>
            <a:off x="909320" y="2021840"/>
            <a:ext cx="47650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南太平洋的比喻故事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7-C4-B2">
            <a:extLst>
              <a:ext uri="{FF2B5EF4-FFF2-40B4-BE49-F238E27FC236}">
                <a16:creationId xmlns:a16="http://schemas.microsoft.com/office/drawing/2014/main" id="{933E908D-E114-4E58-7DEA-7182EA662A31}"/>
              </a:ext>
            </a:extLst>
          </p:cNvPr>
          <p:cNvSpPr txBox="1"/>
          <p:nvPr/>
        </p:nvSpPr>
        <p:spPr>
          <a:xfrm>
            <a:off x="909320" y="2542540"/>
            <a:ext cx="4765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二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戰時期，美軍帶來物資。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戰後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美軍離開，補給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中斷。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7-C4-B3">
            <a:extLst>
              <a:ext uri="{FF2B5EF4-FFF2-40B4-BE49-F238E27FC236}">
                <a16:creationId xmlns:a16="http://schemas.microsoft.com/office/drawing/2014/main" id="{25D59C6D-9F00-E8F5-0074-50045DED11F6}"/>
              </a:ext>
            </a:extLst>
          </p:cNvPr>
          <p:cNvSpPr txBox="1"/>
          <p:nvPr/>
        </p:nvSpPr>
        <p:spPr>
          <a:xfrm>
            <a:off x="909320" y="3355340"/>
            <a:ext cx="47650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以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泥土開跑道、生篝火，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造竹子塔台、戴木製耳機。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虔誠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祈禱，盼飛機再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降落。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7-C4-B4">
            <a:extLst>
              <a:ext uri="{FF2B5EF4-FFF2-40B4-BE49-F238E27FC236}">
                <a16:creationId xmlns:a16="http://schemas.microsoft.com/office/drawing/2014/main" id="{7A5B1659-6B78-D694-6BC3-A6C47B06D830}"/>
              </a:ext>
            </a:extLst>
          </p:cNvPr>
          <p:cNvSpPr txBox="1"/>
          <p:nvPr/>
        </p:nvSpPr>
        <p:spPr>
          <a:xfrm>
            <a:off x="909320" y="4536440"/>
            <a:ext cx="47650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依費曼的敘述：外形齊備，飛機卻沒有</a:t>
            </a:r>
            <a:r>
              <a:rPr lang="zh-TW" altLang="en-US" sz="24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降落。</a:t>
            </a:r>
            <a:endParaRPr lang="zh-TW" altLang="en-US" sz="24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7-C5-B1">
            <a:extLst>
              <a:ext uri="{FF2B5EF4-FFF2-40B4-BE49-F238E27FC236}">
                <a16:creationId xmlns:a16="http://schemas.microsoft.com/office/drawing/2014/main" id="{7F3B1A85-FDEE-AFF2-6D8B-D84374959E39}"/>
              </a:ext>
            </a:extLst>
          </p:cNvPr>
          <p:cNvSpPr txBox="1"/>
          <p:nvPr/>
        </p:nvSpPr>
        <p:spPr>
          <a:xfrm>
            <a:off x="6395720" y="2021840"/>
            <a:ext cx="488696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費曼對研究</a:t>
            </a:r>
            <a:r>
              <a:rPr lang="zh-TW" altLang="en-US" sz="26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的提醒</a:t>
            </a:r>
            <a:endParaRPr lang="zh-TW" altLang="en-US" sz="26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7-C5-B2">
            <a:extLst>
              <a:ext uri="{FF2B5EF4-FFF2-40B4-BE49-F238E27FC236}">
                <a16:creationId xmlns:a16="http://schemas.microsoft.com/office/drawing/2014/main" id="{D4044360-6DFB-834E-67E0-29BC25915E30}"/>
              </a:ext>
            </a:extLst>
          </p:cNvPr>
          <p:cNvSpPr txBox="1"/>
          <p:nvPr/>
        </p:nvSpPr>
        <p:spPr>
          <a:xfrm>
            <a:off x="6395720" y="2542540"/>
            <a:ext cx="488696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實驗報告也可能像木頭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耳機：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7-C5-B3">
            <a:extLst>
              <a:ext uri="{FF2B5EF4-FFF2-40B4-BE49-F238E27FC236}">
                <a16:creationId xmlns:a16="http://schemas.microsoft.com/office/drawing/2014/main" id="{38E62268-1933-CD00-8D58-A53D1B4EEAFF}"/>
              </a:ext>
            </a:extLst>
          </p:cNvPr>
          <p:cNvSpPr txBox="1"/>
          <p:nvPr/>
        </p:nvSpPr>
        <p:spPr>
          <a:xfrm>
            <a:off x="6395720" y="2987040"/>
            <a:ext cx="488696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步驟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完整，統計圖表漂亮。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引用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權威論文與專有名詞。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外在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形式看起來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無懈可擊。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07-C5-B4">
            <a:extLst>
              <a:ext uri="{FF2B5EF4-FFF2-40B4-BE49-F238E27FC236}">
                <a16:creationId xmlns:a16="http://schemas.microsoft.com/office/drawing/2014/main" id="{DD71840D-2C05-51AA-BA1F-DF37BF2BA0AC}"/>
              </a:ext>
            </a:extLst>
          </p:cNvPr>
          <p:cNvSpPr txBox="1"/>
          <p:nvPr/>
        </p:nvSpPr>
        <p:spPr>
          <a:xfrm>
            <a:off x="6395720" y="4168140"/>
            <a:ext cx="488696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卻未完整交代反例、</a:t>
            </a:r>
          </a:p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其他解釋與限制，</a:t>
            </a:r>
          </a:p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缺少科學</a:t>
            </a:r>
            <a:r>
              <a:rPr lang="zh-TW" altLang="en-US" sz="24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誠實。</a:t>
            </a:r>
            <a:endParaRPr lang="zh-TW" altLang="en-US" sz="24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25603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000"/>
              </a:spcAft>
              <a:defRPr sz="26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4434840"/>
            <a:ext cx="10607040" cy="123444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400"/>
              </a:spcAft>
              <a:defRPr sz="23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D6920049-7405-1C6B-E554-C2B3C3781680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📉 科學史中的權威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偏誤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396BB4A7-0116-4128-F665-861391972AF7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密立根油滴實驗：大科學家也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可能自欺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08-C4-B1">
            <a:extLst>
              <a:ext uri="{FF2B5EF4-FFF2-40B4-BE49-F238E27FC236}">
                <a16:creationId xmlns:a16="http://schemas.microsoft.com/office/drawing/2014/main" id="{EE57B3E9-D9EB-B7DE-E6E0-2F26C9CBA7C6}"/>
              </a:ext>
            </a:extLst>
          </p:cNvPr>
          <p:cNvSpPr txBox="1"/>
          <p:nvPr/>
        </p:nvSpPr>
        <p:spPr>
          <a:xfrm>
            <a:off x="807720" y="1945640"/>
            <a:ext cx="104546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電子電荷的測量值為何逐步上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移？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8-C4-B2">
            <a:extLst>
              <a:ext uri="{FF2B5EF4-FFF2-40B4-BE49-F238E27FC236}">
                <a16:creationId xmlns:a16="http://schemas.microsoft.com/office/drawing/2014/main" id="{173A7584-9731-7395-664A-9E3C2D6AC64A}"/>
              </a:ext>
            </a:extLst>
          </p:cNvPr>
          <p:cNvSpPr txBox="1"/>
          <p:nvPr/>
        </p:nvSpPr>
        <p:spPr>
          <a:xfrm>
            <a:off x="807720" y="23901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密立根以油滴測電子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電荷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；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空氣黏滯係數取值有誤，結果偏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小。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8-C4-B3">
            <a:extLst>
              <a:ext uri="{FF2B5EF4-FFF2-40B4-BE49-F238E27FC236}">
                <a16:creationId xmlns:a16="http://schemas.microsoft.com/office/drawing/2014/main" id="{24189752-B047-1C38-4125-C10DB281DB98}"/>
              </a:ext>
            </a:extLst>
          </p:cNvPr>
          <p:cNvSpPr txBox="1"/>
          <p:nvPr/>
        </p:nvSpPr>
        <p:spPr>
          <a:xfrm>
            <a:off x="807720" y="27965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偏高的結果：更積極找問題，排除偏離原值的</a:t>
            </a:r>
            <a:r>
              <a:rPr lang="zh-TW" altLang="en-US" sz="240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數據。</a:t>
            </a:r>
            <a:endParaRPr lang="zh-TW" altLang="en-US" sz="2400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8-C4-B4">
            <a:extLst>
              <a:ext uri="{FF2B5EF4-FFF2-40B4-BE49-F238E27FC236}">
                <a16:creationId xmlns:a16="http://schemas.microsoft.com/office/drawing/2014/main" id="{1FCCBF5E-3E78-C75D-7750-55DD4397EE06}"/>
              </a:ext>
            </a:extLst>
          </p:cNvPr>
          <p:cNvSpPr txBox="1"/>
          <p:nvPr/>
        </p:nvSpPr>
        <p:spPr>
          <a:xfrm>
            <a:off x="807720" y="32029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接近的結果：較少繼續查錯，更容易接受並</a:t>
            </a:r>
            <a:r>
              <a:rPr lang="zh-TW" altLang="en-US" sz="240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發表。</a:t>
            </a:r>
            <a:endParaRPr lang="zh-TW" altLang="en-US" sz="2400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8-C4-B5">
            <a:extLst>
              <a:ext uri="{FF2B5EF4-FFF2-40B4-BE49-F238E27FC236}">
                <a16:creationId xmlns:a16="http://schemas.microsoft.com/office/drawing/2014/main" id="{2439A5E7-EB17-1CA4-73C8-DFFB4D7DF426}"/>
              </a:ext>
            </a:extLst>
          </p:cNvPr>
          <p:cNvSpPr txBox="1"/>
          <p:nvPr/>
        </p:nvSpPr>
        <p:spPr>
          <a:xfrm>
            <a:off x="807720" y="3609340"/>
            <a:ext cx="104546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結果逐步上移。（原稿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稱「</a:t>
            </a:r>
            <a:r>
              <a:rPr lang="en-US" altLang="zh-TW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25 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」，年數尚待查證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。）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8-C5-B1">
            <a:extLst>
              <a:ext uri="{FF2B5EF4-FFF2-40B4-BE49-F238E27FC236}">
                <a16:creationId xmlns:a16="http://schemas.microsoft.com/office/drawing/2014/main" id="{F975AA38-F62B-A94F-942A-479948E36A24}"/>
              </a:ext>
            </a:extLst>
          </p:cNvPr>
          <p:cNvSpPr txBox="1"/>
          <p:nvPr/>
        </p:nvSpPr>
        <p:spPr>
          <a:xfrm>
            <a:off x="833120" y="4599940"/>
            <a:ext cx="1040384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費曼第一原則（</a:t>
            </a:r>
            <a:r>
              <a:rPr lang="en-US" altLang="zh-TW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Feynman's First Principle</a:t>
            </a:r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）</a:t>
            </a:r>
            <a:endParaRPr lang="zh-TW" altLang="en-US" sz="25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8-C5-B2">
            <a:extLst>
              <a:ext uri="{FF2B5EF4-FFF2-40B4-BE49-F238E27FC236}">
                <a16:creationId xmlns:a16="http://schemas.microsoft.com/office/drawing/2014/main" id="{99C4A9E2-8387-A65B-2F62-EBC804716A6E}"/>
              </a:ext>
            </a:extLst>
          </p:cNvPr>
          <p:cNvSpPr txBox="1"/>
          <p:nvPr/>
        </p:nvSpPr>
        <p:spPr>
          <a:xfrm>
            <a:off x="833120" y="5095240"/>
            <a:ext cx="104038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「你不可欺騙自己，而你自己正是最容易被欺騙的人</a:t>
            </a:r>
            <a:r>
              <a:rPr lang="zh-TW" altLang="en-US" sz="2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。」</a:t>
            </a:r>
            <a:endParaRPr lang="zh-TW" altLang="en-US" sz="2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600" b="1">
                <a:solidFill>
                  <a:srgbClr val="1E7E3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C7672889-FADC-AFC8-3257-2BDF54D6A6EA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🎯 探究現場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自檢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-header-title">
            <a:extLst>
              <a:ext uri="{FF2B5EF4-FFF2-40B4-BE49-F238E27FC236}">
                <a16:creationId xmlns:a16="http://schemas.microsoft.com/office/drawing/2014/main" id="{4A8623B8-C1FF-7FEA-3959-13F0A59AADFD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面對不合預期的數據，我們怎麼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做？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09-C4-B1">
            <a:extLst>
              <a:ext uri="{FF2B5EF4-FFF2-40B4-BE49-F238E27FC236}">
                <a16:creationId xmlns:a16="http://schemas.microsoft.com/office/drawing/2014/main" id="{2A59A08C-66D9-E3DB-5EA2-377362D9453F}"/>
              </a:ext>
            </a:extLst>
          </p:cNvPr>
          <p:cNvSpPr txBox="1"/>
          <p:nvPr/>
        </p:nvSpPr>
        <p:spPr>
          <a:xfrm>
            <a:off x="833120" y="2288540"/>
            <a:ext cx="4917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貨物崇拜式的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研究作風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09-C4-B2">
            <a:extLst>
              <a:ext uri="{FF2B5EF4-FFF2-40B4-BE49-F238E27FC236}">
                <a16:creationId xmlns:a16="http://schemas.microsoft.com/office/drawing/2014/main" id="{133A39AF-4955-85B2-1930-7F27BEB47306}"/>
              </a:ext>
            </a:extLst>
          </p:cNvPr>
          <p:cNvSpPr txBox="1"/>
          <p:nvPr/>
        </p:nvSpPr>
        <p:spPr>
          <a:xfrm>
            <a:off x="833120" y="2809240"/>
            <a:ext cx="4917440" cy="2209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偷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刪離群值：只因數據不漂亮。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射箭再畫靶：硬湊課本結論。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隱匿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失敗：只報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成功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，省略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失敗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8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。</a:t>
            </a:r>
          </a:p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只顧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排版：圖表漂亮，卻沒解釋資料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意義。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09-C5-B1">
            <a:extLst>
              <a:ext uri="{FF2B5EF4-FFF2-40B4-BE49-F238E27FC236}">
                <a16:creationId xmlns:a16="http://schemas.microsoft.com/office/drawing/2014/main" id="{AECDEBE5-ABE1-FA1A-0CD2-CFC7E1B71840}"/>
              </a:ext>
            </a:extLst>
          </p:cNvPr>
          <p:cNvSpPr txBox="1"/>
          <p:nvPr/>
        </p:nvSpPr>
        <p:spPr>
          <a:xfrm>
            <a:off x="6319520" y="1805940"/>
            <a:ext cx="49174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誠實的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探究作法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09-C5-B2">
            <a:extLst>
              <a:ext uri="{FF2B5EF4-FFF2-40B4-BE49-F238E27FC236}">
                <a16:creationId xmlns:a16="http://schemas.microsoft.com/office/drawing/2014/main" id="{7F04B6A1-DA47-9B0F-9B71-2AEA75B746BA}"/>
              </a:ext>
            </a:extLst>
          </p:cNvPr>
          <p:cNvSpPr txBox="1"/>
          <p:nvPr/>
        </p:nvSpPr>
        <p:spPr>
          <a:xfrm>
            <a:off x="6319520" y="23266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保留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原始資料，查核異常及未控制的變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因。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09-C5-B3">
            <a:extLst>
              <a:ext uri="{FF2B5EF4-FFF2-40B4-BE49-F238E27FC236}">
                <a16:creationId xmlns:a16="http://schemas.microsoft.com/office/drawing/2014/main" id="{E0EF35B2-F6E3-E458-116C-8319424E662A}"/>
              </a:ext>
            </a:extLst>
          </p:cNvPr>
          <p:cNvSpPr txBox="1"/>
          <p:nvPr/>
        </p:nvSpPr>
        <p:spPr>
          <a:xfrm>
            <a:off x="6319520" y="31394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說明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不支持假說的結果，也留下有用的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線索。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09-C5-B4">
            <a:extLst>
              <a:ext uri="{FF2B5EF4-FFF2-40B4-BE49-F238E27FC236}">
                <a16:creationId xmlns:a16="http://schemas.microsoft.com/office/drawing/2014/main" id="{81148AF7-6A88-01E1-DA9A-1BF72531207C}"/>
              </a:ext>
            </a:extLst>
          </p:cNvPr>
          <p:cNvSpPr txBox="1"/>
          <p:nvPr/>
        </p:nvSpPr>
        <p:spPr>
          <a:xfrm>
            <a:off x="6319520" y="39522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公開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儀器誤差、研究限制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與資料處理的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依據。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09-C5-B5">
            <a:extLst>
              <a:ext uri="{FF2B5EF4-FFF2-40B4-BE49-F238E27FC236}">
                <a16:creationId xmlns:a16="http://schemas.microsoft.com/office/drawing/2014/main" id="{11A31FA4-63E8-AB01-6DE5-A5D3E04E9D39}"/>
              </a:ext>
            </a:extLst>
          </p:cNvPr>
          <p:cNvSpPr txBox="1"/>
          <p:nvPr/>
        </p:nvSpPr>
        <p:spPr>
          <a:xfrm>
            <a:off x="6319520" y="4765040"/>
            <a:ext cx="49174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•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交代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真實資料及其瑕疵，讓別人能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2011680" cy="39319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F28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C5221F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9504" y="1691640"/>
            <a:ext cx="2011680" cy="393192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EA4335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47488" y="1691640"/>
            <a:ext cx="2011680" cy="393192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F6BF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E37400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7205472" y="1691640"/>
            <a:ext cx="2011680" cy="3931920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C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63456" y="1691640"/>
            <a:ext cx="2011680" cy="3931920"/>
          </a:xfrm>
          <a:prstGeom prst="roundRect">
            <a:avLst/>
          </a:prstGeom>
          <a:solidFill>
            <a:srgbClr val="E1EFD8"/>
          </a:solidFill>
          <a:ln w="15240">
            <a:solidFill>
              <a:srgbClr val="99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E7E34"/>
                </a:solidFill>
                <a:latin typeface="Microsoft JhengHei"/>
              </a:defRPr>
            </a:pPr>
            <a:endParaRPr dirty="0"/>
          </a:p>
        </p:txBody>
      </p:sp>
      <p:sp>
        <p:nvSpPr>
          <p:cNvPr id="9" name="K-header-label">
            <a:extLst>
              <a:ext uri="{FF2B5EF4-FFF2-40B4-BE49-F238E27FC236}">
                <a16:creationId xmlns:a16="http://schemas.microsoft.com/office/drawing/2014/main" id="{979C2AFF-9591-652D-1E41-4BFC51D4EB17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🌈 第四站：科學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相關詞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-header-title">
            <a:extLst>
              <a:ext uri="{FF2B5EF4-FFF2-40B4-BE49-F238E27FC236}">
                <a16:creationId xmlns:a16="http://schemas.microsoft.com/office/drawing/2014/main" id="{5BD4930E-59D3-229C-7E2A-037178AE05EA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五個相關詞，描述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不同面向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0-C4-B1">
            <a:extLst>
              <a:ext uri="{FF2B5EF4-FFF2-40B4-BE49-F238E27FC236}">
                <a16:creationId xmlns:a16="http://schemas.microsoft.com/office/drawing/2014/main" id="{BD36DCD0-82D3-A25F-D624-C0C9F1D444CA}"/>
              </a:ext>
            </a:extLst>
          </p:cNvPr>
          <p:cNvSpPr txBox="1"/>
          <p:nvPr/>
        </p:nvSpPr>
        <p:spPr>
          <a:xfrm>
            <a:off x="858520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反科學</a:t>
            </a:r>
            <a:endParaRPr lang="zh-TW" altLang="en-US" sz="2500" b="1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0-C4-B2">
            <a:extLst>
              <a:ext uri="{FF2B5EF4-FFF2-40B4-BE49-F238E27FC236}">
                <a16:creationId xmlns:a16="http://schemas.microsoft.com/office/drawing/2014/main" id="{5024A8A6-3A19-7BE7-A603-04EA4E5543A5}"/>
              </a:ext>
            </a:extLst>
          </p:cNvPr>
          <p:cNvSpPr txBox="1"/>
          <p:nvPr/>
        </p:nvSpPr>
        <p:spPr>
          <a:xfrm>
            <a:off x="858520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CC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Anti-science</a:t>
            </a:r>
            <a:endParaRPr lang="zh-TW" altLang="en-US" sz="1600" dirty="0">
              <a:solidFill>
                <a:srgbClr val="CC00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0-C4-B3">
            <a:extLst>
              <a:ext uri="{FF2B5EF4-FFF2-40B4-BE49-F238E27FC236}">
                <a16:creationId xmlns:a16="http://schemas.microsoft.com/office/drawing/2014/main" id="{3BBF00F0-2B64-2D41-DD50-04689DB11455}"/>
              </a:ext>
            </a:extLst>
          </p:cNvPr>
          <p:cNvSpPr txBox="1"/>
          <p:nvPr/>
        </p:nvSpPr>
        <p:spPr>
          <a:xfrm>
            <a:off x="858520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拒斥科學方法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或證據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0-C4-B4">
            <a:extLst>
              <a:ext uri="{FF2B5EF4-FFF2-40B4-BE49-F238E27FC236}">
                <a16:creationId xmlns:a16="http://schemas.microsoft.com/office/drawing/2014/main" id="{1E248468-8A05-92F9-9E2D-2A453419BAAF}"/>
              </a:ext>
            </a:extLst>
          </p:cNvPr>
          <p:cNvSpPr txBox="1"/>
          <p:nvPr/>
        </p:nvSpPr>
        <p:spPr>
          <a:xfrm>
            <a:off x="858520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如地平說、反疫苗運動。受意識形態或利益影響，拒絕檢驗與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對話。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0-C5-B1">
            <a:extLst>
              <a:ext uri="{FF2B5EF4-FFF2-40B4-BE49-F238E27FC236}">
                <a16:creationId xmlns:a16="http://schemas.microsoft.com/office/drawing/2014/main" id="{9E9A9C08-63B0-3104-AE9F-25FF18F8A598}"/>
              </a:ext>
            </a:extLst>
          </p:cNvPr>
          <p:cNvSpPr txBox="1"/>
          <p:nvPr/>
        </p:nvSpPr>
        <p:spPr>
          <a:xfrm>
            <a:off x="3016504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FF33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</a:t>
            </a:r>
            <a:endParaRPr lang="zh-TW" altLang="en-US" sz="2500" b="1" dirty="0">
              <a:solidFill>
                <a:srgbClr val="FF33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10-C5-B2">
            <a:extLst>
              <a:ext uri="{FF2B5EF4-FFF2-40B4-BE49-F238E27FC236}">
                <a16:creationId xmlns:a16="http://schemas.microsoft.com/office/drawing/2014/main" id="{C53F6CEC-B046-E984-78D2-5C7E141911DF}"/>
              </a:ext>
            </a:extLst>
          </p:cNvPr>
          <p:cNvSpPr txBox="1"/>
          <p:nvPr/>
        </p:nvSpPr>
        <p:spPr>
          <a:xfrm>
            <a:off x="3016504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FF33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Pseudoscience</a:t>
            </a:r>
            <a:endParaRPr lang="zh-TW" altLang="en-US" sz="1600" dirty="0">
              <a:solidFill>
                <a:srgbClr val="FF33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10-C5-B3">
            <a:extLst>
              <a:ext uri="{FF2B5EF4-FFF2-40B4-BE49-F238E27FC236}">
                <a16:creationId xmlns:a16="http://schemas.microsoft.com/office/drawing/2014/main" id="{602FA971-7D61-C9C7-EAEA-DBCDB4FAC2C9}"/>
              </a:ext>
            </a:extLst>
          </p:cNvPr>
          <p:cNvSpPr txBox="1"/>
          <p:nvPr/>
        </p:nvSpPr>
        <p:spPr>
          <a:xfrm>
            <a:off x="3016504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科學包裝，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逃避反證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8" name="K10-C5-B4">
            <a:extLst>
              <a:ext uri="{FF2B5EF4-FFF2-40B4-BE49-F238E27FC236}">
                <a16:creationId xmlns:a16="http://schemas.microsoft.com/office/drawing/2014/main" id="{A69CF1DE-6988-339B-0F61-9E2F04D4880C}"/>
              </a:ext>
            </a:extLst>
          </p:cNvPr>
          <p:cNvSpPr txBox="1"/>
          <p:nvPr/>
        </p:nvSpPr>
        <p:spPr>
          <a:xfrm>
            <a:off x="3016504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如量子手環、占星。使用難檢驗的說法，或遇反證仍不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9" name="K10-C6-B1">
            <a:extLst>
              <a:ext uri="{FF2B5EF4-FFF2-40B4-BE49-F238E27FC236}">
                <a16:creationId xmlns:a16="http://schemas.microsoft.com/office/drawing/2014/main" id="{6A1E6ED5-946F-EBDE-7E0D-5E9ADF5F6D0B}"/>
              </a:ext>
            </a:extLst>
          </p:cNvPr>
          <p:cNvSpPr txBox="1"/>
          <p:nvPr/>
        </p:nvSpPr>
        <p:spPr>
          <a:xfrm>
            <a:off x="5174488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</a:t>
            </a:r>
            <a:endParaRPr lang="zh-TW" altLang="en-US" sz="2500" b="1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0" name="K10-C6-B2">
            <a:extLst>
              <a:ext uri="{FF2B5EF4-FFF2-40B4-BE49-F238E27FC236}">
                <a16:creationId xmlns:a16="http://schemas.microsoft.com/office/drawing/2014/main" id="{4AE97517-19DB-492E-91FD-8D64008232D6}"/>
              </a:ext>
            </a:extLst>
          </p:cNvPr>
          <p:cNvSpPr txBox="1"/>
          <p:nvPr/>
        </p:nvSpPr>
        <p:spPr>
          <a:xfrm>
            <a:off x="5174488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Cargo Cult</a:t>
            </a:r>
            <a:endParaRPr lang="zh-TW" altLang="en-US" sz="1600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K10-C6-B3">
            <a:extLst>
              <a:ext uri="{FF2B5EF4-FFF2-40B4-BE49-F238E27FC236}">
                <a16:creationId xmlns:a16="http://schemas.microsoft.com/office/drawing/2014/main" id="{AD7F0B51-988F-2EB2-6503-A4B95155D43E}"/>
              </a:ext>
            </a:extLst>
          </p:cNvPr>
          <p:cNvSpPr txBox="1"/>
          <p:nvPr/>
        </p:nvSpPr>
        <p:spPr>
          <a:xfrm>
            <a:off x="5174488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外殼完整，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誠實不足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2" name="K10-C6-B4">
            <a:extLst>
              <a:ext uri="{FF2B5EF4-FFF2-40B4-BE49-F238E27FC236}">
                <a16:creationId xmlns:a16="http://schemas.microsoft.com/office/drawing/2014/main" id="{37ADFF22-4228-C097-D653-99A9E8010EB8}"/>
              </a:ext>
            </a:extLst>
          </p:cNvPr>
          <p:cNvSpPr txBox="1"/>
          <p:nvPr/>
        </p:nvSpPr>
        <p:spPr>
          <a:xfrm>
            <a:off x="5174488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如偷改數據、先射箭再畫靶。形式到位，卻不交代不利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證據。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K10-C7-B1">
            <a:extLst>
              <a:ext uri="{FF2B5EF4-FFF2-40B4-BE49-F238E27FC236}">
                <a16:creationId xmlns:a16="http://schemas.microsoft.com/office/drawing/2014/main" id="{CF466870-6E03-5244-C0AE-4961193F8BF7}"/>
              </a:ext>
            </a:extLst>
          </p:cNvPr>
          <p:cNvSpPr txBox="1"/>
          <p:nvPr/>
        </p:nvSpPr>
        <p:spPr>
          <a:xfrm>
            <a:off x="7332472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邊緣科學</a:t>
            </a:r>
            <a:endParaRPr lang="zh-TW" altLang="en-US" sz="25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4" name="K10-C7-B2">
            <a:extLst>
              <a:ext uri="{FF2B5EF4-FFF2-40B4-BE49-F238E27FC236}">
                <a16:creationId xmlns:a16="http://schemas.microsoft.com/office/drawing/2014/main" id="{1DAB0462-BC5C-385A-2A9C-C0F7EE1493FF}"/>
              </a:ext>
            </a:extLst>
          </p:cNvPr>
          <p:cNvSpPr txBox="1"/>
          <p:nvPr/>
        </p:nvSpPr>
        <p:spPr>
          <a:xfrm>
            <a:off x="7332472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Fringe science</a:t>
            </a:r>
            <a:endParaRPr lang="zh-TW" altLang="en-US" sz="1600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5" name="K10-C7-B3">
            <a:extLst>
              <a:ext uri="{FF2B5EF4-FFF2-40B4-BE49-F238E27FC236}">
                <a16:creationId xmlns:a16="http://schemas.microsoft.com/office/drawing/2014/main" id="{A6D2D197-3BA7-4D40-254A-199D87C4C883}"/>
              </a:ext>
            </a:extLst>
          </p:cNvPr>
          <p:cNvSpPr txBox="1"/>
          <p:nvPr/>
        </p:nvSpPr>
        <p:spPr>
          <a:xfrm>
            <a:off x="7332472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非主流，仍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須檢驗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" name="K10-C7-B4">
            <a:extLst>
              <a:ext uri="{FF2B5EF4-FFF2-40B4-BE49-F238E27FC236}">
                <a16:creationId xmlns:a16="http://schemas.microsoft.com/office/drawing/2014/main" id="{DAD70596-D54B-2D05-6E23-1849599C89CC}"/>
              </a:ext>
            </a:extLst>
          </p:cNvPr>
          <p:cNvSpPr txBox="1"/>
          <p:nvPr/>
        </p:nvSpPr>
        <p:spPr>
          <a:xfrm>
            <a:off x="7332472" y="3380740"/>
            <a:ext cx="1757680" cy="184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如魏格納的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大陸漂移說。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新想法可能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遭到質疑，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仍須依證據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檢驗與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7" name="K10-C8-B1">
            <a:extLst>
              <a:ext uri="{FF2B5EF4-FFF2-40B4-BE49-F238E27FC236}">
                <a16:creationId xmlns:a16="http://schemas.microsoft.com/office/drawing/2014/main" id="{0B6DC557-F359-E4AA-FB93-9A897C234BCD}"/>
              </a:ext>
            </a:extLst>
          </p:cNvPr>
          <p:cNvSpPr txBox="1"/>
          <p:nvPr/>
        </p:nvSpPr>
        <p:spPr>
          <a:xfrm>
            <a:off x="9490456" y="1882140"/>
            <a:ext cx="1757680" cy="39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5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正統科學</a:t>
            </a:r>
            <a:endParaRPr lang="zh-TW" altLang="en-US" sz="25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8" name="K10-C8-B2">
            <a:extLst>
              <a:ext uri="{FF2B5EF4-FFF2-40B4-BE49-F238E27FC236}">
                <a16:creationId xmlns:a16="http://schemas.microsoft.com/office/drawing/2014/main" id="{C3AE39EF-D27C-F22B-604E-B5DCE7FA8510}"/>
              </a:ext>
            </a:extLst>
          </p:cNvPr>
          <p:cNvSpPr txBox="1"/>
          <p:nvPr/>
        </p:nvSpPr>
        <p:spPr>
          <a:xfrm>
            <a:off x="9490456" y="2326640"/>
            <a:ext cx="17576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TW" sz="160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Orthodox science</a:t>
            </a:r>
            <a:endParaRPr lang="zh-TW" altLang="en-US" sz="1600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9" name="K10-C8-B3">
            <a:extLst>
              <a:ext uri="{FF2B5EF4-FFF2-40B4-BE49-F238E27FC236}">
                <a16:creationId xmlns:a16="http://schemas.microsoft.com/office/drawing/2014/main" id="{4E7DB70C-D41A-70C7-4A4A-5B1522BDC0F1}"/>
              </a:ext>
            </a:extLst>
          </p:cNvPr>
          <p:cNvSpPr txBox="1"/>
          <p:nvPr/>
        </p:nvSpPr>
        <p:spPr>
          <a:xfrm>
            <a:off x="9490456" y="2644140"/>
            <a:ext cx="175768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2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可檢驗，能</a:t>
            </a:r>
            <a:r>
              <a:rPr lang="zh-TW" altLang="en-US" sz="22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重複查核</a:t>
            </a:r>
            <a:endParaRPr lang="zh-TW" altLang="en-US" sz="22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0" name="K10-C8-B4">
            <a:extLst>
              <a:ext uri="{FF2B5EF4-FFF2-40B4-BE49-F238E27FC236}">
                <a16:creationId xmlns:a16="http://schemas.microsoft.com/office/drawing/2014/main" id="{EA980FF9-21EE-01B8-9DE0-B206046B6145}"/>
              </a:ext>
            </a:extLst>
          </p:cNvPr>
          <p:cNvSpPr txBox="1"/>
          <p:nvPr/>
        </p:nvSpPr>
        <p:spPr>
          <a:xfrm>
            <a:off x="9490456" y="3380740"/>
            <a:ext cx="1757680" cy="153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如量子力學、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相對論。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接受新資料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與新的測試，</a:t>
            </a:r>
          </a:p>
          <a:p>
            <a:r>
              <a:rPr lang="zh-TW" altLang="en-US" sz="20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必要時</a:t>
            </a:r>
            <a:r>
              <a:rPr lang="zh-TW" altLang="en-US" sz="20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修正。</a:t>
            </a:r>
            <a:endParaRPr lang="zh-TW" altLang="en-US" sz="20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A4335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07040" cy="84124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EA4335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07040" cy="841248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37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E37400"/>
              </a:solidFill>
              <a:latin typeface="Microsoft JhengHe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611880"/>
            <a:ext cx="10607040" cy="841248"/>
          </a:xfrm>
          <a:prstGeom prst="roundRect">
            <a:avLst/>
          </a:prstGeom>
          <a:solidFill>
            <a:srgbClr val="E0EFF6"/>
          </a:solidFill>
          <a:ln w="1524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1155CC"/>
              </a:solidFill>
              <a:latin typeface="Microsoft JhengHe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07040" cy="841248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defRPr sz="2100" b="0">
                <a:solidFill>
                  <a:srgbClr val="212121"/>
                </a:solidFill>
                <a:latin typeface="Microsoft JhengHei"/>
              </a:defRPr>
            </a:pPr>
            <a:endParaRPr sz="2200" b="1">
              <a:solidFill>
                <a:srgbClr val="595959"/>
              </a:solidFill>
              <a:latin typeface="Microsoft JhengHei"/>
            </a:endParaRPr>
          </a:p>
        </p:txBody>
      </p:sp>
      <p:sp>
        <p:nvSpPr>
          <p:cNvPr id="8" name="K-header-label">
            <a:extLst>
              <a:ext uri="{FF2B5EF4-FFF2-40B4-BE49-F238E27FC236}">
                <a16:creationId xmlns:a16="http://schemas.microsoft.com/office/drawing/2014/main" id="{9AD79FDE-7FBB-0D2D-40DB-9CF60A985571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⚔ 實戰大擂台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-header-title">
            <a:extLst>
              <a:ext uri="{FF2B5EF4-FFF2-40B4-BE49-F238E27FC236}">
                <a16:creationId xmlns:a16="http://schemas.microsoft.com/office/drawing/2014/main" id="{C27960E6-1823-2B87-6434-685D0B73546F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嘉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 </a:t>
            </a:r>
            <a:r>
              <a:rPr lang="en-US" altLang="zh-TW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破案挑戰賽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11-C4-B1">
            <a:extLst>
              <a:ext uri="{FF2B5EF4-FFF2-40B4-BE49-F238E27FC236}">
                <a16:creationId xmlns:a16="http://schemas.microsoft.com/office/drawing/2014/main" id="{71A462DA-611A-A94F-BBA0-C2BD891E7FF9}"/>
              </a:ext>
            </a:extLst>
          </p:cNvPr>
          <p:cNvSpPr txBox="1"/>
          <p:nvPr/>
        </p:nvSpPr>
        <p:spPr>
          <a:xfrm>
            <a:off x="922020" y="172974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占星師：水逆使你倒楣；若順利，是善念抵銷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了。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1-C4-B2">
            <a:extLst>
              <a:ext uri="{FF2B5EF4-FFF2-40B4-BE49-F238E27FC236}">
                <a16:creationId xmlns:a16="http://schemas.microsoft.com/office/drawing/2014/main" id="{5EF74DF0-46F1-B62A-ACE3-913086DA8E34}"/>
              </a:ext>
            </a:extLst>
          </p:cNvPr>
          <p:cNvSpPr txBox="1"/>
          <p:nvPr/>
        </p:nvSpPr>
        <p:spPr>
          <a:xfrm>
            <a:off x="922020" y="212344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偽科學警訊：總能另找解釋，逃避</a:t>
            </a:r>
            <a:r>
              <a:rPr lang="zh-TW" altLang="en-US" sz="24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反證。</a:t>
            </a:r>
            <a:endParaRPr lang="zh-TW" altLang="en-US" sz="24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1-C5-B1">
            <a:extLst>
              <a:ext uri="{FF2B5EF4-FFF2-40B4-BE49-F238E27FC236}">
                <a16:creationId xmlns:a16="http://schemas.microsoft.com/office/drawing/2014/main" id="{35CB1ACB-F1A4-13A4-693A-AAD9529AB0E1}"/>
              </a:ext>
            </a:extLst>
          </p:cNvPr>
          <p:cNvSpPr txBox="1"/>
          <p:nvPr/>
        </p:nvSpPr>
        <p:spPr>
          <a:xfrm>
            <a:off x="922020" y="268986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某組單擺週期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差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0.3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秒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，組長偷偷改數據，畫出線性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圖。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1-C5-B2">
            <a:extLst>
              <a:ext uri="{FF2B5EF4-FFF2-40B4-BE49-F238E27FC236}">
                <a16:creationId xmlns:a16="http://schemas.microsoft.com/office/drawing/2014/main" id="{F1895542-93CB-510F-99E5-589C2E03A916}"/>
              </a:ext>
            </a:extLst>
          </p:cNvPr>
          <p:cNvSpPr txBox="1"/>
          <p:nvPr/>
        </p:nvSpPr>
        <p:spPr>
          <a:xfrm>
            <a:off x="922020" y="308356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貨物崇拜式作風：外觀漂亮，資料</a:t>
            </a:r>
            <a:r>
              <a:rPr lang="zh-TW" altLang="en-US" sz="2400" b="1">
                <a:solidFill>
                  <a:srgbClr val="E374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失真。</a:t>
            </a:r>
            <a:endParaRPr lang="zh-TW" altLang="en-US" sz="2400" b="1" dirty="0">
              <a:solidFill>
                <a:srgbClr val="E3740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1-C6-B1">
            <a:extLst>
              <a:ext uri="{FF2B5EF4-FFF2-40B4-BE49-F238E27FC236}">
                <a16:creationId xmlns:a16="http://schemas.microsoft.com/office/drawing/2014/main" id="{5D52D06E-56D5-6421-EA22-8BFCE43956E2}"/>
              </a:ext>
            </a:extLst>
          </p:cNvPr>
          <p:cNvSpPr txBox="1"/>
          <p:nvPr/>
        </p:nvSpPr>
        <p:spPr>
          <a:xfrm>
            <a:off x="922020" y="364998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1912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年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，魏格納的大陸漂移說遭主流地質學界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質疑。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1-C6-B2">
            <a:extLst>
              <a:ext uri="{FF2B5EF4-FFF2-40B4-BE49-F238E27FC236}">
                <a16:creationId xmlns:a16="http://schemas.microsoft.com/office/drawing/2014/main" id="{3CBD3058-3B16-E646-F0F5-97C2A5195A0A}"/>
              </a:ext>
            </a:extLst>
          </p:cNvPr>
          <p:cNvSpPr txBox="1"/>
          <p:nvPr/>
        </p:nvSpPr>
        <p:spPr>
          <a:xfrm>
            <a:off x="922020" y="404368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當時的非主流研究：要看提出的證據與</a:t>
            </a:r>
            <a:r>
              <a:rPr lang="zh-TW" altLang="en-US" sz="24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檢驗。</a:t>
            </a:r>
            <a:endParaRPr lang="zh-TW" altLang="en-US" sz="24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6" name="K11-C7-B1">
            <a:extLst>
              <a:ext uri="{FF2B5EF4-FFF2-40B4-BE49-F238E27FC236}">
                <a16:creationId xmlns:a16="http://schemas.microsoft.com/office/drawing/2014/main" id="{4F72F15E-22E1-2644-FFDB-B831C7E49786}"/>
              </a:ext>
            </a:extLst>
          </p:cNvPr>
          <p:cNvSpPr txBox="1"/>
          <p:nvPr/>
        </p:nvSpPr>
        <p:spPr>
          <a:xfrm>
            <a:off x="922020" y="461010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情境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國文老師寫一首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探討 </a:t>
            </a:r>
            <a:r>
              <a:rPr lang="en-US" altLang="zh-TW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 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</a:t>
            </a:r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孤獨的新詩，感動許多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7" name="K11-C7-B2">
            <a:extLst>
              <a:ext uri="{FF2B5EF4-FFF2-40B4-BE49-F238E27FC236}">
                <a16:creationId xmlns:a16="http://schemas.microsoft.com/office/drawing/2014/main" id="{EF1884A9-84F3-36F2-A625-B05116B8CC06}"/>
              </a:ext>
            </a:extLst>
          </p:cNvPr>
          <p:cNvSpPr txBox="1"/>
          <p:nvPr/>
        </p:nvSpPr>
        <p:spPr>
          <a:xfrm>
            <a:off x="922020" y="5003800"/>
            <a:ext cx="102260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非科學問題：文學有其價值，美感不以證偽</a:t>
            </a:r>
            <a:r>
              <a:rPr lang="zh-TW" altLang="en-US" sz="24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評定。</a:t>
            </a:r>
            <a:endParaRPr lang="zh-TW" altLang="en-US" sz="24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120640" cy="3931920"/>
          </a:xfrm>
          <a:prstGeom prst="roundRect">
            <a:avLst/>
          </a:prstGeom>
          <a:solidFill>
            <a:srgbClr val="E0EFF6"/>
          </a:solidFill>
          <a:ln w="19050">
            <a:solidFill>
              <a:srgbClr val="115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500" b="1">
                <a:solidFill>
                  <a:srgbClr val="1155CC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7920" y="1691640"/>
            <a:ext cx="5120640" cy="3931920"/>
          </a:xfrm>
          <a:prstGeom prst="roundRect">
            <a:avLst/>
          </a:prstGeom>
          <a:solidFill>
            <a:srgbClr val="E1EFD8"/>
          </a:solidFill>
          <a:ln w="19050">
            <a:solidFill>
              <a:srgbClr val="1E7E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400"/>
              </a:spcAft>
              <a:defRPr sz="2500" b="1">
                <a:solidFill>
                  <a:srgbClr val="1E7E34"/>
                </a:solidFill>
                <a:latin typeface="Microsoft JhengHei"/>
              </a:defRPr>
            </a:pPr>
            <a:endParaRPr/>
          </a:p>
        </p:txBody>
      </p:sp>
      <p:sp>
        <p:nvSpPr>
          <p:cNvPr id="6" name="K-header-label">
            <a:extLst>
              <a:ext uri="{FF2B5EF4-FFF2-40B4-BE49-F238E27FC236}">
                <a16:creationId xmlns:a16="http://schemas.microsoft.com/office/drawing/2014/main" id="{C6C947E7-E791-17E3-301C-274945BB1DDB}"/>
              </a:ext>
            </a:extLst>
          </p:cNvPr>
          <p:cNvSpPr txBox="1"/>
          <p:nvPr/>
        </p:nvSpPr>
        <p:spPr>
          <a:xfrm>
            <a:off x="731520" y="320040"/>
            <a:ext cx="1069848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1700" b="1" dirty="0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🛡 終局</a:t>
            </a:r>
            <a:r>
              <a:rPr lang="zh-TW" altLang="en-US" sz="1700" b="1">
                <a:solidFill>
                  <a:srgbClr val="6666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工具交付</a:t>
            </a:r>
            <a:endParaRPr lang="zh-TW" altLang="en-US" sz="1700" b="1" dirty="0">
              <a:solidFill>
                <a:srgbClr val="666666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-header-title">
            <a:extLst>
              <a:ext uri="{FF2B5EF4-FFF2-40B4-BE49-F238E27FC236}">
                <a16:creationId xmlns:a16="http://schemas.microsoft.com/office/drawing/2014/main" id="{B760E788-B48B-AAD8-CB94-5565D8FB0AAC}"/>
              </a:ext>
            </a:extLst>
          </p:cNvPr>
          <p:cNvSpPr txBox="1"/>
          <p:nvPr/>
        </p:nvSpPr>
        <p:spPr>
          <a:xfrm>
            <a:off x="731520" y="688340"/>
            <a:ext cx="1069848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36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帶出教室的工具：科學偵測</a:t>
            </a:r>
            <a:r>
              <a:rPr lang="zh-TW" altLang="en-US" sz="36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雙稜鏡</a:t>
            </a:r>
            <a:endParaRPr lang="zh-TW" altLang="en-US" sz="36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8" name="K12-C4-B1">
            <a:extLst>
              <a:ext uri="{FF2B5EF4-FFF2-40B4-BE49-F238E27FC236}">
                <a16:creationId xmlns:a16="http://schemas.microsoft.com/office/drawing/2014/main" id="{1B4500DB-165A-64AC-B365-02DB694BB4B8}"/>
              </a:ext>
            </a:extLst>
          </p:cNvPr>
          <p:cNvSpPr txBox="1"/>
          <p:nvPr/>
        </p:nvSpPr>
        <p:spPr>
          <a:xfrm>
            <a:off x="934720" y="2174240"/>
            <a:ext cx="4714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第一</a:t>
            </a:r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稜鏡 </a:t>
            </a:r>
            <a:r>
              <a:rPr lang="en-US" altLang="zh-TW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波</a:t>
            </a:r>
            <a:r>
              <a:rPr lang="zh-TW" altLang="en-US" sz="26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普爾</a:t>
            </a:r>
            <a:r>
              <a:rPr lang="zh-TW" altLang="en-US" sz="26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之問</a:t>
            </a:r>
            <a:endParaRPr lang="zh-TW" altLang="en-US" sz="26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9" name="K12-C4-B2">
            <a:extLst>
              <a:ext uri="{FF2B5EF4-FFF2-40B4-BE49-F238E27FC236}">
                <a16:creationId xmlns:a16="http://schemas.microsoft.com/office/drawing/2014/main" id="{89785102-FEA4-6CA5-4BC4-D5D905724A8D}"/>
              </a:ext>
            </a:extLst>
          </p:cNvPr>
          <p:cNvSpPr txBox="1"/>
          <p:nvPr/>
        </p:nvSpPr>
        <p:spPr>
          <a:xfrm>
            <a:off x="934720" y="2694940"/>
            <a:ext cx="47142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檢查他人，也檢查自己的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主張。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0" name="K12-C4-B3">
            <a:extLst>
              <a:ext uri="{FF2B5EF4-FFF2-40B4-BE49-F238E27FC236}">
                <a16:creationId xmlns:a16="http://schemas.microsoft.com/office/drawing/2014/main" id="{9C1CA6C6-0435-C7ED-E7AC-463038B2C867}"/>
              </a:ext>
            </a:extLst>
          </p:cNvPr>
          <p:cNvSpPr txBox="1"/>
          <p:nvPr/>
        </p:nvSpPr>
        <p:spPr>
          <a:xfrm>
            <a:off x="934720" y="3139440"/>
            <a:ext cx="471424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600" b="1" dirty="0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「什麼具體結果，會讓你承認這個主張需要修正</a:t>
            </a:r>
            <a:r>
              <a:rPr lang="zh-TW" altLang="en-US" sz="2600" b="1">
                <a:solidFill>
                  <a:srgbClr val="FF4B3E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？」</a:t>
            </a:r>
            <a:endParaRPr lang="zh-TW" altLang="en-US" sz="2600" b="1" dirty="0">
              <a:solidFill>
                <a:srgbClr val="FF4B3E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1" name="K12-C4-B4">
            <a:extLst>
              <a:ext uri="{FF2B5EF4-FFF2-40B4-BE49-F238E27FC236}">
                <a16:creationId xmlns:a16="http://schemas.microsoft.com/office/drawing/2014/main" id="{864EDF7D-988B-0980-8C34-13B405BD7A5B}"/>
              </a:ext>
            </a:extLst>
          </p:cNvPr>
          <p:cNvSpPr txBox="1"/>
          <p:nvPr/>
        </p:nvSpPr>
        <p:spPr>
          <a:xfrm>
            <a:off x="934720" y="4015740"/>
            <a:ext cx="4714240" cy="1117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若答不清楚，先釐清主張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與檢驗條件；若持續迴避</a:t>
            </a:r>
          </a:p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反證，就須提高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警覺。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K12-C5-B1">
            <a:extLst>
              <a:ext uri="{FF2B5EF4-FFF2-40B4-BE49-F238E27FC236}">
                <a16:creationId xmlns:a16="http://schemas.microsoft.com/office/drawing/2014/main" id="{4027FEAA-F366-1338-AE9B-E8039FF3EC18}"/>
              </a:ext>
            </a:extLst>
          </p:cNvPr>
          <p:cNvSpPr txBox="1"/>
          <p:nvPr/>
        </p:nvSpPr>
        <p:spPr>
          <a:xfrm>
            <a:off x="6421120" y="2364740"/>
            <a:ext cx="471424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第二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稜鏡 </a:t>
            </a:r>
            <a:r>
              <a:rPr lang="en-US" altLang="zh-TW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· 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費</a:t>
            </a:r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曼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之問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K12-C5-B2">
            <a:extLst>
              <a:ext uri="{FF2B5EF4-FFF2-40B4-BE49-F238E27FC236}">
                <a16:creationId xmlns:a16="http://schemas.microsoft.com/office/drawing/2014/main" id="{0E0EC61D-BB66-B606-1083-1186B3033213}"/>
              </a:ext>
            </a:extLst>
          </p:cNvPr>
          <p:cNvSpPr txBox="1"/>
          <p:nvPr/>
        </p:nvSpPr>
        <p:spPr>
          <a:xfrm>
            <a:off x="6421120" y="2885440"/>
            <a:ext cx="471424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檢查自己的資料與</a:t>
            </a:r>
            <a:r>
              <a:rPr lang="zh-TW" altLang="en-US" sz="24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解釋。</a:t>
            </a:r>
            <a:endParaRPr lang="zh-TW" altLang="en-US" sz="24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4" name="K12-C5-B3">
            <a:extLst>
              <a:ext uri="{FF2B5EF4-FFF2-40B4-BE49-F238E27FC236}">
                <a16:creationId xmlns:a16="http://schemas.microsoft.com/office/drawing/2014/main" id="{392160FE-F80B-EDD6-0264-06813B3CAAEB}"/>
              </a:ext>
            </a:extLst>
          </p:cNvPr>
          <p:cNvSpPr txBox="1"/>
          <p:nvPr/>
        </p:nvSpPr>
        <p:spPr>
          <a:xfrm>
            <a:off x="6421120" y="3329940"/>
            <a:ext cx="4714240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600" b="1" dirty="0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「可能推翻假設的疑點，我有沒有老實交代</a:t>
            </a:r>
            <a:r>
              <a:rPr lang="zh-TW" altLang="en-US" sz="2600" b="1">
                <a:solidFill>
                  <a:srgbClr val="1E7E34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？」</a:t>
            </a:r>
            <a:endParaRPr lang="zh-TW" altLang="en-US" sz="2600" b="1" dirty="0">
              <a:solidFill>
                <a:srgbClr val="1E7E34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5" name="K12-C5-B4">
            <a:extLst>
              <a:ext uri="{FF2B5EF4-FFF2-40B4-BE49-F238E27FC236}">
                <a16:creationId xmlns:a16="http://schemas.microsoft.com/office/drawing/2014/main" id="{00ADBC4F-DAC9-FDC9-7A38-D34E40F1B069}"/>
              </a:ext>
            </a:extLst>
          </p:cNvPr>
          <p:cNvSpPr txBox="1"/>
          <p:nvPr/>
        </p:nvSpPr>
        <p:spPr>
          <a:xfrm>
            <a:off x="6421120" y="4206240"/>
            <a:ext cx="471424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400" dirty="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主動公開限制、異常與其他解釋，是科學誠實的具體</a:t>
            </a:r>
            <a:r>
              <a:rPr lang="zh-TW" altLang="en-US" sz="2400">
                <a:solidFill>
                  <a:srgbClr val="21212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作法。</a:t>
            </a:r>
            <a:endParaRPr lang="zh-TW" altLang="en-US" sz="2400" dirty="0">
              <a:solidFill>
                <a:srgbClr val="21212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0704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40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0607040" cy="2926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FFD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>
            <a:noAutofit/>
          </a:bodyPr>
          <a:lstStyle/>
          <a:p>
            <a:pPr algn="ctr">
              <a:spcAft>
                <a:spcPts val="1200"/>
              </a:spcAft>
              <a:defRPr sz="2800" b="1">
                <a:solidFill>
                  <a:srgbClr val="1C3052"/>
                </a:solidFill>
                <a:latin typeface="Microsoft JhengHei"/>
              </a:defRPr>
            </a:pPr>
            <a:endParaRPr/>
          </a:p>
        </p:txBody>
      </p:sp>
      <p:sp>
        <p:nvSpPr>
          <p:cNvPr id="5" name="K13-C3-B1">
            <a:extLst>
              <a:ext uri="{FF2B5EF4-FFF2-40B4-BE49-F238E27FC236}">
                <a16:creationId xmlns:a16="http://schemas.microsoft.com/office/drawing/2014/main" id="{3AFB938F-3928-62DA-ED21-616AD5CF7129}"/>
              </a:ext>
            </a:extLst>
          </p:cNvPr>
          <p:cNvSpPr txBox="1"/>
          <p:nvPr/>
        </p:nvSpPr>
        <p:spPr>
          <a:xfrm>
            <a:off x="731520" y="802640"/>
            <a:ext cx="1060704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40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敬，敢於承認自己錯了</a:t>
            </a:r>
            <a:r>
              <a:rPr lang="zh-TW" altLang="en-US" sz="40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的人</a:t>
            </a:r>
            <a:endParaRPr lang="zh-TW" altLang="en-US" sz="40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6" name="K13-C3-B2">
            <a:extLst>
              <a:ext uri="{FF2B5EF4-FFF2-40B4-BE49-F238E27FC236}">
                <a16:creationId xmlns:a16="http://schemas.microsoft.com/office/drawing/2014/main" id="{984E0DBD-AF4E-0255-3DD6-39144B23C4B1}"/>
              </a:ext>
            </a:extLst>
          </p:cNvPr>
          <p:cNvSpPr txBox="1"/>
          <p:nvPr/>
        </p:nvSpPr>
        <p:spPr>
          <a:xfrm>
            <a:off x="731520" y="1488440"/>
            <a:ext cx="1060704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TW" altLang="en-US" sz="2800" b="1" dirty="0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科學讓我們依據證據，勇敢修正自己的</a:t>
            </a:r>
            <a:r>
              <a:rPr lang="zh-TW" altLang="en-US" sz="2800" b="1">
                <a:solidFill>
                  <a:srgbClr val="1155CC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想法。</a:t>
            </a:r>
            <a:endParaRPr lang="zh-TW" altLang="en-US" sz="2800" b="1" dirty="0">
              <a:solidFill>
                <a:srgbClr val="1155CC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K13-C4-B1">
            <a:extLst>
              <a:ext uri="{FF2B5EF4-FFF2-40B4-BE49-F238E27FC236}">
                <a16:creationId xmlns:a16="http://schemas.microsoft.com/office/drawing/2014/main" id="{5A719D1B-0AD8-12DC-38F3-4871A5AD11FC}"/>
              </a:ext>
            </a:extLst>
          </p:cNvPr>
          <p:cNvSpPr txBox="1"/>
          <p:nvPr/>
        </p:nvSpPr>
        <p:spPr>
          <a:xfrm>
            <a:off x="934720" y="2923540"/>
            <a:ext cx="1020064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摘下那副木頭耳機，別只期待形式帶來發現。</a:t>
            </a:r>
          </a:p>
          <a:p>
            <a:pPr algn="ctr"/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嘉</a:t>
            </a:r>
            <a:r>
              <a:rPr lang="zh-TW" altLang="en-US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中 </a:t>
            </a:r>
            <a:r>
              <a:rPr lang="en-US" altLang="zh-TW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201 </a:t>
            </a:r>
            <a:r>
              <a:rPr lang="zh-TW" altLang="en-US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</a:t>
            </a:r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每位同學，都能從誠實面對數據的瑕疵開始，</a:t>
            </a:r>
          </a:p>
          <a:p>
            <a:pPr algn="ctr"/>
            <a:r>
              <a:rPr lang="zh-TW" altLang="en-US" sz="2800" b="1" dirty="0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一步一步走向真正的</a:t>
            </a:r>
            <a:r>
              <a:rPr lang="zh-TW" altLang="en-US" sz="2800" b="1">
                <a:solidFill>
                  <a:srgbClr val="1C3052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理解。</a:t>
            </a:r>
            <a:endParaRPr lang="zh-TW" altLang="en-US" sz="2800" b="1" dirty="0">
              <a:solidFill>
                <a:srgbClr val="1C3052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2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09" name="Google Shape;709;p52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5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2"/>
          <p:cNvSpPr txBox="1"/>
          <p:nvPr/>
        </p:nvSpPr>
        <p:spPr>
          <a:xfrm>
            <a:off x="1564640" y="1709762"/>
            <a:ext cx="95910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偽科學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（Pseudoscience）是一種聲稱具有科學基礎或方法的信仰或理論，但實際上不符合科學方法的基本原則。偽科學通常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缺乏可檢驗的假設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沒有經過嚴格的實驗驗證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</a:t>
            </a:r>
            <a:r>
              <a:rPr lang="zh-TW" sz="24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或者結果無法被重複驗證</a:t>
            </a:r>
            <a:r>
              <a:rPr lang="zh-TW" sz="2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。此外，偽科學往往忽視反證、缺乏透明性，並依賴於模糊或不可驗證的證據。</a:t>
            </a:r>
            <a:endParaRPr/>
          </a:p>
        </p:txBody>
      </p:sp>
      <p:sp>
        <p:nvSpPr>
          <p:cNvPr id="712" name="Google Shape;712;p52"/>
          <p:cNvSpPr txBox="1"/>
          <p:nvPr/>
        </p:nvSpPr>
        <p:spPr>
          <a:xfrm>
            <a:off x="3436275" y="1088300"/>
            <a:ext cx="5185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u="sng" spc="15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科學與它的小夥伴們</a:t>
            </a:r>
            <a:endParaRPr sz="2400" b="1" spc="15">
              <a:solidFill>
                <a:srgbClr val="8F8F8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19" name="Google Shape;719;p53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53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 txBox="1"/>
          <p:nvPr/>
        </p:nvSpPr>
        <p:spPr>
          <a:xfrm>
            <a:off x="538480" y="5648523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偽科學醫療資訊氾濫 別自己當醫師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https://www.youtube.com/watch?v=iG1PeCZAqs4</a:t>
            </a:r>
            <a:endParaRPr/>
          </a:p>
        </p:txBody>
      </p:sp>
      <p:pic>
        <p:nvPicPr>
          <p:cNvPr id="722" name="Google Shape;722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6975" y="1849904"/>
            <a:ext cx="45148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3"/>
          <p:cNvSpPr txBox="1"/>
          <p:nvPr/>
        </p:nvSpPr>
        <p:spPr>
          <a:xfrm>
            <a:off x="6853599" y="4340950"/>
            <a:ext cx="4083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700" b="1">
                <a:latin typeface="Microsoft JhengHei"/>
                <a:ea typeface="Microsoft JhengHei"/>
                <a:cs typeface="Microsoft JhengHei"/>
                <a:sym typeface="Microsoft JhengHei"/>
              </a:rPr>
              <a:t>你覺得有可能嗎？Why？</a:t>
            </a:r>
            <a:endParaRPr sz="27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24" name="Google Shape;724;p53"/>
          <p:cNvSpPr txBox="1"/>
          <p:nvPr/>
        </p:nvSpPr>
        <p:spPr>
          <a:xfrm>
            <a:off x="6523357" y="1849904"/>
            <a:ext cx="4744083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愛莉莎莎在這支影片中，嘗試進行印度的自然療法</a:t>
            </a:r>
            <a:r>
              <a:rPr lang="zh-TW"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「肝膽排石法」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，並特地買相關書籍研究，並解說自己將在</a:t>
            </a:r>
            <a:r>
              <a:rPr lang="zh-TW" sz="1800" b="1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斷食的7天內只吃蔬菜與水果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，等到了排石當天會先吃瀉鹽，她表示「吃這個要你的膽管變大好幾倍，到時會比較容易將結石排出」，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1" name="Google Shape;731;p5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2" name="Google Shape;732;p5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4"/>
          <p:cNvSpPr txBox="1"/>
          <p:nvPr/>
        </p:nvSpPr>
        <p:spPr>
          <a:xfrm>
            <a:off x="538480" y="5648523"/>
            <a:ext cx="609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偽科學醫療資訊氾濫 別自己當醫師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https://www.youtube.com/watch?v=iG1PeCZAqs4</a:t>
            </a:r>
            <a:endParaRPr/>
          </a:p>
        </p:txBody>
      </p:sp>
      <p:pic>
        <p:nvPicPr>
          <p:cNvPr id="734" name="Google Shape;73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6975" y="1849904"/>
            <a:ext cx="4514850" cy="295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4"/>
          <p:cNvSpPr txBox="1"/>
          <p:nvPr/>
        </p:nvSpPr>
        <p:spPr>
          <a:xfrm>
            <a:off x="6523357" y="3698537"/>
            <a:ext cx="4744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愛莉莎莎影片中「排出綠色膽石」，其實只是大量的橄欖油和葡萄柚汁在體內皂化反應形成的「皂化石」，跟膽結石的清除一點關係都沒有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6" name="Google Shape;736;p54"/>
          <p:cNvSpPr txBox="1"/>
          <p:nvPr/>
        </p:nvSpPr>
        <p:spPr>
          <a:xfrm>
            <a:off x="6523357" y="1849904"/>
            <a:ext cx="4744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愛莉莎莎在這支影片中，嘗試進行印度的自然療法</a:t>
            </a:r>
            <a:r>
              <a:rPr lang="zh-TW" sz="1800" b="1" i="0">
                <a:solidFill>
                  <a:srgbClr val="262626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「肝膽排石法」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，並特地買相關書籍研究，並解說自己將在</a:t>
            </a:r>
            <a:r>
              <a:rPr lang="zh-TW" sz="1800" b="1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斷食的7天內只吃蔬菜與水果</a:t>
            </a:r>
            <a:r>
              <a:rPr lang="zh-TW" sz="1800" b="0" i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，等到了排石當天會先吃瀉鹽，她表示「吃這個要你的膽管變大好幾倍，到時會比較容易將結石排出」，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37" name="Google Shape;737;p54"/>
          <p:cNvSpPr txBox="1"/>
          <p:nvPr/>
        </p:nvSpPr>
        <p:spPr>
          <a:xfrm>
            <a:off x="6634475" y="4899125"/>
            <a:ext cx="4329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https://www.youtube.com/watch?v=ZV2Ss724vC0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5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4" name="Google Shape;744;p55"/>
          <p:cNvSpPr txBox="1"/>
          <p:nvPr/>
        </p:nvSpPr>
        <p:spPr>
          <a:xfrm>
            <a:off x="7614925" y="1346275"/>
            <a:ext cx="2957100" cy="4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345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量子共振分色</a:t>
            </a:r>
            <a:endParaRPr sz="345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5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6" name="Google Shape;74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575" y="2013024"/>
            <a:ext cx="5173799" cy="2931675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5"/>
          <p:cNvSpPr txBox="1"/>
          <p:nvPr/>
        </p:nvSpPr>
        <p:spPr>
          <a:xfrm>
            <a:off x="4813500" y="6026700"/>
            <a:ext cx="73785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/>
              </a:rPr>
              <a:t>https://www.youtube.com/watch?v=aoPhMd9JuQk</a:t>
            </a:r>
            <a:endParaRPr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48" name="Google Shape;748;p55"/>
          <p:cNvSpPr txBox="1"/>
          <p:nvPr/>
        </p:nvSpPr>
        <p:spPr>
          <a:xfrm>
            <a:off x="602125" y="4881125"/>
            <a:ext cx="55164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200">
                <a:solidFill>
                  <a:schemeClr val="dk1"/>
                </a:solidFill>
              </a:rPr>
              <a:t>https://www.youtube.com/watch?v=35YwR2az9nk</a:t>
            </a:r>
            <a:endParaRPr sz="600"/>
          </a:p>
        </p:txBody>
      </p:sp>
      <p:pic>
        <p:nvPicPr>
          <p:cNvPr id="749" name="Google Shape;74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2475" y="2043963"/>
            <a:ext cx="4933957" cy="2824538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5"/>
          <p:cNvSpPr txBox="1"/>
          <p:nvPr/>
        </p:nvSpPr>
        <p:spPr>
          <a:xfrm>
            <a:off x="1733975" y="1263350"/>
            <a:ext cx="3750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 b="1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MARIO Marble Music</a:t>
            </a:r>
            <a:endParaRPr sz="2800" b="1">
              <a:solidFill>
                <a:srgbClr val="0F0F0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55"/>
          <p:cNvSpPr txBox="1"/>
          <p:nvPr/>
        </p:nvSpPr>
        <p:spPr>
          <a:xfrm>
            <a:off x="5257075" y="5315525"/>
            <a:ext cx="76728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1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6"/>
              </a:rPr>
              <a:t>https://www.youtube.com/watch?v=dTrPShwe8fI</a:t>
            </a:r>
            <a:endParaRPr sz="21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6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什麼是偽科學？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58" name="Google Shape;758;p56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9" name="Google Shape;759;p56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6"/>
          <p:cNvSpPr txBox="1"/>
          <p:nvPr/>
        </p:nvSpPr>
        <p:spPr>
          <a:xfrm>
            <a:off x="832491" y="1123048"/>
            <a:ext cx="4574540" cy="461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排毒療法（Detox Therapies）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排毒療法聲稱通過特定的飲食、補充劑或其他方法可以排除體內的「毒素」，從而改善健康。</a:t>
            </a:r>
            <a:endParaRPr/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體的肝臟、腎臟、皮膚等器官本身就具有自然排毒功能，健康的身體不需要額外的「排毒」干預。所謂「毒素」通常未具體定義，許多排毒療法的效果沒有科學證據支持，並且未經控制的療法可能會造成健康風險。因此，排毒療法多數被視為偽科學。</a:t>
            </a:r>
            <a:endParaRPr/>
          </a:p>
        </p:txBody>
      </p:sp>
      <p:sp>
        <p:nvSpPr>
          <p:cNvPr id="761" name="Google Shape;761;p56"/>
          <p:cNvSpPr txBox="1"/>
          <p:nvPr/>
        </p:nvSpPr>
        <p:spPr>
          <a:xfrm>
            <a:off x="6629402" y="1123048"/>
            <a:ext cx="4427218" cy="461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氫氣治療（Hydrogen Therapy）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氫氣治療聲稱吸入或飲用氫氣能夠治療多種疾病，如癌症、糖尿病、心血管疾病等。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：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雖然氫氣在細胞中可能有抗氧化作用，但目前的研究多是初步和動物實驗，尚未有足夠的人體臨床試驗證明氫氣能夠有效治療上述疾病。此外，商業推廣的許多氫氣產品和療法往往夸大了氫氣的作用，沒有嚴格的科學支持，故多數氫氣療法被視為偽科學。</a:t>
            </a:r>
            <a:endParaRPr/>
          </a:p>
        </p:txBody>
      </p:sp>
      <p:sp>
        <p:nvSpPr>
          <p:cNvPr id="762" name="Google Shape;762;p56"/>
          <p:cNvSpPr txBox="1"/>
          <p:nvPr/>
        </p:nvSpPr>
        <p:spPr>
          <a:xfrm>
            <a:off x="6973584" y="5884575"/>
            <a:ext cx="475950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氫氣治憂鬱? 王群光被爆違法!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https://www.youtube.com/watch?v=DLdaJYAHTT0</a:t>
            </a:r>
            <a:endParaRPr/>
          </a:p>
        </p:txBody>
      </p:sp>
      <p:sp>
        <p:nvSpPr>
          <p:cNvPr id="763" name="Google Shape;763;p56"/>
          <p:cNvSpPr txBox="1"/>
          <p:nvPr/>
        </p:nvSpPr>
        <p:spPr>
          <a:xfrm>
            <a:off x="1045395" y="5833300"/>
            <a:ext cx="609771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 b="1" i="0">
                <a:solidFill>
                  <a:srgbClr val="0F0F0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3天清水斷食比168更有效 自然醫學博士:可排毒 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https://www.youtube.com/watch?v=b1_RBOIfYug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7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任務四：定義偽科學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0" name="Google Shape;770;p57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57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7"/>
          <p:cNvSpPr txBox="1"/>
          <p:nvPr/>
        </p:nvSpPr>
        <p:spPr>
          <a:xfrm>
            <a:off x="1161306" y="1330215"/>
            <a:ext cx="3555474" cy="4105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請每組找出一篇偽科學的報導，並從科學的角度解釋為何不可信？與班上同學分享，並上傳至作業區。</a:t>
            </a:r>
            <a:endParaRPr sz="2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73" name="Google Shape;773;p57"/>
          <p:cNvSpPr txBox="1"/>
          <p:nvPr/>
        </p:nvSpPr>
        <p:spPr>
          <a:xfrm>
            <a:off x="5521960" y="1149561"/>
            <a:ext cx="58317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組別：姓名座號/姓名座號</a:t>
            </a:r>
            <a:endParaRPr sz="18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舉例：</a:t>
            </a:r>
            <a:endParaRPr sz="1800" b="1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人類智力測量的顱相學（Phrenology）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概述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：顱相學主張可以根據頭骨的形狀和凸起來測量和判斷一個人的智力、性格和精神特質的。</a:t>
            </a:r>
            <a:endParaRPr/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 b="1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科學方法解釋</a:t>
            </a: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：顱相學基於一個錯誤的假設，即大腦的不同區域對應特定的性格特質，並且這些區域的大小會影響頭骨的形狀。現代神經科學證明，頭骨形狀與腦功能和個性特質之間沒有直接關聯。顱相學缺乏實驗證據支持，結果也無法重複驗證，因而被視為偽科學。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zh-TW" sz="1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參考來源： https://pansci.asia/archives/112846</a:t>
            </a:r>
            <a:endParaRPr sz="18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8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0" name="Google Shape;780;p5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8"/>
          <p:cNvSpPr txBox="1"/>
          <p:nvPr/>
        </p:nvSpPr>
        <p:spPr>
          <a:xfrm>
            <a:off x="998550" y="865875"/>
            <a:ext cx="10040100" cy="45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小論文：中學生網站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●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https://www.shs.edu.tw/Customer/Winning/EssayIndex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科展：國立台灣科教館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icrosoft JhengHei"/>
              <a:buChar char="●"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https://twsf.ntsec.gov.tw/Article.aspx?a=41&amp;lang=1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期刊論文：NCBI-PubMed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https://pubmed.ncbi.nlm.nih.gov/</a:t>
            </a:r>
            <a:endParaRPr sz="2000" u="sng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期刊論文：APS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https://journals.aps.org/</a:t>
            </a:r>
            <a:endParaRPr sz="2000" u="sng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臺灣博碩士論文知識加值系統 - 國家圖書館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rosoft JhengHei"/>
              <a:buChar char="●"/>
            </a:pPr>
            <a:r>
              <a:rPr lang="zh-TW" sz="2000" u="sng">
                <a:solidFill>
                  <a:schemeClr val="hlink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5"/>
              </a:rPr>
              <a:t>https://reurl.cc/qvrr7N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icrosoft JhengHei"/>
              <a:buChar char="●"/>
            </a:pPr>
            <a:r>
              <a:rPr lang="zh-TW" sz="25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google學術</a:t>
            </a:r>
            <a:endParaRPr sz="2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9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88" name="Google Shape;788;p59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9" name="Google Shape;789;p59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9"/>
          <p:cNvSpPr txBox="1"/>
          <p:nvPr/>
        </p:nvSpPr>
        <p:spPr>
          <a:xfrm>
            <a:off x="1911114" y="1243977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小論文：中學生網站</a:t>
            </a:r>
            <a:endParaRPr sz="20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791" name="Google Shape;791;p59"/>
          <p:cNvPicPr preferRelativeResize="0"/>
          <p:nvPr/>
        </p:nvPicPr>
        <p:blipFill rotWithShape="1">
          <a:blip r:embed="rId3">
            <a:alphaModFix/>
          </a:blip>
          <a:srcRect r="13147"/>
          <a:stretch/>
        </p:blipFill>
        <p:spPr>
          <a:xfrm>
            <a:off x="1911114" y="2290270"/>
            <a:ext cx="9015303" cy="3292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0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798" name="Google Shape;798;p60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9" name="Google Shape;799;p60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0"/>
          <p:cNvSpPr txBox="1"/>
          <p:nvPr/>
        </p:nvSpPr>
        <p:spPr>
          <a:xfrm>
            <a:off x="2536562" y="975584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科展：國立台灣科教館</a:t>
            </a:r>
            <a:endParaRPr sz="2800" b="0" i="0" u="none" strike="noStrike" cap="non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01" name="Google Shape;801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2314" y="2381499"/>
            <a:ext cx="5791200" cy="284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8295" y="1665171"/>
            <a:ext cx="5943101" cy="452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1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09" name="Google Shape;809;p61"/>
          <p:cNvSpPr txBox="1"/>
          <p:nvPr/>
        </p:nvSpPr>
        <p:spPr>
          <a:xfrm>
            <a:off x="838199" y="1665171"/>
            <a:ext cx="10515601" cy="451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0" name="Google Shape;810;p61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1" name="Google Shape;811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6012" y="1909430"/>
            <a:ext cx="7125217" cy="3999739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61"/>
          <p:cNvSpPr txBox="1"/>
          <p:nvPr/>
        </p:nvSpPr>
        <p:spPr>
          <a:xfrm>
            <a:off x="2394322" y="1112913"/>
            <a:ext cx="7030768" cy="687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期刊：NCBI-PubMed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2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19" name="Google Shape;819;p62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0" name="Google Shape;820;p62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62"/>
          <p:cNvSpPr txBox="1"/>
          <p:nvPr/>
        </p:nvSpPr>
        <p:spPr>
          <a:xfrm>
            <a:off x="2394322" y="1112913"/>
            <a:ext cx="7030800" cy="6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zh-TW" sz="2800" b="0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期刊：</a:t>
            </a:r>
            <a:r>
              <a:rPr lang="zh-TW" sz="28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APS（涵括多種物理期刊）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22" name="Google Shape;82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6000" y="2156110"/>
            <a:ext cx="7125225" cy="2950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29" name="Google Shape;829;p63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0" name="Google Shape;830;p6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1" name="Google Shape;83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625" y="1004050"/>
            <a:ext cx="7498974" cy="52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38" name="Google Shape;838;p64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9" name="Google Shape;839;p6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7400" y="1205575"/>
            <a:ext cx="8285999" cy="543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5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47" name="Google Shape;847;p65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65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9" name="Google Shape;84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275" y="1163887"/>
            <a:ext cx="7267449" cy="527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6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56" name="Google Shape;856;p66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7" name="Google Shape;857;p66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8" name="Google Shape;85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1346650"/>
            <a:ext cx="10447119" cy="45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7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65" name="Google Shape;865;p67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67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7" name="Google Shape;86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1800" y="1004050"/>
            <a:ext cx="7615800" cy="517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8713" y="2705100"/>
            <a:ext cx="18573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8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75" name="Google Shape;875;p68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68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7" name="Google Shape;8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213" y="2466975"/>
            <a:ext cx="11153775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69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84" name="Google Shape;884;p69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5" name="Google Shape;885;p69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6" name="Google Shape;88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775" y="1358950"/>
            <a:ext cx="9036049" cy="47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0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如何搜尋科學相關文獻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893" name="Google Shape;893;p70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4" name="Google Shape;894;p70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5" name="Google Shape;89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4825" y="1344436"/>
            <a:ext cx="8522357" cy="49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71"/>
          <p:cNvSpPr txBox="1"/>
          <p:nvPr/>
        </p:nvSpPr>
        <p:spPr>
          <a:xfrm>
            <a:off x="838199" y="1665171"/>
            <a:ext cx="10515600" cy="45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5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71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71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任務四：科學搜索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04" name="Google Shape;90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025" y="1004050"/>
            <a:ext cx="8131524" cy="55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2222" y="3509800"/>
            <a:ext cx="1411275" cy="10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2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72"/>
          <p:cNvSpPr txBox="1"/>
          <p:nvPr/>
        </p:nvSpPr>
        <p:spPr>
          <a:xfrm>
            <a:off x="1172250" y="1256125"/>
            <a:ext cx="90831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66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Char char="•"/>
            </a:pPr>
            <a:r>
              <a:rPr lang="zh-TW" sz="3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至臺灣博碩士論文知識加值系統 - 國家圖書館“搜尋論文並繳交(研究主題、學校、研究生、指導教授)</a:t>
            </a: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3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3" name="Google Shape;913;p72"/>
          <p:cNvSpPr txBox="1"/>
          <p:nvPr/>
        </p:nvSpPr>
        <p:spPr>
          <a:xfrm>
            <a:off x="1214850" y="2997225"/>
            <a:ext cx="89979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至科展網站搜尋作品並繳交(第幾屆、參賽組別、作品名、作者、指導老師)</a:t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endParaRPr sz="45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4" name="Google Shape;914;p72" descr="畫布"/>
          <p:cNvSpPr txBox="1"/>
          <p:nvPr/>
        </p:nvSpPr>
        <p:spPr>
          <a:xfrm>
            <a:off x="838200" y="173038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15" name="Google Shape;915;p72"/>
          <p:cNvSpPr txBox="1"/>
          <p:nvPr/>
        </p:nvSpPr>
        <p:spPr>
          <a:xfrm>
            <a:off x="1214850" y="4526425"/>
            <a:ext cx="103365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60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Char char="•"/>
            </a:pPr>
            <a:r>
              <a:rPr lang="zh-TW" sz="33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至期刊論文網站，搜尋一篇文獻並繳交(需打上篇名、期刊出處、期刊impact facter(IF)、第一作者、發表年分、是否為review paper)</a:t>
            </a:r>
            <a:endParaRPr sz="33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3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73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3" name="Google Shape;923;p73"/>
          <p:cNvSpPr txBox="1"/>
          <p:nvPr/>
        </p:nvSpPr>
        <p:spPr>
          <a:xfrm>
            <a:off x="1077794" y="1323200"/>
            <a:ext cx="69786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例如：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第幾屆：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中華民國第 63 屆中小學科學展覽會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組別：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高中組/數學科/第一名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作品名：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比例和的圓舞曲：當內切錐線遇上截線比例和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作者：</a:t>
            </a: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臺中市立臺中第一高級中等學校</a:t>
            </a:r>
            <a:endParaRPr sz="2000" b="0" i="0" u="none" strike="noStrike">
              <a:solidFill>
                <a:srgbClr val="00000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         高二 詹淯翔 高二 范思緯</a:t>
            </a:r>
            <a:endParaRPr sz="20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指導老師： 黃家瑋</a:t>
            </a:r>
            <a:endParaRPr sz="2000" b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24" name="Google Shape;924;p73"/>
          <p:cNvSpPr txBox="1"/>
          <p:nvPr/>
        </p:nvSpPr>
        <p:spPr>
          <a:xfrm>
            <a:off x="7131050" y="5073650"/>
            <a:ext cx="7239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73"/>
          <p:cNvSpPr txBox="1"/>
          <p:nvPr/>
        </p:nvSpPr>
        <p:spPr>
          <a:xfrm>
            <a:off x="1145886" y="3804622"/>
            <a:ext cx="45339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 b="0" i="0" u="none" strike="noStrik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例如：</a:t>
            </a:r>
            <a:endParaRPr sz="2000"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篇名：Insulin-Like Growth Factor 1 (IGF-1) Signaling in Glucose Metabolism in Colorectal Cancer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期刊出處：molecular science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第一作者：Maria E. Mycielska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IF：5.7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發表日期：2021 Jun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endParaRPr sz="2000" b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4"/>
          <p:cNvSpPr/>
          <p:nvPr/>
        </p:nvSpPr>
        <p:spPr>
          <a:xfrm>
            <a:off x="0" y="6593840"/>
            <a:ext cx="12192000" cy="264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74" descr="畫布"/>
          <p:cNvSpPr txBox="1"/>
          <p:nvPr/>
        </p:nvSpPr>
        <p:spPr>
          <a:xfrm>
            <a:off x="838200" y="173038"/>
            <a:ext cx="10515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任務五：科學搜索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33" name="Google Shape;933;p74"/>
          <p:cNvSpPr txBox="1"/>
          <p:nvPr/>
        </p:nvSpPr>
        <p:spPr>
          <a:xfrm>
            <a:off x="7131050" y="5073650"/>
            <a:ext cx="7239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74"/>
          <p:cNvSpPr txBox="1"/>
          <p:nvPr/>
        </p:nvSpPr>
        <p:spPr>
          <a:xfrm>
            <a:off x="838197" y="2418826"/>
            <a:ext cx="5870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篇名：Insulin-Like Growth Factor 1 (IGF-1) Signaling in Glucose Metabolism in Colorectal Cancer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期刊出處：molecular science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第一作者：Maria E. Mycielska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IF：5.7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發表年分：2021 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r>
              <a:rPr lang="zh-TW" sz="2000">
                <a:solidFill>
                  <a:srgbClr val="212121"/>
                </a:solidFill>
                <a:highlight>
                  <a:srgbClr val="FFFFFF"/>
                </a:highlight>
              </a:rPr>
              <a:t>不是review paper</a:t>
            </a:r>
            <a:endParaRPr sz="2000">
              <a:solidFill>
                <a:srgbClr val="212121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icrosoft JhengHei"/>
              <a:buNone/>
            </a:pPr>
            <a:endParaRPr sz="2000" b="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935" name="Google Shape;9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047" y="2067888"/>
            <a:ext cx="5109178" cy="2830458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4"/>
          <p:cNvSpPr txBox="1"/>
          <p:nvPr/>
        </p:nvSpPr>
        <p:spPr>
          <a:xfrm>
            <a:off x="838200" y="1490288"/>
            <a:ext cx="3000000" cy="7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7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期刊</a:t>
            </a:r>
            <a:endParaRPr sz="21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" name="Google Shape;942;p75"/>
          <p:cNvGrpSpPr/>
          <p:nvPr/>
        </p:nvGrpSpPr>
        <p:grpSpPr>
          <a:xfrm>
            <a:off x="1166796" y="1962149"/>
            <a:ext cx="4100107" cy="2244301"/>
            <a:chOff x="5729693" y="1352697"/>
            <a:chExt cx="5059808" cy="3044254"/>
          </a:xfrm>
        </p:grpSpPr>
        <p:pic>
          <p:nvPicPr>
            <p:cNvPr id="943" name="Google Shape;943;p75" descr="C:\Users\Administrator\Desktop\ppt展示模板-8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29693" y="1352697"/>
              <a:ext cx="5059808" cy="30442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4" name="Google Shape;944;p75"/>
            <p:cNvSpPr/>
            <p:nvPr/>
          </p:nvSpPr>
          <p:spPr>
            <a:xfrm>
              <a:off x="6422687" y="1728837"/>
              <a:ext cx="3665189" cy="211288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99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75" descr="畫布"/>
          <p:cNvSpPr txBox="1"/>
          <p:nvPr/>
        </p:nvSpPr>
        <p:spPr>
          <a:xfrm>
            <a:off x="838200" y="352956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QA</a:t>
            </a:r>
            <a:endParaRPr sz="4400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46" name="Google Shape;946;p75" descr="畫布"/>
          <p:cNvSpPr txBox="1"/>
          <p:nvPr/>
        </p:nvSpPr>
        <p:spPr>
          <a:xfrm>
            <a:off x="5559777" y="2602775"/>
            <a:ext cx="4637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JhengHei"/>
              <a:buNone/>
            </a:pPr>
            <a:r>
              <a:rPr lang="zh-TW" sz="4400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Any question？</a:t>
            </a:r>
            <a:endParaRPr/>
          </a:p>
        </p:txBody>
      </p:sp>
      <p:sp>
        <p:nvSpPr>
          <p:cNvPr id="947" name="Google Shape;947;p75"/>
          <p:cNvSpPr/>
          <p:nvPr/>
        </p:nvSpPr>
        <p:spPr>
          <a:xfrm>
            <a:off x="0" y="6593840"/>
            <a:ext cx="12192000" cy="26416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8819</Words>
  <Application>Microsoft Office PowerPoint</Application>
  <PresentationFormat>寬螢幕</PresentationFormat>
  <Paragraphs>780</Paragraphs>
  <Slides>82</Slides>
  <Notes>82</Notes>
  <HiddenSlides>2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82</vt:i4>
      </vt:variant>
    </vt:vector>
  </HeadingPairs>
  <TitlesOfParts>
    <vt:vector size="92" baseType="lpstr">
      <vt:lpstr>Microsoft JhengHei</vt:lpstr>
      <vt:lpstr>Arial Black</vt:lpstr>
      <vt:lpstr>Noto Sans Symbols</vt:lpstr>
      <vt:lpstr>Times New Roman</vt:lpstr>
      <vt:lpstr>Golos Text</vt:lpstr>
      <vt:lpstr>Roboto</vt:lpstr>
      <vt:lpstr>DFKai-SB</vt:lpstr>
      <vt:lpstr>Noto Sans TC</vt:lpstr>
      <vt:lpstr>Arial</vt:lpstr>
      <vt:lpstr>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Chih_Wen Fan</cp:lastModifiedBy>
  <cp:revision>1</cp:revision>
  <dcterms:modified xsi:type="dcterms:W3CDTF">2026-09-17T22:50:54Z</dcterms:modified>
</cp:coreProperties>
</file>