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</p:sldIdLst>
  <p:sldSz cy="6858000" cx="12192000"/>
  <p:notesSz cx="6858000" cy="9144000"/>
  <p:embeddedFontLst>
    <p:embeddedFont>
      <p:font typeface="Golos Text"/>
      <p:regular r:id="rId74"/>
      <p:bold r:id="rId75"/>
    </p:embeddedFont>
    <p:embeddedFont>
      <p:font typeface="Roboto"/>
      <p:regular r:id="rId76"/>
      <p:bold r:id="rId77"/>
      <p:italic r:id="rId78"/>
      <p:boldItalic r:id="rId79"/>
    </p:embeddedFont>
    <p:embeddedFont>
      <p:font typeface="Noto Sans TC"/>
      <p:regular r:id="rId80"/>
      <p:bold r:id="rId8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80" Type="http://schemas.openxmlformats.org/officeDocument/2006/relationships/font" Target="fonts/NotoSansTC-regular.fntdata"/><Relationship Id="rId81" Type="http://schemas.openxmlformats.org/officeDocument/2006/relationships/font" Target="fonts/NotoSansTC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font" Target="fonts/GolosText-bold.fntdata"/><Relationship Id="rId30" Type="http://schemas.openxmlformats.org/officeDocument/2006/relationships/slide" Target="slides/slide26.xml"/><Relationship Id="rId74" Type="http://schemas.openxmlformats.org/officeDocument/2006/relationships/font" Target="fonts/GolosText-regular.fntdata"/><Relationship Id="rId33" Type="http://schemas.openxmlformats.org/officeDocument/2006/relationships/slide" Target="slides/slide29.xml"/><Relationship Id="rId77" Type="http://schemas.openxmlformats.org/officeDocument/2006/relationships/font" Target="fonts/Roboto-bold.fntdata"/><Relationship Id="rId32" Type="http://schemas.openxmlformats.org/officeDocument/2006/relationships/slide" Target="slides/slide28.xml"/><Relationship Id="rId76" Type="http://schemas.openxmlformats.org/officeDocument/2006/relationships/font" Target="fonts/Roboto-regular.fntdata"/><Relationship Id="rId35" Type="http://schemas.openxmlformats.org/officeDocument/2006/relationships/slide" Target="slides/slide31.xml"/><Relationship Id="rId79" Type="http://schemas.openxmlformats.org/officeDocument/2006/relationships/font" Target="fonts/Roboto-boldItalic.fntdata"/><Relationship Id="rId34" Type="http://schemas.openxmlformats.org/officeDocument/2006/relationships/slide" Target="slides/slide30.xml"/><Relationship Id="rId78" Type="http://schemas.openxmlformats.org/officeDocument/2006/relationships/font" Target="fonts/Roboto-italic.fntdata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9f93969b8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79f93969b8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79f93969b8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9e7ae5223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f9e7ae5223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f9e7ae5223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872dfcdfe7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2872dfcdfe7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2872dfcdfe7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872dfcdfe7_3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2872dfcdfe7_3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2872dfcdfe7_3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9f5ffd6c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f9f5ffd6c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f9f5ffd6c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872dfcdfe7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g2872dfcdfe7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2872dfcdfe7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872dfcdfe7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2872dfcdfe7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2872dfcdfe7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872dfcdfe7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g2872dfcdfe7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2872dfcdfe7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872dfcdfe7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g2872dfcdfe7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g2872dfcdfe7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872dfcdfe7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g2872dfcdfe7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g2872dfcdfe7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8a4cebde5e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38a4cebde5e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g38a4cebde5e_0_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8a4cebde5e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g38a4cebde5e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8a4cebde5e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409f7c21d5f_1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g409f7c21d5f_1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g409f7c21d5f_1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409f7c21d5f_1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g409f7c21d5f_1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409f7c21d5f_1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409f7c21d5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g409f7c21d5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g409f7c21d5f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409f7c21d5f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g409f7c21d5f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g409f7c21d5f_1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409f7c21d5f_1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g409f7c21d5f_1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g409f7c21d5f_1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8a4cebde5e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g38a4cebde5e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g38a4cebde5e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8a4cebde5e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8" name="Google Shape;688;g38a4cebde5e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g38a4cebde5e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8a4cebde5e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g38a4cebde5e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g38a4cebde5e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5" name="Google Shape;70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4" name="Google Shape;71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28924afeb34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6" name="Google Shape;726;g28924afeb34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g28924afeb34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8924afeb34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9" name="Google Shape;739;g28924afeb34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g28924afeb34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3" name="Google Shape;75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5" name="Google Shape;76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872dfcdfe7_4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5" name="Google Shape;775;g2872dfcdfe7_4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g2872dfcdfe7_4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3" name="Google Shape;78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3" name="Google Shape;79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4" name="Google Shape;80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872dfcdfe7_3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4" name="Google Shape;814;g2872dfcdfe7_3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g2872dfcdfe7_3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2ff61de19c9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4" name="Google Shape;824;g2ff61de19c9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g2ff61de19c9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2ff61de19c9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" name="Google Shape;833;g2ff61de19c9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g2ff61de19c9_0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ff61de19c9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2" name="Google Shape;842;g2ff61de19c9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g2ff61de19c9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2ff61de19c9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1" name="Google Shape;851;g2ff61de19c9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g2ff61de19c9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ff61de19c9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0" name="Google Shape;860;g2ff61de19c9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g2ff61de19c9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ff61de19c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0" name="Google Shape;870;g2ff61de19c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g2ff61de19c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2ff61de19c9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9" name="Google Shape;879;g2ff61de19c9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g2ff61de19c9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2ff61de19c9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g2ff61de19c9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g2ff61de19c9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2ff61de19c9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7" name="Google Shape;897;g2ff61de19c9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g2ff61de19c9_0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7" name="Google Shape;90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ff61de19c9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7" name="Google Shape;917;g2ff61de19c9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g2ff61de19c9_0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8a9b5f077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7" name="Google Shape;927;g38a9b5f077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g38a9b5f077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8" name="Google Shape;93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>
  <p:cSld name="标题和内容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 rot="5400000">
            <a:off x="251050" y="-251051"/>
            <a:ext cx="729204" cy="1231306"/>
          </a:xfrm>
          <a:custGeom>
            <a:rect b="b" l="l" r="r" t="t"/>
            <a:pathLst>
              <a:path extrusionOk="0" h="1231306" w="729204">
                <a:moveTo>
                  <a:pt x="0" y="1231306"/>
                </a:moveTo>
                <a:lnTo>
                  <a:pt x="0" y="0"/>
                </a:lnTo>
                <a:lnTo>
                  <a:pt x="729204" y="1231306"/>
                </a:lnTo>
                <a:close/>
              </a:path>
            </a:pathLst>
          </a:custGeom>
          <a:solidFill>
            <a:srgbClr val="E0EF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0" y="6609144"/>
            <a:ext cx="12192000" cy="248856"/>
          </a:xfrm>
          <a:prstGeom prst="rect">
            <a:avLst/>
          </a:prstGeom>
          <a:solidFill>
            <a:srgbClr val="F1D5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"/>
          <p:cNvSpPr/>
          <p:nvPr/>
        </p:nvSpPr>
        <p:spPr>
          <a:xfrm rot="-1800000">
            <a:off x="21470" y="632339"/>
            <a:ext cx="659692" cy="123743"/>
          </a:xfrm>
          <a:prstGeom prst="roundRect">
            <a:avLst>
              <a:gd fmla="val 50000" name="adj"/>
            </a:avLst>
          </a:prstGeom>
          <a:solidFill>
            <a:srgbClr val="F1D5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>
  <p:cSld name="节标题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项内容">
  <p:cSld name="两项内容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标题幻灯片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reurl.cc/jvMAb1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ehanlin.com.tw/app/keyword/%E5%9C%8B%E4%B8%AD/%E7%90%86%E5%8C%96/%E8%AE%8A%E5%9B%A0.html" TargetMode="External"/><Relationship Id="rId4" Type="http://schemas.openxmlformats.org/officeDocument/2006/relationships/hyperlink" Target="https://www.ehanlin.com.tw/app/keyword/%E5%9C%8B%E4%B8%AD/%E7%90%86%E5%8C%96/%E8%AE%8A%E5%9B%A0.html" TargetMode="External"/><Relationship Id="rId10" Type="http://schemas.openxmlformats.org/officeDocument/2006/relationships/hyperlink" Target="https://www.ehanlin.com.tw/app/keyword/%E5%9C%8B%E4%B8%AD/%E7%90%86%E5%8C%96/%E8%AE%8A%E5%9B%A0.html" TargetMode="External"/><Relationship Id="rId9" Type="http://schemas.openxmlformats.org/officeDocument/2006/relationships/hyperlink" Target="https://www.ehanlin.com.tw/app/keyword/%E5%9C%8B%E4%B8%AD/%E7%90%86%E5%8C%96/%E8%AE%8A%E5%9B%A0.html" TargetMode="External"/><Relationship Id="rId5" Type="http://schemas.openxmlformats.org/officeDocument/2006/relationships/hyperlink" Target="https://www.ehanlin.com.tw/app/keyword/%E5%9C%8B%E4%B8%AD/%E7%90%86%E5%8C%96/%E8%AE%8A%E5%9B%A0.html" TargetMode="External"/><Relationship Id="rId6" Type="http://schemas.openxmlformats.org/officeDocument/2006/relationships/hyperlink" Target="https://www.ehanlin.com.tw/app/keyword/%E5%9C%8B%E4%B8%AD/%E7%90%86%E5%8C%96/%E8%AE%8A%E5%9B%A0.html" TargetMode="External"/><Relationship Id="rId7" Type="http://schemas.openxmlformats.org/officeDocument/2006/relationships/hyperlink" Target="https://www.ehanlin.com.tw/app/keyword/%E5%9C%8B%E4%B8%AD/%E7%90%86%E5%8C%96/%E8%AE%8A%E5%9B%A0.html" TargetMode="External"/><Relationship Id="rId8" Type="http://schemas.openxmlformats.org/officeDocument/2006/relationships/hyperlink" Target="https://www.ehanlin.com.tw/app/keyword/%E5%9C%8B%E4%B8%AD/%E7%90%86%E5%8C%96/%E8%AE%8A%E5%9B%A0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5.png"/><Relationship Id="rId4" Type="http://schemas.openxmlformats.org/officeDocument/2006/relationships/image" Target="../media/image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reurl.cc/y6y608" TargetMode="External"/><Relationship Id="rId4" Type="http://schemas.openxmlformats.org/officeDocument/2006/relationships/hyperlink" Target="https://vocus.cc/article/5e3c1ec2fd897800013ae05c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aoPhMd9JuQk" TargetMode="External"/><Relationship Id="rId5" Type="http://schemas.openxmlformats.org/officeDocument/2006/relationships/image" Target="../media/image27.png"/><Relationship Id="rId6" Type="http://schemas.openxmlformats.org/officeDocument/2006/relationships/hyperlink" Target="https://www.youtube.com/watch?v=dTrPShwe8fI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pubmed.ncbi.nlm.nih.gov/" TargetMode="External"/><Relationship Id="rId4" Type="http://schemas.openxmlformats.org/officeDocument/2006/relationships/hyperlink" Target="https://journals.aps.org/" TargetMode="External"/><Relationship Id="rId5" Type="http://schemas.openxmlformats.org/officeDocument/2006/relationships/hyperlink" Target="https://reurl.cc/qvrr7N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9.png"/><Relationship Id="rId4" Type="http://schemas.openxmlformats.org/officeDocument/2006/relationships/image" Target="../media/image4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5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8.png"/><Relationship Id="rId4" Type="http://schemas.openxmlformats.org/officeDocument/2006/relationships/image" Target="../media/image28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9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4.png"/><Relationship Id="rId4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/>
          <p:nvPr/>
        </p:nvSpPr>
        <p:spPr>
          <a:xfrm>
            <a:off x="0" y="0"/>
            <a:ext cx="4359317" cy="6858000"/>
          </a:xfrm>
          <a:custGeom>
            <a:rect b="b" l="l" r="r" t="t"/>
            <a:pathLst>
              <a:path extrusionOk="0" h="6858000" w="4359317">
                <a:moveTo>
                  <a:pt x="297872" y="0"/>
                </a:moveTo>
                <a:lnTo>
                  <a:pt x="0" y="0"/>
                </a:lnTo>
                <a:lnTo>
                  <a:pt x="0" y="6858000"/>
                </a:lnTo>
                <a:lnTo>
                  <a:pt x="4359317" y="6858000"/>
                </a:lnTo>
                <a:close/>
              </a:path>
            </a:pathLst>
          </a:custGeom>
          <a:solidFill>
            <a:srgbClr val="E0EF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7"/>
          <p:cNvSpPr/>
          <p:nvPr/>
        </p:nvSpPr>
        <p:spPr>
          <a:xfrm>
            <a:off x="0" y="5486400"/>
            <a:ext cx="12192000" cy="1371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7"/>
          <p:cNvSpPr/>
          <p:nvPr/>
        </p:nvSpPr>
        <p:spPr>
          <a:xfrm>
            <a:off x="11222253" y="607154"/>
            <a:ext cx="591183" cy="591183"/>
          </a:xfrm>
          <a:prstGeom prst="donut">
            <a:avLst>
              <a:gd fmla="val 12646" name="adj"/>
            </a:avLst>
          </a:prstGeom>
          <a:solidFill>
            <a:srgbClr val="E0EF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7"/>
          <p:cNvSpPr/>
          <p:nvPr/>
        </p:nvSpPr>
        <p:spPr>
          <a:xfrm>
            <a:off x="629920" y="5257800"/>
            <a:ext cx="2326640" cy="457200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7"/>
          <p:cNvSpPr txBox="1"/>
          <p:nvPr/>
        </p:nvSpPr>
        <p:spPr>
          <a:xfrm>
            <a:off x="0" y="535907"/>
            <a:ext cx="12201785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探究與實作 課程簡介</a:t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Natural Science: Inquiry and Practice</a:t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" name="Google Shape;28;p7"/>
          <p:cNvSpPr txBox="1"/>
          <p:nvPr/>
        </p:nvSpPr>
        <p:spPr>
          <a:xfrm>
            <a:off x="5854632" y="2420747"/>
            <a:ext cx="58644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4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國立嘉義高中</a:t>
            </a:r>
            <a:endParaRPr b="1" i="0" sz="4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物理科 樊志文</a:t>
            </a:r>
            <a:r>
              <a:rPr b="1" i="0" lang="zh-TW" sz="4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老師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4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生物科 蕭伊岑老師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34" name="Google Shape;34;p8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DFKai-SB"/>
              <a:buNone/>
            </a:pPr>
            <a:r>
              <a:rPr b="0" i="0" lang="zh-TW" sz="4400" u="none" cap="none" strike="noStrik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何為探究實作？</a:t>
            </a:r>
            <a:endParaRPr b="0" i="0" sz="4400" u="none" cap="none" strike="noStrike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35" name="Google Shape;35;p8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Google Shape;36;p8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8"/>
          <p:cNvPicPr preferRelativeResize="0"/>
          <p:nvPr/>
        </p:nvPicPr>
        <p:blipFill rotWithShape="1">
          <a:blip r:embed="rId3">
            <a:alphaModFix/>
          </a:blip>
          <a:srcRect b="0" l="0" r="0" t="24396"/>
          <a:stretch/>
        </p:blipFill>
        <p:spPr>
          <a:xfrm>
            <a:off x="1700530" y="1085632"/>
            <a:ext cx="9563100" cy="4335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43" name="Google Shape;43;p9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DFKai-SB"/>
              <a:buNone/>
            </a:pPr>
            <a:r>
              <a:rPr b="0" i="0" lang="zh-TW" sz="4400" u="none" cap="none" strike="noStrik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本學期課程架構流程</a:t>
            </a:r>
            <a:endParaRPr b="0" i="0" sz="4400" u="none" cap="none" strike="noStrike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44" name="Google Shape;44;p9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" name="Google Shape;45;p9"/>
          <p:cNvPicPr preferRelativeResize="0"/>
          <p:nvPr/>
        </p:nvPicPr>
        <p:blipFill rotWithShape="1">
          <a:blip r:embed="rId3">
            <a:alphaModFix/>
          </a:blip>
          <a:srcRect b="0" l="0" r="0" t="15263"/>
          <a:stretch/>
        </p:blipFill>
        <p:spPr>
          <a:xfrm>
            <a:off x="941070" y="1665171"/>
            <a:ext cx="10515600" cy="39594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"/>
          <p:cNvSpPr txBox="1"/>
          <p:nvPr/>
        </p:nvSpPr>
        <p:spPr>
          <a:xfrm>
            <a:off x="1442720" y="2580640"/>
            <a:ext cx="1371600" cy="584775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6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勇者的基石</a:t>
            </a:r>
            <a:endParaRPr b="0" i="0" sz="1600" u="none" cap="none" strike="noStrik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600" u="none" cap="none" strike="noStrik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(Excel)</a:t>
            </a:r>
            <a:endParaRPr b="0" i="0" sz="1600" u="none" cap="none" strike="noStrik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47" name="Google Shape;47;p9"/>
          <p:cNvSpPr txBox="1"/>
          <p:nvPr/>
        </p:nvSpPr>
        <p:spPr>
          <a:xfrm>
            <a:off x="8360025" y="2703678"/>
            <a:ext cx="2565900" cy="338700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色層分析</a:t>
            </a:r>
            <a:endParaRPr b="0" i="0" sz="1600" u="none" cap="none" strike="noStrik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53" name="Google Shape;53;p10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b="0" i="0" lang="zh-TW" sz="4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分組說明</a:t>
            </a:r>
            <a:endParaRPr/>
          </a:p>
        </p:txBody>
      </p:sp>
      <p:sp>
        <p:nvSpPr>
          <p:cNvPr id="54" name="Google Shape;54;p10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0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0"/>
          <p:cNvSpPr txBox="1"/>
          <p:nvPr/>
        </p:nvSpPr>
        <p:spPr>
          <a:xfrm>
            <a:off x="1508260" y="1536194"/>
            <a:ext cx="9399000" cy="37856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1.採用分組合作學習，一同努力以達到共同設定的目標。</a:t>
            </a:r>
            <a:endParaRPr b="0" i="0" sz="3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2.配合學校教室的硬體資源限制，每組學生4人分組，請以2人為單位，找尋你的夥伴，並找老師登記</a:t>
            </a:r>
            <a:endParaRPr b="0" i="0" sz="3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3.組別可因實驗不同而做重新分配</a:t>
            </a:r>
            <a:endParaRPr b="0" i="0" sz="3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62" name="Google Shape;62;p11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b="1" i="0" lang="zh-TW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評分標準</a:t>
            </a:r>
            <a:endParaRPr b="0" i="0" sz="4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838199" y="1398046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總成績為各主題成績之平均</a:t>
            </a:r>
            <a:endParaRPr b="0" i="0" sz="3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例：本學期兩大主題，則每一主題占50%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本學期三大主題，則每一主題占33.3%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成績來源：</a:t>
            </a: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作業</a:t>
            </a: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(科學筆記本、平台作業)、上台發表、學習態度</a:t>
            </a: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(課堂表現)</a:t>
            </a:r>
            <a:endParaRPr b="0" i="0" sz="3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上課回答問題 </a:t>
            </a:r>
            <a:r>
              <a:rPr b="0" i="0" lang="zh-TW" sz="32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每次加平時成績1分</a:t>
            </a:r>
            <a:endParaRPr/>
          </a:p>
        </p:txBody>
      </p:sp>
      <p:sp>
        <p:nvSpPr>
          <p:cNvPr id="64" name="Google Shape;64;p1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70" name="Google Shape;70;p12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b="1" i="0" lang="zh-TW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評分標準</a:t>
            </a:r>
            <a:endParaRPr b="0" i="0" sz="4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1" name="Google Shape;71;p12"/>
          <p:cNvSpPr txBox="1"/>
          <p:nvPr/>
        </p:nvSpPr>
        <p:spPr>
          <a:xfrm>
            <a:off x="838199" y="1398046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總成績為各主題成績之平均</a:t>
            </a:r>
            <a:endParaRPr b="0" i="0" sz="3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例：本學期兩大主題，則每一主題占50%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本學期三大主題，則每一主題占33.3%</a:t>
            </a:r>
            <a:endParaRPr/>
          </a:p>
          <a:p>
            <a:pPr indent="-228600" lvl="0" marL="22860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成績來源：(科學筆記本、平台作業)40</a:t>
            </a: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%</a:t>
            </a: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、上台發表40</a:t>
            </a: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%</a:t>
            </a: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、(同學互評、學習態度)20</a:t>
            </a: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%</a:t>
            </a:r>
            <a:endParaRPr b="0" i="0" sz="3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上課回答問題 </a:t>
            </a:r>
            <a:r>
              <a:rPr b="0" i="0" lang="zh-TW" sz="32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每次加平時成績1分，累積5分以上加總平均1分</a:t>
            </a:r>
            <a:endParaRPr/>
          </a:p>
        </p:txBody>
      </p:sp>
      <p:sp>
        <p:nvSpPr>
          <p:cNvPr id="72" name="Google Shape;72;p12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78" name="Google Shape;78;p13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990600" y="1512771"/>
            <a:ext cx="10515601" cy="3767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實驗室飲食(包含吃&amp;喝)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攜帶食物進入實驗室</a:t>
            </a:r>
            <a:endParaRPr b="0" i="0" sz="3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未遵守實驗室安全守則(經勸阻不聽)</a:t>
            </a:r>
            <a:endParaRPr b="0" i="0" sz="3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操作傷害自己與同學的實驗</a:t>
            </a:r>
            <a:endParaRPr b="0" i="0" sz="3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作業或報告缺繳以致無法及格</a:t>
            </a:r>
            <a:endParaRPr b="0" i="0" sz="3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報告抄襲</a:t>
            </a:r>
            <a:endParaRPr/>
          </a:p>
        </p:txBody>
      </p:sp>
      <p:sp>
        <p:nvSpPr>
          <p:cNvPr descr="畫布" id="82" name="Google Shape;82;p13"/>
          <p:cNvSpPr txBox="1"/>
          <p:nvPr/>
        </p:nvSpPr>
        <p:spPr>
          <a:xfrm>
            <a:off x="990600" y="3254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b="0" i="0" lang="zh-TW" sz="4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總成績38分</a:t>
            </a:r>
            <a:endParaRPr b="0" i="0" sz="4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8598900" y="2434425"/>
            <a:ext cx="2754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3000"/>
              <a:buFont typeface="Microsoft JhengHei"/>
              <a:buNone/>
            </a:pPr>
            <a:r>
              <a:rPr b="0" i="0" lang="zh-TW" sz="3000" u="none" cap="none" strike="noStrike">
                <a:solidFill>
                  <a:srgbClr val="EA433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不用懷疑就是連補考的機會都沒有！！！</a:t>
            </a:r>
            <a:endParaRPr b="0" i="0" sz="1200" u="none" cap="none" strike="noStrike">
              <a:solidFill>
                <a:srgbClr val="EA433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89" name="Google Shape;89;p14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990600" y="1512771"/>
            <a:ext cx="10515600" cy="3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需要兩位認真負責的帥哥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視課程需求於上課前推平板車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幫忙提醒上課注意事項如至實驗室上課或帶實驗衣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期末各兩支嘉獎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descr="畫布" id="93" name="Google Shape;93;p14"/>
          <p:cNvSpPr txBox="1"/>
          <p:nvPr/>
        </p:nvSpPr>
        <p:spPr>
          <a:xfrm>
            <a:off x="990600" y="3254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選小老師</a:t>
            </a:r>
            <a:endParaRPr b="0" i="0" sz="4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8598900" y="2434425"/>
            <a:ext cx="275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3000"/>
              <a:buFont typeface="Microsoft JhengHei"/>
              <a:buNone/>
            </a:pPr>
            <a:r>
              <a:t/>
            </a:r>
            <a:endParaRPr b="0" i="0" sz="1200" u="none" cap="none" strike="noStrike">
              <a:solidFill>
                <a:srgbClr val="EA433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956050" y="2957650"/>
            <a:ext cx="678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101" name="Google Shape;101;p15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b="0" i="0" lang="zh-TW" sz="4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任務一：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1396500" y="1712250"/>
            <a:ext cx="9399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zh-TW" sz="2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找好你的夥伴，並以100字左右介紹對方(兩人夥伴)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zh-TW" sz="2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抽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r>
              <a:rPr b="0" i="0" lang="zh-TW" sz="2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組上台分享</a:t>
            </a:r>
            <a:endParaRPr b="0" i="0" sz="2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b="0" i="0" lang="zh-TW" sz="2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將作業上傳至Classroom，截止時間：9/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r>
              <a:rPr b="0" i="0" lang="zh-TW" sz="2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晚上11:59</a:t>
            </a:r>
            <a:endParaRPr b="0" i="0" sz="2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110" name="Google Shape;110;p16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b="0" i="0" lang="zh-TW" sz="4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b="0" i="0" sz="4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p16"/>
          <p:cNvGrpSpPr/>
          <p:nvPr/>
        </p:nvGrpSpPr>
        <p:grpSpPr>
          <a:xfrm>
            <a:off x="1106169" y="3495824"/>
            <a:ext cx="9979659" cy="559549"/>
            <a:chOff x="1038860" y="2061829"/>
            <a:chExt cx="9979659" cy="559549"/>
          </a:xfrm>
        </p:grpSpPr>
        <p:sp>
          <p:nvSpPr>
            <p:cNvPr id="114" name="Google Shape;114;p16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cap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6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16"/>
          <p:cNvSpPr txBox="1"/>
          <p:nvPr/>
        </p:nvSpPr>
        <p:spPr>
          <a:xfrm>
            <a:off x="1012189" y="6199770"/>
            <a:ext cx="84124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strike="noStrike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高中生都要學的探究與實作，與實驗課有何差別？</a:t>
            </a:r>
            <a:r>
              <a:rPr b="0" i="0" lang="zh-TW" sz="1800" u="sng" strike="noStrike">
                <a:solidFill>
                  <a:srgbClr val="1155CC"/>
                </a:solidFill>
                <a:latin typeface="Golos Text"/>
                <a:ea typeface="Golos Text"/>
                <a:cs typeface="Golos Text"/>
                <a:sym typeface="Golos Tex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https://reurl.cc/jvMAb1</a:t>
            </a:r>
            <a:endParaRPr b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2934969" y="1760710"/>
            <a:ext cx="6096000" cy="906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lang="zh-TW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探</a:t>
            </a:r>
            <a:r>
              <a:rPr lang="zh-TW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討 研</a:t>
            </a:r>
            <a:r>
              <a:rPr lang="zh-TW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究 </a:t>
            </a:r>
            <a:r>
              <a:rPr lang="zh-TW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與 </a:t>
            </a:r>
            <a:r>
              <a:rPr lang="zh-TW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</a:t>
            </a:r>
            <a:r>
              <a:rPr lang="zh-TW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際操</a:t>
            </a:r>
            <a:r>
              <a:rPr lang="zh-TW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作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128" name="Google Shape;128;p17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DFKai-SB"/>
              <a:buNone/>
            </a:pPr>
            <a:r>
              <a:rPr lang="zh-TW" sz="4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何為探究實作？</a:t>
            </a:r>
            <a:endParaRPr sz="44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1021075" y="1269875"/>
            <a:ext cx="10727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一種以學生為中心的學習方法，強調通過提出問題、進行觀察、實驗和分析來主動探索知識。探究實作鼓勵學生積極參與學習過程，</a:t>
            </a:r>
            <a:r>
              <a:rPr lang="zh-TW" sz="2400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培養批判性思維、問題解決能力和自主學習的能力</a:t>
            </a: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。這種方法通常包括以下步驟：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1168398" y="3627048"/>
            <a:ext cx="10810200" cy="23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提出問題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：學生根據</a:t>
            </a:r>
            <a:r>
              <a:rPr b="0" i="0" lang="zh-TW" sz="24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觀察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</a:t>
            </a:r>
            <a:r>
              <a:rPr b="0" i="0" lang="zh-TW" sz="24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經驗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提出感興趣的</a:t>
            </a:r>
            <a:r>
              <a:rPr b="0" i="0" lang="zh-TW" sz="24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問題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收集資料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：通過閱讀、調查或實驗收集相關資料。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提出假設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：根據已有的知識和收集的資料，學生對問題的可能答案提出假設。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進行實驗或調查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：設計並執行實驗或進行深入調查來檢驗假設。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分析結果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：對實驗或調查的結果進行分析，得出結論。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分享結果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：學生將他們的發現與同學或教師分享，進行討論和反思。 </a:t>
            </a:r>
            <a:endParaRPr/>
          </a:p>
        </p:txBody>
      </p:sp>
      <p:grpSp>
        <p:nvGrpSpPr>
          <p:cNvPr id="133" name="Google Shape;133;p17"/>
          <p:cNvGrpSpPr/>
          <p:nvPr/>
        </p:nvGrpSpPr>
        <p:grpSpPr>
          <a:xfrm>
            <a:off x="1168398" y="2704891"/>
            <a:ext cx="9979659" cy="559549"/>
            <a:chOff x="1038860" y="2061829"/>
            <a:chExt cx="9979659" cy="559549"/>
          </a:xfrm>
        </p:grpSpPr>
        <p:sp>
          <p:nvSpPr>
            <p:cNvPr id="134" name="Google Shape;134;p17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rgbClr val="FF0000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7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146" name="Google Shape;146;p18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DFKai-SB"/>
              <a:buNone/>
            </a:pPr>
            <a:r>
              <a:rPr lang="zh-TW" sz="4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何為探究實作？</a:t>
            </a:r>
            <a:endParaRPr sz="44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1168398" y="3627048"/>
            <a:ext cx="1081024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提出問題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：學生根據觀察或經驗提出感興趣的問題。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收集資料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：通過閱讀、調查或實驗</a:t>
            </a:r>
            <a:r>
              <a:rPr b="0" i="0" lang="zh-TW" sz="24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收集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相關資料。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提出假設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r>
              <a:rPr b="0" i="0" lang="zh-TW" sz="24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根據已有的知識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和收集的資料，學生對問題的可能答案</a:t>
            </a:r>
            <a:r>
              <a:rPr b="0" i="0" lang="zh-TW" sz="24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提出假設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進行實驗或調查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：設計並執行實驗或進行深入調查來檢驗假設。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分析結果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：對實驗或調查的結果進行分析，得出結論。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分享結果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：學生將他們的發現與同學或教師分享，進行討論和反思。 </a:t>
            </a:r>
            <a:endParaRPr/>
          </a:p>
        </p:txBody>
      </p:sp>
      <p:grpSp>
        <p:nvGrpSpPr>
          <p:cNvPr id="150" name="Google Shape;150;p18"/>
          <p:cNvGrpSpPr/>
          <p:nvPr/>
        </p:nvGrpSpPr>
        <p:grpSpPr>
          <a:xfrm>
            <a:off x="1262378" y="2722828"/>
            <a:ext cx="9979659" cy="559549"/>
            <a:chOff x="1038860" y="2061829"/>
            <a:chExt cx="9979659" cy="559549"/>
          </a:xfrm>
        </p:grpSpPr>
        <p:sp>
          <p:nvSpPr>
            <p:cNvPr id="151" name="Google Shape;151;p18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rgbClr val="FF0000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" name="Google Shape;158;p18"/>
          <p:cNvSpPr txBox="1"/>
          <p:nvPr/>
        </p:nvSpPr>
        <p:spPr>
          <a:xfrm>
            <a:off x="1021077" y="1269882"/>
            <a:ext cx="1022096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一種以學生為中心的學習方法，強調通過提出問題、進行觀察、實驗和分析來主動探索知識。探究實作鼓勵學生積極參與學習過程，</a:t>
            </a:r>
            <a:r>
              <a:rPr lang="zh-TW" sz="2400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培養批判性思維、問題解決能力和自主學習的能力</a:t>
            </a: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。這種方法通常包括以下步驟：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164" name="Google Shape;164;p19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DFKai-SB"/>
              <a:buNone/>
            </a:pPr>
            <a:r>
              <a:rPr lang="zh-TW" sz="4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何為探究實作？</a:t>
            </a:r>
            <a:endParaRPr sz="44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1168398" y="3627048"/>
            <a:ext cx="1081024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提出問題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：學生根據觀察或經驗提出感興趣的問題。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收集資料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：通過閱讀、調查或實驗收集相關資料。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提出假設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：根據已有的知識和收集的資料，學生對問題的可能答案提出假設。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進行實驗或調查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：設計並</a:t>
            </a:r>
            <a:r>
              <a:rPr b="0" i="0" lang="zh-TW" sz="24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執行實驗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或進行深入調查來</a:t>
            </a:r>
            <a:r>
              <a:rPr b="0" i="0" lang="zh-TW" sz="24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檢驗假設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分析結果</a:t>
            </a:r>
            <a:r>
              <a:rPr b="0" i="0" lang="zh-TW" sz="24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對實驗或調查的結果進行分析，</a:t>
            </a:r>
            <a:r>
              <a:rPr b="0" i="0" lang="zh-TW" sz="24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得出結論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分享結果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：學生將他們的發現與同學或教師分享，進行討論和反思。 </a:t>
            </a:r>
            <a:endParaRPr/>
          </a:p>
        </p:txBody>
      </p:sp>
      <p:grpSp>
        <p:nvGrpSpPr>
          <p:cNvPr id="168" name="Google Shape;168;p19"/>
          <p:cNvGrpSpPr/>
          <p:nvPr/>
        </p:nvGrpSpPr>
        <p:grpSpPr>
          <a:xfrm>
            <a:off x="1262378" y="2722828"/>
            <a:ext cx="9979659" cy="559549"/>
            <a:chOff x="1038860" y="2061829"/>
            <a:chExt cx="9979659" cy="559549"/>
          </a:xfrm>
        </p:grpSpPr>
        <p:sp>
          <p:nvSpPr>
            <p:cNvPr id="169" name="Google Shape;169;p19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9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9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19"/>
          <p:cNvSpPr txBox="1"/>
          <p:nvPr/>
        </p:nvSpPr>
        <p:spPr>
          <a:xfrm>
            <a:off x="1021077" y="1269882"/>
            <a:ext cx="1022096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一種以學生為中心的學習方法，強調通過提出問題、進行觀察、實驗和分析來主動探索知識。探究實作鼓勵學生積極參與學習過程，</a:t>
            </a:r>
            <a:r>
              <a:rPr lang="zh-TW" sz="2400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培養批判性思維、問題解決能力和自主學習的能力</a:t>
            </a: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。這種方法通常包括以下步驟：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182" name="Google Shape;182;p20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DFKai-SB"/>
              <a:buNone/>
            </a:pPr>
            <a:r>
              <a:rPr lang="zh-TW" sz="4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何為探究實作？</a:t>
            </a:r>
            <a:endParaRPr sz="44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1168398" y="3627048"/>
            <a:ext cx="1081024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提出問題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：學生根據觀察或經驗提出感興趣的問題。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收集資料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：通過閱讀、調查或實驗收集相關資料。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提出假設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：根據已有的知識和收集的資料，學生對問題的可能答案提出假設。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進行實驗或調查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：設計並執行實驗或進行深入調查來檢驗假設。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分析結果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：對實驗或調查的結果進行分析，得出結論。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icrosoft JhengHei"/>
              <a:buChar char="•"/>
            </a:pPr>
            <a:r>
              <a:rPr b="1" i="0" lang="zh-TW" sz="24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分享結果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：學生將他們的發現與同學或教師分享，</a:t>
            </a:r>
            <a:r>
              <a:rPr b="0" i="0" lang="zh-TW" sz="24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進行討論和反思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 </a:t>
            </a:r>
            <a:endParaRPr/>
          </a:p>
        </p:txBody>
      </p:sp>
      <p:grpSp>
        <p:nvGrpSpPr>
          <p:cNvPr id="186" name="Google Shape;186;p20"/>
          <p:cNvGrpSpPr/>
          <p:nvPr/>
        </p:nvGrpSpPr>
        <p:grpSpPr>
          <a:xfrm>
            <a:off x="1262378" y="2722828"/>
            <a:ext cx="9979659" cy="559549"/>
            <a:chOff x="1038860" y="2061829"/>
            <a:chExt cx="9979659" cy="559549"/>
          </a:xfrm>
        </p:grpSpPr>
        <p:sp>
          <p:nvSpPr>
            <p:cNvPr id="187" name="Google Shape;187;p20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rgbClr val="FF0000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" name="Google Shape;194;p20"/>
          <p:cNvSpPr txBox="1"/>
          <p:nvPr/>
        </p:nvSpPr>
        <p:spPr>
          <a:xfrm>
            <a:off x="1021077" y="1269882"/>
            <a:ext cx="1022096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一種以學生為中心的學習方法，強調通過提出問題、進行觀察、實驗和分析來主動探索知識。探究實作鼓勵學生積極參與學習過程，</a:t>
            </a:r>
            <a:r>
              <a:rPr lang="zh-TW" sz="2400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培養批判性思維、問題解決能力和自主學習的能力</a:t>
            </a: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。這種方法通常包括以下步驟：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200" name="Google Shape;200;p21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21"/>
          <p:cNvGrpSpPr/>
          <p:nvPr/>
        </p:nvGrpSpPr>
        <p:grpSpPr>
          <a:xfrm>
            <a:off x="1909424" y="2942872"/>
            <a:ext cx="8226428" cy="2142233"/>
            <a:chOff x="1038859" y="2188392"/>
            <a:chExt cx="8226428" cy="2142233"/>
          </a:xfrm>
        </p:grpSpPr>
        <p:sp>
          <p:nvSpPr>
            <p:cNvPr id="204" name="Google Shape;204;p21"/>
            <p:cNvSpPr txBox="1"/>
            <p:nvPr/>
          </p:nvSpPr>
          <p:spPr>
            <a:xfrm>
              <a:off x="1038859" y="2866918"/>
              <a:ext cx="740589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zh-TW" sz="240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 </a:t>
              </a:r>
              <a:r>
                <a:rPr b="0" i="0" lang="zh-TW" sz="2400">
                  <a:solidFill>
                    <a:schemeClr val="accent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觀察→提出問題</a:t>
              </a:r>
              <a:r>
                <a:rPr b="0" i="0" lang="zh-TW" sz="240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 </a:t>
              </a:r>
              <a:r>
                <a:rPr b="0" i="0" lang="zh-TW" sz="240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形成假設</a:t>
              </a:r>
              <a:r>
                <a:rPr b="0" i="0" lang="zh-TW" sz="240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b="0" i="0" lang="zh-TW" sz="240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實驗</a:t>
              </a:r>
              <a:r>
                <a:rPr b="0" i="0" lang="zh-TW" sz="2400">
                  <a:solidFill>
                    <a:srgbClr val="FF000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→分析→結論</a:t>
              </a:r>
              <a:endParaRPr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1"/>
            <p:cNvSpPr/>
            <p:nvPr/>
          </p:nvSpPr>
          <p:spPr>
            <a:xfrm flipH="1">
              <a:off x="4178746" y="3373770"/>
              <a:ext cx="3244029" cy="479074"/>
            </a:xfrm>
            <a:prstGeom prst="curvedUp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chemeClr val="accent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1"/>
            <p:cNvSpPr/>
            <p:nvPr/>
          </p:nvSpPr>
          <p:spPr>
            <a:xfrm flipH="1" rot="8985004">
              <a:off x="3881643" y="2393409"/>
              <a:ext cx="893396" cy="294016"/>
            </a:xfrm>
            <a:prstGeom prst="curvedUp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chemeClr val="accent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4788274" y="2238338"/>
              <a:ext cx="447701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zh-TW" sz="240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提出新假設</a:t>
              </a:r>
              <a:r>
                <a:rPr b="0" i="0" lang="zh-TW" sz="240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b="0" i="0" lang="zh-TW" sz="240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實驗</a:t>
              </a:r>
              <a:r>
                <a:rPr b="0" i="0" lang="zh-TW" sz="2400">
                  <a:solidFill>
                    <a:srgbClr val="FF000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→分析→結論</a:t>
              </a:r>
              <a:endParaRPr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1"/>
            <p:cNvSpPr txBox="1"/>
            <p:nvPr/>
          </p:nvSpPr>
          <p:spPr>
            <a:xfrm>
              <a:off x="5218429" y="3961293"/>
              <a:ext cx="14306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zh-TW" sz="180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與假設不符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p21"/>
          <p:cNvSpPr txBox="1"/>
          <p:nvPr/>
        </p:nvSpPr>
        <p:spPr>
          <a:xfrm>
            <a:off x="1203050" y="2119525"/>
            <a:ext cx="9284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科學方法-</a:t>
            </a:r>
            <a:r>
              <a:rPr i="0" lang="zh-TW" sz="2200">
                <a:solidFill>
                  <a:srgbClr val="454545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觀察現象，得到新的理論或是修正舊有理論的系統方式。</a:t>
            </a:r>
            <a:endParaRPr sz="1600"/>
          </a:p>
        </p:txBody>
      </p:sp>
      <p:grpSp>
        <p:nvGrpSpPr>
          <p:cNvPr id="210" name="Google Shape;210;p21"/>
          <p:cNvGrpSpPr/>
          <p:nvPr/>
        </p:nvGrpSpPr>
        <p:grpSpPr>
          <a:xfrm>
            <a:off x="1106169" y="1435205"/>
            <a:ext cx="9979659" cy="559549"/>
            <a:chOff x="1038860" y="2061829"/>
            <a:chExt cx="9979659" cy="559549"/>
          </a:xfrm>
        </p:grpSpPr>
        <p:sp>
          <p:nvSpPr>
            <p:cNvPr id="211" name="Google Shape;211;p21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chemeClr val="accent6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chemeClr val="accent1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1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215" name="Google Shape;215;p21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1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1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223" name="Google Shape;223;p22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6" name="Google Shape;226;p22"/>
          <p:cNvGrpSpPr/>
          <p:nvPr/>
        </p:nvGrpSpPr>
        <p:grpSpPr>
          <a:xfrm>
            <a:off x="876599" y="4699956"/>
            <a:ext cx="10856676" cy="1213624"/>
            <a:chOff x="1157368" y="4941814"/>
            <a:chExt cx="10856676" cy="1213624"/>
          </a:xfrm>
        </p:grpSpPr>
        <p:grpSp>
          <p:nvGrpSpPr>
            <p:cNvPr id="227" name="Google Shape;227;p22"/>
            <p:cNvGrpSpPr/>
            <p:nvPr/>
          </p:nvGrpSpPr>
          <p:grpSpPr>
            <a:xfrm>
              <a:off x="1157368" y="4941814"/>
              <a:ext cx="9233311" cy="1213624"/>
              <a:chOff x="289685" y="4899109"/>
              <a:chExt cx="9233311" cy="1213624"/>
            </a:xfrm>
          </p:grpSpPr>
          <p:sp>
            <p:nvSpPr>
              <p:cNvPr id="228" name="Google Shape;228;p22"/>
              <p:cNvSpPr txBox="1"/>
              <p:nvPr/>
            </p:nvSpPr>
            <p:spPr>
              <a:xfrm>
                <a:off x="1912953" y="5102795"/>
                <a:ext cx="1879530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6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運動是否可以改善肥胖？</a:t>
                </a:r>
                <a:endParaRPr/>
              </a:p>
            </p:txBody>
          </p:sp>
          <p:cxnSp>
            <p:nvCxnSpPr>
              <p:cNvPr id="229" name="Google Shape;229;p22"/>
              <p:cNvCxnSpPr/>
              <p:nvPr/>
            </p:nvCxnSpPr>
            <p:spPr>
              <a:xfrm>
                <a:off x="3761215" y="5302850"/>
                <a:ext cx="3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230" name="Google Shape;230;p22"/>
              <p:cNvSpPr txBox="1"/>
              <p:nvPr/>
            </p:nvSpPr>
            <p:spPr>
              <a:xfrm>
                <a:off x="4252259" y="4929027"/>
                <a:ext cx="1102027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運動可以改善肥胖</a:t>
                </a:r>
                <a:endParaRPr/>
              </a:p>
            </p:txBody>
          </p:sp>
          <p:cxnSp>
            <p:nvCxnSpPr>
              <p:cNvPr id="231" name="Google Shape;231;p22"/>
              <p:cNvCxnSpPr/>
              <p:nvPr/>
            </p:nvCxnSpPr>
            <p:spPr>
              <a:xfrm>
                <a:off x="5286039" y="5302850"/>
                <a:ext cx="3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232" name="Google Shape;232;p22"/>
              <p:cNvSpPr txBox="1"/>
              <p:nvPr/>
            </p:nvSpPr>
            <p:spPr>
              <a:xfrm>
                <a:off x="5814062" y="4899109"/>
                <a:ext cx="1978658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讓BMI大於25的人每天快走1小時，持續30天</a:t>
                </a:r>
                <a:endParaRPr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233" name="Google Shape;233;p22"/>
              <p:cNvCxnSpPr/>
              <p:nvPr/>
            </p:nvCxnSpPr>
            <p:spPr>
              <a:xfrm>
                <a:off x="7792720" y="5302850"/>
                <a:ext cx="3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234" name="Google Shape;234;p22"/>
              <p:cNvSpPr txBox="1"/>
              <p:nvPr/>
            </p:nvSpPr>
            <p:spPr>
              <a:xfrm>
                <a:off x="8252496" y="4995073"/>
                <a:ext cx="12705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rgbClr val="FF0000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30天後測量BMI</a:t>
                </a:r>
                <a:r>
                  <a:rPr lang="zh-TW" sz="2000">
                    <a:solidFill>
                      <a:srgbClr val="FF0000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，並分析</a:t>
                </a:r>
                <a:endParaRPr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235" name="Google Shape;235;p22"/>
              <p:cNvSpPr txBox="1"/>
              <p:nvPr/>
            </p:nvSpPr>
            <p:spPr>
              <a:xfrm>
                <a:off x="289685" y="5096933"/>
                <a:ext cx="12585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6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體重過重</a:t>
                </a:r>
                <a:r>
                  <a:rPr lang="zh-TW" sz="2000">
                    <a:solidFill>
                      <a:schemeClr val="accent6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的人</a:t>
                </a:r>
                <a:r>
                  <a:rPr lang="zh-TW" sz="2000">
                    <a:solidFill>
                      <a:schemeClr val="accent6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幾乎</a:t>
                </a:r>
                <a:r>
                  <a:rPr lang="zh-TW" sz="2000">
                    <a:solidFill>
                      <a:schemeClr val="accent6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不運動</a:t>
                </a:r>
                <a:endParaRPr/>
              </a:p>
            </p:txBody>
          </p:sp>
          <p:cxnSp>
            <p:nvCxnSpPr>
              <p:cNvPr id="236" name="Google Shape;236;p22"/>
              <p:cNvCxnSpPr/>
              <p:nvPr/>
            </p:nvCxnSpPr>
            <p:spPr>
              <a:xfrm>
                <a:off x="1516953" y="5406940"/>
                <a:ext cx="3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cxnSp>
          <p:nvCxnSpPr>
            <p:cNvPr id="237" name="Google Shape;237;p22"/>
            <p:cNvCxnSpPr/>
            <p:nvPr/>
          </p:nvCxnSpPr>
          <p:spPr>
            <a:xfrm>
              <a:off x="10243848" y="5403479"/>
              <a:ext cx="396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38" name="Google Shape;238;p22"/>
            <p:cNvSpPr txBox="1"/>
            <p:nvPr/>
          </p:nvSpPr>
          <p:spPr>
            <a:xfrm>
              <a:off x="10743412" y="5203424"/>
              <a:ext cx="12706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BMI下降</a:t>
              </a:r>
              <a:endParaRPr>
                <a:solidFill>
                  <a:srgbClr val="FF0000"/>
                </a:solidFill>
              </a:endParaRPr>
            </a:p>
          </p:txBody>
        </p:sp>
      </p:grpSp>
      <p:grpSp>
        <p:nvGrpSpPr>
          <p:cNvPr id="239" name="Google Shape;239;p22"/>
          <p:cNvGrpSpPr/>
          <p:nvPr/>
        </p:nvGrpSpPr>
        <p:grpSpPr>
          <a:xfrm>
            <a:off x="1106169" y="1435205"/>
            <a:ext cx="9979659" cy="559549"/>
            <a:chOff x="1038860" y="2061829"/>
            <a:chExt cx="9979659" cy="559549"/>
          </a:xfrm>
        </p:grpSpPr>
        <p:sp>
          <p:nvSpPr>
            <p:cNvPr id="240" name="Google Shape;240;p22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chemeClr val="accent6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2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2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chemeClr val="accent1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2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244" name="Google Shape;244;p22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2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2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" name="Google Shape;247;p22"/>
          <p:cNvGrpSpPr/>
          <p:nvPr/>
        </p:nvGrpSpPr>
        <p:grpSpPr>
          <a:xfrm>
            <a:off x="1909424" y="2253579"/>
            <a:ext cx="8226428" cy="2142233"/>
            <a:chOff x="1038859" y="2188392"/>
            <a:chExt cx="8226428" cy="2142233"/>
          </a:xfrm>
        </p:grpSpPr>
        <p:sp>
          <p:nvSpPr>
            <p:cNvPr id="248" name="Google Shape;248;p22"/>
            <p:cNvSpPr txBox="1"/>
            <p:nvPr/>
          </p:nvSpPr>
          <p:spPr>
            <a:xfrm>
              <a:off x="1038859" y="2866918"/>
              <a:ext cx="740589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zh-TW" sz="240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 </a:t>
              </a:r>
              <a:r>
                <a:rPr b="0" i="0" lang="zh-TW" sz="2400">
                  <a:solidFill>
                    <a:schemeClr val="accent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觀察→提出問題</a:t>
              </a:r>
              <a:r>
                <a:rPr b="0" i="0" lang="zh-TW" sz="240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 </a:t>
              </a:r>
              <a:r>
                <a:rPr b="0" i="0" lang="zh-TW" sz="240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形成假設</a:t>
              </a:r>
              <a:r>
                <a:rPr b="0" i="0" lang="zh-TW" sz="240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b="0" i="0" lang="zh-TW" sz="240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實驗</a:t>
              </a:r>
              <a:r>
                <a:rPr b="0" i="0" lang="zh-TW" sz="2400">
                  <a:solidFill>
                    <a:srgbClr val="FF000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→分析→結論</a:t>
              </a:r>
              <a:endParaRPr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2"/>
            <p:cNvSpPr/>
            <p:nvPr/>
          </p:nvSpPr>
          <p:spPr>
            <a:xfrm flipH="1">
              <a:off x="4178746" y="3373770"/>
              <a:ext cx="3244029" cy="479074"/>
            </a:xfrm>
            <a:prstGeom prst="curvedUp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chemeClr val="accent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2"/>
            <p:cNvSpPr/>
            <p:nvPr/>
          </p:nvSpPr>
          <p:spPr>
            <a:xfrm flipH="1" rot="8985004">
              <a:off x="3881643" y="2393409"/>
              <a:ext cx="893396" cy="294016"/>
            </a:xfrm>
            <a:prstGeom prst="curvedUp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chemeClr val="accent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2"/>
            <p:cNvSpPr txBox="1"/>
            <p:nvPr/>
          </p:nvSpPr>
          <p:spPr>
            <a:xfrm>
              <a:off x="4788274" y="2238338"/>
              <a:ext cx="447701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zh-TW" sz="240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提出新假設</a:t>
              </a:r>
              <a:r>
                <a:rPr b="0" i="0" lang="zh-TW" sz="240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b="0" i="0" lang="zh-TW" sz="240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實驗</a:t>
              </a:r>
              <a:r>
                <a:rPr b="0" i="0" lang="zh-TW" sz="2400">
                  <a:solidFill>
                    <a:srgbClr val="FF000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→分析→結論</a:t>
              </a:r>
              <a:endParaRPr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2"/>
            <p:cNvSpPr txBox="1"/>
            <p:nvPr/>
          </p:nvSpPr>
          <p:spPr>
            <a:xfrm>
              <a:off x="5218429" y="3961293"/>
              <a:ext cx="14306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zh-TW" sz="180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與假設不符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258" name="Google Shape;258;p23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0" name="Google Shape;260;p23"/>
          <p:cNvGrpSpPr/>
          <p:nvPr/>
        </p:nvGrpSpPr>
        <p:grpSpPr>
          <a:xfrm>
            <a:off x="1106169" y="1435205"/>
            <a:ext cx="9979659" cy="559549"/>
            <a:chOff x="1038860" y="2061829"/>
            <a:chExt cx="9979659" cy="559549"/>
          </a:xfrm>
        </p:grpSpPr>
        <p:sp>
          <p:nvSpPr>
            <p:cNvPr id="261" name="Google Shape;261;p23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chemeClr val="accent6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3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3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chemeClr val="accent1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3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3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3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" name="Google Shape;268;p23"/>
          <p:cNvGrpSpPr/>
          <p:nvPr/>
        </p:nvGrpSpPr>
        <p:grpSpPr>
          <a:xfrm>
            <a:off x="917252" y="4026075"/>
            <a:ext cx="10691873" cy="1876770"/>
            <a:chOff x="944017" y="3726779"/>
            <a:chExt cx="10159514" cy="1876770"/>
          </a:xfrm>
        </p:grpSpPr>
        <p:sp>
          <p:nvSpPr>
            <p:cNvPr id="269" name="Google Shape;269;p23"/>
            <p:cNvSpPr txBox="1"/>
            <p:nvPr/>
          </p:nvSpPr>
          <p:spPr>
            <a:xfrm>
              <a:off x="944017" y="3726779"/>
              <a:ext cx="18465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accent6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確定運動可以改善肥胖</a:t>
              </a:r>
              <a:endParaRPr sz="2000"/>
            </a:p>
          </p:txBody>
        </p:sp>
        <p:sp>
          <p:nvSpPr>
            <p:cNvPr id="270" name="Google Shape;270;p23"/>
            <p:cNvSpPr txBox="1"/>
            <p:nvPr/>
          </p:nvSpPr>
          <p:spPr>
            <a:xfrm>
              <a:off x="2117405" y="4587749"/>
              <a:ext cx="16350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accent6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何種運動改善肥胖效果最好？</a:t>
              </a:r>
              <a:endParaRPr sz="2000"/>
            </a:p>
          </p:txBody>
        </p:sp>
        <p:sp>
          <p:nvSpPr>
            <p:cNvPr id="271" name="Google Shape;271;p23"/>
            <p:cNvSpPr txBox="1"/>
            <p:nvPr/>
          </p:nvSpPr>
          <p:spPr>
            <a:xfrm>
              <a:off x="4503235" y="4447295"/>
              <a:ext cx="16350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accen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讓受試者分別進行不同運動30天</a:t>
              </a:r>
              <a:endParaRPr sz="2000"/>
            </a:p>
          </p:txBody>
        </p:sp>
        <p:sp>
          <p:nvSpPr>
            <p:cNvPr id="272" name="Google Shape;272;p23"/>
            <p:cNvSpPr txBox="1"/>
            <p:nvPr/>
          </p:nvSpPr>
          <p:spPr>
            <a:xfrm>
              <a:off x="6811916" y="4401317"/>
              <a:ext cx="16350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分析從事不同運動的人BMI下降的比例</a:t>
              </a:r>
              <a:endParaRPr sz="2000"/>
            </a:p>
          </p:txBody>
        </p:sp>
        <p:sp>
          <p:nvSpPr>
            <p:cNvPr id="273" name="Google Shape;273;p23"/>
            <p:cNvSpPr/>
            <p:nvPr/>
          </p:nvSpPr>
          <p:spPr>
            <a:xfrm rot="5400000">
              <a:off x="1396738" y="4535111"/>
              <a:ext cx="612000" cy="288000"/>
            </a:xfrm>
            <a:prstGeom prst="bentUpArrow">
              <a:avLst>
                <a:gd fmla="val 25000" name="adj1"/>
                <a:gd fmla="val 25000" name="adj2"/>
                <a:gd fmla="val 25000" name="adj3"/>
              </a:avLst>
            </a:prstGeom>
            <a:solidFill>
              <a:schemeClr val="accent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3"/>
            <p:cNvSpPr/>
            <p:nvPr/>
          </p:nvSpPr>
          <p:spPr>
            <a:xfrm>
              <a:off x="3962400" y="4836160"/>
              <a:ext cx="453138" cy="148951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3"/>
            <p:cNvSpPr/>
            <p:nvPr/>
          </p:nvSpPr>
          <p:spPr>
            <a:xfrm>
              <a:off x="6241816" y="4825100"/>
              <a:ext cx="453138" cy="148951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3"/>
            <p:cNvSpPr txBox="1"/>
            <p:nvPr/>
          </p:nvSpPr>
          <p:spPr>
            <a:xfrm>
              <a:off x="9257031" y="4501933"/>
              <a:ext cx="18465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確認BMI下降最多的運動為何</a:t>
              </a:r>
              <a:endParaRPr sz="2000"/>
            </a:p>
          </p:txBody>
        </p:sp>
        <p:sp>
          <p:nvSpPr>
            <p:cNvPr id="277" name="Google Shape;277;p23"/>
            <p:cNvSpPr/>
            <p:nvPr/>
          </p:nvSpPr>
          <p:spPr>
            <a:xfrm>
              <a:off x="8588594" y="4825099"/>
              <a:ext cx="453138" cy="148951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8" name="Google Shape;278;p23"/>
          <p:cNvGrpSpPr/>
          <p:nvPr/>
        </p:nvGrpSpPr>
        <p:grpSpPr>
          <a:xfrm>
            <a:off x="917239" y="2403590"/>
            <a:ext cx="10856676" cy="1213624"/>
            <a:chOff x="1157368" y="4941814"/>
            <a:chExt cx="10856676" cy="1213624"/>
          </a:xfrm>
        </p:grpSpPr>
        <p:grpSp>
          <p:nvGrpSpPr>
            <p:cNvPr id="279" name="Google Shape;279;p23"/>
            <p:cNvGrpSpPr/>
            <p:nvPr/>
          </p:nvGrpSpPr>
          <p:grpSpPr>
            <a:xfrm>
              <a:off x="1157368" y="4941814"/>
              <a:ext cx="9233443" cy="1213624"/>
              <a:chOff x="289685" y="4899109"/>
              <a:chExt cx="9233443" cy="1213624"/>
            </a:xfrm>
          </p:grpSpPr>
          <p:sp>
            <p:nvSpPr>
              <p:cNvPr id="280" name="Google Shape;280;p23"/>
              <p:cNvSpPr txBox="1"/>
              <p:nvPr/>
            </p:nvSpPr>
            <p:spPr>
              <a:xfrm>
                <a:off x="1912953" y="5102795"/>
                <a:ext cx="1879530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6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運動是否可以改善肥胖？</a:t>
                </a:r>
                <a:endParaRPr/>
              </a:p>
            </p:txBody>
          </p:sp>
          <p:cxnSp>
            <p:nvCxnSpPr>
              <p:cNvPr id="281" name="Google Shape;281;p23"/>
              <p:cNvCxnSpPr/>
              <p:nvPr/>
            </p:nvCxnSpPr>
            <p:spPr>
              <a:xfrm>
                <a:off x="3761215" y="5302850"/>
                <a:ext cx="3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282" name="Google Shape;282;p23"/>
              <p:cNvSpPr txBox="1"/>
              <p:nvPr/>
            </p:nvSpPr>
            <p:spPr>
              <a:xfrm>
                <a:off x="4252259" y="4929027"/>
                <a:ext cx="1102027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運動可以改善肥胖</a:t>
                </a:r>
                <a:endParaRPr/>
              </a:p>
            </p:txBody>
          </p:sp>
          <p:cxnSp>
            <p:nvCxnSpPr>
              <p:cNvPr id="283" name="Google Shape;283;p23"/>
              <p:cNvCxnSpPr/>
              <p:nvPr/>
            </p:nvCxnSpPr>
            <p:spPr>
              <a:xfrm>
                <a:off x="5286039" y="5302850"/>
                <a:ext cx="3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284" name="Google Shape;284;p23"/>
              <p:cNvSpPr txBox="1"/>
              <p:nvPr/>
            </p:nvSpPr>
            <p:spPr>
              <a:xfrm>
                <a:off x="5814062" y="4899109"/>
                <a:ext cx="1978658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讓BMI大於25的人每天快走1小時，持續30天</a:t>
                </a:r>
                <a:endParaRPr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285" name="Google Shape;285;p23"/>
              <p:cNvCxnSpPr/>
              <p:nvPr/>
            </p:nvCxnSpPr>
            <p:spPr>
              <a:xfrm>
                <a:off x="7792720" y="5302850"/>
                <a:ext cx="3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286" name="Google Shape;286;p23"/>
              <p:cNvSpPr txBox="1"/>
              <p:nvPr/>
            </p:nvSpPr>
            <p:spPr>
              <a:xfrm>
                <a:off x="8252496" y="4995073"/>
                <a:ext cx="1270632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rgbClr val="FF0000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30天后測量BMI</a:t>
                </a:r>
                <a:endParaRPr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287" name="Google Shape;287;p23"/>
              <p:cNvSpPr txBox="1"/>
              <p:nvPr/>
            </p:nvSpPr>
            <p:spPr>
              <a:xfrm>
                <a:off x="289685" y="5096933"/>
                <a:ext cx="12585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6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體重過重的人幾乎不運動</a:t>
                </a:r>
                <a:endParaRPr sz="2000">
                  <a:solidFill>
                    <a:schemeClr val="accent6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cxnSp>
            <p:nvCxnSpPr>
              <p:cNvPr id="288" name="Google Shape;288;p23"/>
              <p:cNvCxnSpPr/>
              <p:nvPr/>
            </p:nvCxnSpPr>
            <p:spPr>
              <a:xfrm>
                <a:off x="1516953" y="5406940"/>
                <a:ext cx="3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cxnSp>
          <p:nvCxnSpPr>
            <p:cNvPr id="289" name="Google Shape;289;p23"/>
            <p:cNvCxnSpPr/>
            <p:nvPr/>
          </p:nvCxnSpPr>
          <p:spPr>
            <a:xfrm>
              <a:off x="10243848" y="5403479"/>
              <a:ext cx="396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90" name="Google Shape;290;p23"/>
            <p:cNvSpPr txBox="1"/>
            <p:nvPr/>
          </p:nvSpPr>
          <p:spPr>
            <a:xfrm>
              <a:off x="10743412" y="5203424"/>
              <a:ext cx="12706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BMI下降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296" name="Google Shape;296;p24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8" name="Google Shape;298;p24"/>
          <p:cNvGrpSpPr/>
          <p:nvPr/>
        </p:nvGrpSpPr>
        <p:grpSpPr>
          <a:xfrm>
            <a:off x="876599" y="4653666"/>
            <a:ext cx="10795269" cy="1399808"/>
            <a:chOff x="1157368" y="4895524"/>
            <a:chExt cx="10795269" cy="1399808"/>
          </a:xfrm>
        </p:grpSpPr>
        <p:grpSp>
          <p:nvGrpSpPr>
            <p:cNvPr id="299" name="Google Shape;299;p24"/>
            <p:cNvGrpSpPr/>
            <p:nvPr/>
          </p:nvGrpSpPr>
          <p:grpSpPr>
            <a:xfrm>
              <a:off x="1157368" y="4896428"/>
              <a:ext cx="9149236" cy="1398904"/>
              <a:chOff x="289685" y="4853723"/>
              <a:chExt cx="9149236" cy="1398904"/>
            </a:xfrm>
          </p:grpSpPr>
          <p:sp>
            <p:nvSpPr>
              <p:cNvPr id="300" name="Google Shape;300;p24"/>
              <p:cNvSpPr txBox="1"/>
              <p:nvPr/>
            </p:nvSpPr>
            <p:spPr>
              <a:xfrm>
                <a:off x="2024835" y="5052928"/>
                <a:ext cx="16245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油溫是否太高</a:t>
                </a: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？</a:t>
                </a:r>
                <a:endParaRPr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301" name="Google Shape;301;p24"/>
              <p:cNvCxnSpPr/>
              <p:nvPr/>
            </p:nvCxnSpPr>
            <p:spPr>
              <a:xfrm>
                <a:off x="3761215" y="5302850"/>
                <a:ext cx="3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302" name="Google Shape;302;p24"/>
              <p:cNvSpPr txBox="1"/>
              <p:nvPr/>
            </p:nvSpPr>
            <p:spPr>
              <a:xfrm>
                <a:off x="4252259" y="4929027"/>
                <a:ext cx="1101900" cy="13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控制油溫低一些較不易焦黑</a:t>
                </a:r>
                <a:endParaRPr sz="2000">
                  <a:solidFill>
                    <a:schemeClr val="accen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cxnSp>
            <p:nvCxnSpPr>
              <p:cNvPr id="303" name="Google Shape;303;p24"/>
              <p:cNvCxnSpPr/>
              <p:nvPr/>
            </p:nvCxnSpPr>
            <p:spPr>
              <a:xfrm>
                <a:off x="5286039" y="5302850"/>
                <a:ext cx="3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304" name="Google Shape;304;p24"/>
              <p:cNvSpPr txBox="1"/>
              <p:nvPr/>
            </p:nvSpPr>
            <p:spPr>
              <a:xfrm>
                <a:off x="5814062" y="4899109"/>
                <a:ext cx="1978800" cy="13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炸鹹酥雞時，使用溫度計，分次以不同油溫炸90秒。</a:t>
                </a:r>
                <a:endParaRPr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305" name="Google Shape;305;p24"/>
              <p:cNvCxnSpPr/>
              <p:nvPr/>
            </p:nvCxnSpPr>
            <p:spPr>
              <a:xfrm>
                <a:off x="7792720" y="5302850"/>
                <a:ext cx="3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306" name="Google Shape;306;p24"/>
              <p:cNvSpPr txBox="1"/>
              <p:nvPr/>
            </p:nvSpPr>
            <p:spPr>
              <a:xfrm>
                <a:off x="8168421" y="4853723"/>
                <a:ext cx="1270500" cy="13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rgbClr val="FF0000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分析以不同油溫油炸的結果是否焦黑</a:t>
                </a:r>
                <a:endParaRPr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307" name="Google Shape;307;p24"/>
              <p:cNvSpPr txBox="1"/>
              <p:nvPr/>
            </p:nvSpPr>
            <p:spPr>
              <a:xfrm>
                <a:off x="289685" y="4899033"/>
                <a:ext cx="12585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6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為何炸鹹酥雞老是焦黑失敗</a:t>
                </a:r>
                <a:endParaRPr/>
              </a:p>
            </p:txBody>
          </p:sp>
          <p:cxnSp>
            <p:nvCxnSpPr>
              <p:cNvPr id="308" name="Google Shape;308;p24"/>
              <p:cNvCxnSpPr/>
              <p:nvPr/>
            </p:nvCxnSpPr>
            <p:spPr>
              <a:xfrm>
                <a:off x="1516953" y="5406940"/>
                <a:ext cx="3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cxnSp>
          <p:nvCxnSpPr>
            <p:cNvPr id="309" name="Google Shape;309;p24"/>
            <p:cNvCxnSpPr/>
            <p:nvPr/>
          </p:nvCxnSpPr>
          <p:spPr>
            <a:xfrm>
              <a:off x="10243848" y="5403479"/>
              <a:ext cx="396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10" name="Google Shape;310;p24"/>
            <p:cNvSpPr txBox="1"/>
            <p:nvPr/>
          </p:nvSpPr>
          <p:spPr>
            <a:xfrm>
              <a:off x="10682137" y="4895524"/>
              <a:ext cx="1270500" cy="13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油溫較低時，焦黑失敗的問題改善。</a:t>
              </a:r>
              <a:endParaRPr>
                <a:solidFill>
                  <a:srgbClr val="FF0000"/>
                </a:solidFill>
              </a:endParaRPr>
            </a:p>
          </p:txBody>
        </p:sp>
      </p:grpSp>
      <p:grpSp>
        <p:nvGrpSpPr>
          <p:cNvPr id="311" name="Google Shape;311;p24"/>
          <p:cNvGrpSpPr/>
          <p:nvPr/>
        </p:nvGrpSpPr>
        <p:grpSpPr>
          <a:xfrm>
            <a:off x="1106169" y="1435205"/>
            <a:ext cx="9979778" cy="559529"/>
            <a:chOff x="1038860" y="2061829"/>
            <a:chExt cx="9979778" cy="559529"/>
          </a:xfrm>
        </p:grpSpPr>
        <p:sp>
          <p:nvSpPr>
            <p:cNvPr id="312" name="Google Shape;312;p24"/>
            <p:cNvSpPr txBox="1"/>
            <p:nvPr/>
          </p:nvSpPr>
          <p:spPr>
            <a:xfrm>
              <a:off x="1038860" y="2098158"/>
              <a:ext cx="1828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chemeClr val="accent6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4"/>
            <p:cNvSpPr txBox="1"/>
            <p:nvPr/>
          </p:nvSpPr>
          <p:spPr>
            <a:xfrm>
              <a:off x="9006838" y="2098158"/>
              <a:ext cx="2011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4"/>
            <p:cNvSpPr txBox="1"/>
            <p:nvPr/>
          </p:nvSpPr>
          <p:spPr>
            <a:xfrm>
              <a:off x="3362960" y="2098158"/>
              <a:ext cx="210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chemeClr val="accent1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4"/>
            <p:cNvSpPr txBox="1"/>
            <p:nvPr/>
          </p:nvSpPr>
          <p:spPr>
            <a:xfrm>
              <a:off x="6184899" y="2061829"/>
              <a:ext cx="210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316" name="Google Shape;316;p24"/>
            <p:cNvSpPr/>
            <p:nvPr/>
          </p:nvSpPr>
          <p:spPr>
            <a:xfrm>
              <a:off x="2691130" y="2228963"/>
              <a:ext cx="647700" cy="261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4"/>
            <p:cNvSpPr/>
            <p:nvPr/>
          </p:nvSpPr>
          <p:spPr>
            <a:xfrm>
              <a:off x="5448300" y="2250656"/>
              <a:ext cx="647700" cy="261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8201660" y="2228963"/>
              <a:ext cx="647700" cy="261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9" name="Google Shape;319;p24"/>
          <p:cNvGrpSpPr/>
          <p:nvPr/>
        </p:nvGrpSpPr>
        <p:grpSpPr>
          <a:xfrm>
            <a:off x="1909424" y="2253529"/>
            <a:ext cx="8226315" cy="2142251"/>
            <a:chOff x="1038859" y="2188342"/>
            <a:chExt cx="8226315" cy="2142251"/>
          </a:xfrm>
        </p:grpSpPr>
        <p:sp>
          <p:nvSpPr>
            <p:cNvPr id="320" name="Google Shape;320;p24"/>
            <p:cNvSpPr txBox="1"/>
            <p:nvPr/>
          </p:nvSpPr>
          <p:spPr>
            <a:xfrm>
              <a:off x="1038859" y="2866918"/>
              <a:ext cx="7405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zh-TW" sz="240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 </a:t>
              </a:r>
              <a:r>
                <a:rPr b="0" i="0" lang="zh-TW" sz="2400">
                  <a:solidFill>
                    <a:schemeClr val="accent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觀察→提出問題</a:t>
              </a:r>
              <a:r>
                <a:rPr b="0" i="0" lang="zh-TW" sz="240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 </a:t>
              </a:r>
              <a:r>
                <a:rPr b="0" i="0" lang="zh-TW" sz="240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形成假設</a:t>
              </a:r>
              <a:r>
                <a:rPr b="0" i="0" lang="zh-TW" sz="240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b="0" i="0" lang="zh-TW" sz="240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實驗</a:t>
              </a:r>
              <a:r>
                <a:rPr b="0" i="0" lang="zh-TW" sz="2400">
                  <a:solidFill>
                    <a:srgbClr val="FF000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→分析→結論</a:t>
              </a:r>
              <a:endParaRPr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4"/>
            <p:cNvSpPr/>
            <p:nvPr/>
          </p:nvSpPr>
          <p:spPr>
            <a:xfrm flipH="1">
              <a:off x="4178875" y="3373770"/>
              <a:ext cx="3243900" cy="479100"/>
            </a:xfrm>
            <a:prstGeom prst="curvedUp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chemeClr val="accent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4"/>
            <p:cNvSpPr/>
            <p:nvPr/>
          </p:nvSpPr>
          <p:spPr>
            <a:xfrm flipH="1" rot="8984946">
              <a:off x="3881609" y="2393312"/>
              <a:ext cx="893234" cy="294160"/>
            </a:xfrm>
            <a:prstGeom prst="curvedUp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chemeClr val="accent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4"/>
            <p:cNvSpPr txBox="1"/>
            <p:nvPr/>
          </p:nvSpPr>
          <p:spPr>
            <a:xfrm>
              <a:off x="4788274" y="2238338"/>
              <a:ext cx="4476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zh-TW" sz="240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提出新假設</a:t>
              </a:r>
              <a:r>
                <a:rPr b="0" i="0" lang="zh-TW" sz="240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b="0" i="0" lang="zh-TW" sz="240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實驗</a:t>
              </a:r>
              <a:r>
                <a:rPr b="0" i="0" lang="zh-TW" sz="2400">
                  <a:solidFill>
                    <a:srgbClr val="FF000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→分析→結論</a:t>
              </a:r>
              <a:endParaRPr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4"/>
            <p:cNvSpPr txBox="1"/>
            <p:nvPr/>
          </p:nvSpPr>
          <p:spPr>
            <a:xfrm>
              <a:off x="5218429" y="3961293"/>
              <a:ext cx="1430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zh-TW" sz="180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與假設不符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330" name="Google Shape;330;p25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2" name="Google Shape;332;p25"/>
          <p:cNvGrpSpPr/>
          <p:nvPr/>
        </p:nvGrpSpPr>
        <p:grpSpPr>
          <a:xfrm>
            <a:off x="1106169" y="1435205"/>
            <a:ext cx="9979778" cy="559529"/>
            <a:chOff x="1038860" y="2061829"/>
            <a:chExt cx="9979778" cy="559529"/>
          </a:xfrm>
        </p:grpSpPr>
        <p:sp>
          <p:nvSpPr>
            <p:cNvPr id="333" name="Google Shape;333;p25"/>
            <p:cNvSpPr txBox="1"/>
            <p:nvPr/>
          </p:nvSpPr>
          <p:spPr>
            <a:xfrm>
              <a:off x="1038860" y="2098158"/>
              <a:ext cx="1828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chemeClr val="accent6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5"/>
            <p:cNvSpPr txBox="1"/>
            <p:nvPr/>
          </p:nvSpPr>
          <p:spPr>
            <a:xfrm>
              <a:off x="9006838" y="2098158"/>
              <a:ext cx="2011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5"/>
            <p:cNvSpPr txBox="1"/>
            <p:nvPr/>
          </p:nvSpPr>
          <p:spPr>
            <a:xfrm>
              <a:off x="3362960" y="2098158"/>
              <a:ext cx="210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chemeClr val="accent1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5"/>
            <p:cNvSpPr txBox="1"/>
            <p:nvPr/>
          </p:nvSpPr>
          <p:spPr>
            <a:xfrm>
              <a:off x="6184899" y="2061829"/>
              <a:ext cx="210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337" name="Google Shape;337;p25"/>
            <p:cNvSpPr/>
            <p:nvPr/>
          </p:nvSpPr>
          <p:spPr>
            <a:xfrm>
              <a:off x="2691130" y="2228963"/>
              <a:ext cx="647700" cy="261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5"/>
            <p:cNvSpPr/>
            <p:nvPr/>
          </p:nvSpPr>
          <p:spPr>
            <a:xfrm>
              <a:off x="5448300" y="2250656"/>
              <a:ext cx="647700" cy="261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5"/>
            <p:cNvSpPr/>
            <p:nvPr/>
          </p:nvSpPr>
          <p:spPr>
            <a:xfrm>
              <a:off x="8201660" y="2228963"/>
              <a:ext cx="647700" cy="261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0" name="Google Shape;340;p25"/>
          <p:cNvGrpSpPr/>
          <p:nvPr/>
        </p:nvGrpSpPr>
        <p:grpSpPr>
          <a:xfrm>
            <a:off x="926425" y="3912888"/>
            <a:ext cx="10159519" cy="1928113"/>
            <a:chOff x="944012" y="3687385"/>
            <a:chExt cx="10159519" cy="1928113"/>
          </a:xfrm>
        </p:grpSpPr>
        <p:sp>
          <p:nvSpPr>
            <p:cNvPr id="341" name="Google Shape;341;p25"/>
            <p:cNvSpPr txBox="1"/>
            <p:nvPr/>
          </p:nvSpPr>
          <p:spPr>
            <a:xfrm>
              <a:off x="944012" y="3687385"/>
              <a:ext cx="20904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accent6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確定</a:t>
              </a:r>
              <a:r>
                <a:rPr lang="zh-TW" sz="2000">
                  <a:solidFill>
                    <a:schemeClr val="accent6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油溫降低可以改善焦黑問題</a:t>
              </a:r>
              <a:endParaRPr sz="2000"/>
            </a:p>
          </p:txBody>
        </p:sp>
        <p:sp>
          <p:nvSpPr>
            <p:cNvPr id="342" name="Google Shape;342;p25"/>
            <p:cNvSpPr txBox="1"/>
            <p:nvPr/>
          </p:nvSpPr>
          <p:spPr>
            <a:xfrm>
              <a:off x="2117413" y="4587747"/>
              <a:ext cx="18465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accent6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油炸結果最佳的油溫下，炸多久最適合?</a:t>
              </a:r>
              <a:endParaRPr sz="2000"/>
            </a:p>
          </p:txBody>
        </p:sp>
        <p:sp>
          <p:nvSpPr>
            <p:cNvPr id="343" name="Google Shape;343;p25"/>
            <p:cNvSpPr txBox="1"/>
            <p:nvPr/>
          </p:nvSpPr>
          <p:spPr>
            <a:xfrm>
              <a:off x="4456103" y="4599697"/>
              <a:ext cx="17385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accen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以該油溫炸鹹酥雞，改變油炸時長。</a:t>
              </a:r>
              <a:endParaRPr sz="2000"/>
            </a:p>
          </p:txBody>
        </p:sp>
        <p:sp>
          <p:nvSpPr>
            <p:cNvPr id="344" name="Google Shape;344;p25"/>
            <p:cNvSpPr txBox="1"/>
            <p:nvPr/>
          </p:nvSpPr>
          <p:spPr>
            <a:xfrm>
              <a:off x="6811912" y="4629922"/>
              <a:ext cx="17385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分析不同時長的油炸結果</a:t>
              </a:r>
              <a:endParaRPr sz="2000"/>
            </a:p>
          </p:txBody>
        </p:sp>
        <p:sp>
          <p:nvSpPr>
            <p:cNvPr id="345" name="Google Shape;345;p25"/>
            <p:cNvSpPr/>
            <p:nvPr/>
          </p:nvSpPr>
          <p:spPr>
            <a:xfrm rot="5400000">
              <a:off x="1384963" y="4749761"/>
              <a:ext cx="612000" cy="288000"/>
            </a:xfrm>
            <a:prstGeom prst="bentUpArrow">
              <a:avLst>
                <a:gd fmla="val 25000" name="adj1"/>
                <a:gd fmla="val 25000" name="adj2"/>
                <a:gd fmla="val 25000" name="adj3"/>
              </a:avLst>
            </a:prstGeom>
            <a:solidFill>
              <a:schemeClr val="accent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5"/>
            <p:cNvSpPr/>
            <p:nvPr/>
          </p:nvSpPr>
          <p:spPr>
            <a:xfrm>
              <a:off x="3962400" y="4836160"/>
              <a:ext cx="453000" cy="1491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5"/>
            <p:cNvSpPr/>
            <p:nvPr/>
          </p:nvSpPr>
          <p:spPr>
            <a:xfrm>
              <a:off x="6241816" y="4825100"/>
              <a:ext cx="453000" cy="1491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25"/>
            <p:cNvSpPr txBox="1"/>
            <p:nvPr/>
          </p:nvSpPr>
          <p:spPr>
            <a:xfrm>
              <a:off x="9257031" y="4578133"/>
              <a:ext cx="18465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確認</a:t>
              </a: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最佳油炸時長為何</a:t>
              </a:r>
              <a:endParaRPr sz="2000"/>
            </a:p>
          </p:txBody>
        </p:sp>
        <p:sp>
          <p:nvSpPr>
            <p:cNvPr id="349" name="Google Shape;349;p25"/>
            <p:cNvSpPr/>
            <p:nvPr/>
          </p:nvSpPr>
          <p:spPr>
            <a:xfrm>
              <a:off x="8588594" y="4825099"/>
              <a:ext cx="453000" cy="1491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" name="Google Shape;350;p25"/>
          <p:cNvGrpSpPr/>
          <p:nvPr/>
        </p:nvGrpSpPr>
        <p:grpSpPr>
          <a:xfrm>
            <a:off x="838199" y="2226453"/>
            <a:ext cx="10795269" cy="1399808"/>
            <a:chOff x="1157368" y="4895524"/>
            <a:chExt cx="10795269" cy="1399808"/>
          </a:xfrm>
        </p:grpSpPr>
        <p:grpSp>
          <p:nvGrpSpPr>
            <p:cNvPr id="351" name="Google Shape;351;p25"/>
            <p:cNvGrpSpPr/>
            <p:nvPr/>
          </p:nvGrpSpPr>
          <p:grpSpPr>
            <a:xfrm>
              <a:off x="1157368" y="4896428"/>
              <a:ext cx="9149236" cy="1398904"/>
              <a:chOff x="289685" y="4853723"/>
              <a:chExt cx="9149236" cy="1398904"/>
            </a:xfrm>
          </p:grpSpPr>
          <p:sp>
            <p:nvSpPr>
              <p:cNvPr id="352" name="Google Shape;352;p25"/>
              <p:cNvSpPr txBox="1"/>
              <p:nvPr/>
            </p:nvSpPr>
            <p:spPr>
              <a:xfrm>
                <a:off x="1912953" y="5102795"/>
                <a:ext cx="18795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油溫是否太高？</a:t>
                </a:r>
                <a:endParaRPr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353" name="Google Shape;353;p25"/>
              <p:cNvCxnSpPr/>
              <p:nvPr/>
            </p:nvCxnSpPr>
            <p:spPr>
              <a:xfrm>
                <a:off x="3761215" y="5302850"/>
                <a:ext cx="3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354" name="Google Shape;354;p25"/>
              <p:cNvSpPr txBox="1"/>
              <p:nvPr/>
            </p:nvSpPr>
            <p:spPr>
              <a:xfrm>
                <a:off x="4252259" y="4929027"/>
                <a:ext cx="1101900" cy="13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控制油溫低一些較不易焦黑</a:t>
                </a:r>
                <a:endParaRPr sz="2000">
                  <a:solidFill>
                    <a:schemeClr val="accen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cxnSp>
            <p:nvCxnSpPr>
              <p:cNvPr id="355" name="Google Shape;355;p25"/>
              <p:cNvCxnSpPr/>
              <p:nvPr/>
            </p:nvCxnSpPr>
            <p:spPr>
              <a:xfrm>
                <a:off x="5286039" y="5302850"/>
                <a:ext cx="3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356" name="Google Shape;356;p25"/>
              <p:cNvSpPr txBox="1"/>
              <p:nvPr/>
            </p:nvSpPr>
            <p:spPr>
              <a:xfrm>
                <a:off x="5814062" y="4899109"/>
                <a:ext cx="1978800" cy="13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炸鹹酥雞時，使用溫度計，分次以不同油溫炸90秒。</a:t>
                </a:r>
                <a:endParaRPr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357" name="Google Shape;357;p25"/>
              <p:cNvCxnSpPr/>
              <p:nvPr/>
            </p:nvCxnSpPr>
            <p:spPr>
              <a:xfrm>
                <a:off x="7792720" y="5302850"/>
                <a:ext cx="3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358" name="Google Shape;358;p25"/>
              <p:cNvSpPr txBox="1"/>
              <p:nvPr/>
            </p:nvSpPr>
            <p:spPr>
              <a:xfrm>
                <a:off x="8168421" y="4853723"/>
                <a:ext cx="1270500" cy="13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rgbClr val="FF0000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分析以不同油溫油炸的結果是否焦黑</a:t>
                </a:r>
                <a:endParaRPr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359" name="Google Shape;359;p25"/>
              <p:cNvSpPr txBox="1"/>
              <p:nvPr/>
            </p:nvSpPr>
            <p:spPr>
              <a:xfrm>
                <a:off x="289685" y="5096933"/>
                <a:ext cx="12585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6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為何</a:t>
                </a:r>
                <a:r>
                  <a:rPr lang="zh-TW" sz="2000">
                    <a:solidFill>
                      <a:schemeClr val="accent6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炸鹹酥雞老是焦黑失敗</a:t>
                </a:r>
                <a:endParaRPr/>
              </a:p>
            </p:txBody>
          </p:sp>
          <p:cxnSp>
            <p:nvCxnSpPr>
              <p:cNvPr id="360" name="Google Shape;360;p25"/>
              <p:cNvCxnSpPr/>
              <p:nvPr/>
            </p:nvCxnSpPr>
            <p:spPr>
              <a:xfrm>
                <a:off x="1516953" y="5406940"/>
                <a:ext cx="3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cxnSp>
          <p:nvCxnSpPr>
            <p:cNvPr id="361" name="Google Shape;361;p25"/>
            <p:cNvCxnSpPr/>
            <p:nvPr/>
          </p:nvCxnSpPr>
          <p:spPr>
            <a:xfrm>
              <a:off x="10243848" y="5403479"/>
              <a:ext cx="396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2" name="Google Shape;362;p25"/>
            <p:cNvSpPr txBox="1"/>
            <p:nvPr/>
          </p:nvSpPr>
          <p:spPr>
            <a:xfrm>
              <a:off x="10682137" y="4895524"/>
              <a:ext cx="1270500" cy="13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油溫較低時，焦黑失敗的問題改善。</a:t>
              </a:r>
              <a:endParaRPr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368" name="Google Shape;368;p26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69" name="Google Shape;369;p26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26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" name="Google Shape;371;p26"/>
          <p:cNvGrpSpPr/>
          <p:nvPr/>
        </p:nvGrpSpPr>
        <p:grpSpPr>
          <a:xfrm>
            <a:off x="1106169" y="1304400"/>
            <a:ext cx="9979659" cy="559549"/>
            <a:chOff x="1038860" y="2061829"/>
            <a:chExt cx="9979659" cy="559549"/>
          </a:xfrm>
        </p:grpSpPr>
        <p:sp>
          <p:nvSpPr>
            <p:cNvPr id="372" name="Google Shape;372;p26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6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6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rgbClr val="FF0000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6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376" name="Google Shape;376;p26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6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6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9" name="Google Shape;379;p26"/>
          <p:cNvSpPr txBox="1"/>
          <p:nvPr/>
        </p:nvSpPr>
        <p:spPr>
          <a:xfrm>
            <a:off x="976575" y="2940250"/>
            <a:ext cx="109011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i="0" lang="zh-TW" sz="300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「操作(縱)</a:t>
            </a:r>
            <a:r>
              <a:rPr i="0" lang="zh-TW" sz="300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變因</a:t>
            </a:r>
            <a:r>
              <a:rPr i="0" lang="zh-TW" sz="300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」：進行實驗操作時，只能改變一項的</a:t>
            </a:r>
            <a:r>
              <a:rPr i="0" lang="zh-TW" sz="300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變因</a:t>
            </a:r>
            <a:r>
              <a:rPr i="0" lang="zh-TW" sz="300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i="0" lang="zh-TW" sz="300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「控制</a:t>
            </a:r>
            <a:r>
              <a:rPr i="0" lang="zh-TW" sz="300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變因</a:t>
            </a:r>
            <a:r>
              <a:rPr i="0" lang="zh-TW" sz="300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」：實驗中除了操作(縱)</a:t>
            </a:r>
            <a:r>
              <a:rPr i="0" lang="zh-TW" sz="300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變因</a:t>
            </a:r>
            <a:r>
              <a:rPr i="0" lang="zh-TW" sz="300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外，其餘</a:t>
            </a:r>
            <a:r>
              <a:rPr i="0" lang="zh-TW" sz="300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變因</a:t>
            </a:r>
            <a:r>
              <a:rPr i="0" lang="zh-TW" sz="300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都保持不變，避免影響實驗。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i="0" lang="zh-TW" sz="300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「應變</a:t>
            </a:r>
            <a:r>
              <a:rPr i="0" lang="zh-TW" sz="300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變因</a:t>
            </a:r>
            <a:r>
              <a:rPr i="0" lang="zh-TW" sz="300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」：實驗中隨操作(縱)</a:t>
            </a:r>
            <a:r>
              <a:rPr i="0" lang="zh-TW" sz="300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變因</a:t>
            </a:r>
            <a:r>
              <a:rPr i="0" lang="zh-TW" sz="300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改變後，實驗「結果」也隨之改變的</a:t>
            </a:r>
            <a:r>
              <a:rPr i="0" lang="zh-TW" sz="300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變因</a:t>
            </a:r>
            <a:r>
              <a:rPr i="0" lang="zh-TW" sz="300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6"/>
          <p:cNvSpPr txBox="1"/>
          <p:nvPr/>
        </p:nvSpPr>
        <p:spPr>
          <a:xfrm>
            <a:off x="838199" y="2243768"/>
            <a:ext cx="310006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200">
                <a:solidFill>
                  <a:srgbClr val="262626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實驗中的變因</a:t>
            </a:r>
            <a:endParaRPr sz="3200">
              <a:solidFill>
                <a:srgbClr val="262626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386" name="Google Shape;386;p27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7" name="Google Shape;387;p27"/>
          <p:cNvSpPr txBox="1"/>
          <p:nvPr/>
        </p:nvSpPr>
        <p:spPr>
          <a:xfrm>
            <a:off x="414000" y="2503325"/>
            <a:ext cx="26616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500">
                <a:solidFill>
                  <a:schemeClr val="accent6"/>
                </a:solidFill>
                <a:latin typeface="DFKai-SB"/>
                <a:ea typeface="DFKai-SB"/>
                <a:cs typeface="DFKai-SB"/>
                <a:sym typeface="DFKai-SB"/>
              </a:rPr>
              <a:t>市場痛點分析、投資標的發掘 </a:t>
            </a:r>
            <a:endParaRPr sz="2500">
              <a:solidFill>
                <a:schemeClr val="accent6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388" name="Google Shape;388;p27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9" name="Google Shape;389;p27"/>
          <p:cNvGrpSpPr/>
          <p:nvPr/>
        </p:nvGrpSpPr>
        <p:grpSpPr>
          <a:xfrm>
            <a:off x="1106169" y="1304400"/>
            <a:ext cx="9979778" cy="559529"/>
            <a:chOff x="1038860" y="2061829"/>
            <a:chExt cx="9979778" cy="559529"/>
          </a:xfrm>
        </p:grpSpPr>
        <p:sp>
          <p:nvSpPr>
            <p:cNvPr id="390" name="Google Shape;390;p27"/>
            <p:cNvSpPr txBox="1"/>
            <p:nvPr/>
          </p:nvSpPr>
          <p:spPr>
            <a:xfrm>
              <a:off x="1038860" y="2098158"/>
              <a:ext cx="1828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chemeClr val="accent6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7"/>
            <p:cNvSpPr txBox="1"/>
            <p:nvPr/>
          </p:nvSpPr>
          <p:spPr>
            <a:xfrm>
              <a:off x="9006838" y="2098158"/>
              <a:ext cx="2011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TW" sz="280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7"/>
            <p:cNvSpPr txBox="1"/>
            <p:nvPr/>
          </p:nvSpPr>
          <p:spPr>
            <a:xfrm>
              <a:off x="3362960" y="2098158"/>
              <a:ext cx="210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rgbClr val="6D9EEB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27"/>
            <p:cNvSpPr txBox="1"/>
            <p:nvPr/>
          </p:nvSpPr>
          <p:spPr>
            <a:xfrm>
              <a:off x="6184899" y="2061829"/>
              <a:ext cx="210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394" name="Google Shape;394;p27"/>
            <p:cNvSpPr/>
            <p:nvPr/>
          </p:nvSpPr>
          <p:spPr>
            <a:xfrm>
              <a:off x="2691130" y="2228963"/>
              <a:ext cx="647700" cy="261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7"/>
            <p:cNvSpPr/>
            <p:nvPr/>
          </p:nvSpPr>
          <p:spPr>
            <a:xfrm>
              <a:off x="5448300" y="2250656"/>
              <a:ext cx="647700" cy="261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7"/>
            <p:cNvSpPr/>
            <p:nvPr/>
          </p:nvSpPr>
          <p:spPr>
            <a:xfrm>
              <a:off x="8201660" y="2228963"/>
              <a:ext cx="647700" cy="261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BBD6EE"/>
            </a:solidFill>
            <a:ln cap="flat" cmpd="sng" w="12700">
              <a:solidFill>
                <a:srgbClr val="BBD6E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7" name="Google Shape;397;p27"/>
          <p:cNvSpPr txBox="1"/>
          <p:nvPr/>
        </p:nvSpPr>
        <p:spPr>
          <a:xfrm>
            <a:off x="3358300" y="2336525"/>
            <a:ext cx="2504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solidFill>
                  <a:srgbClr val="6D9EEB"/>
                </a:solidFill>
                <a:latin typeface="DFKai-SB"/>
                <a:ea typeface="DFKai-SB"/>
                <a:cs typeface="DFKai-SB"/>
                <a:sym typeface="DFKai-SB"/>
              </a:rPr>
              <a:t>商業模式驗證、市場 A/B 測試 </a:t>
            </a:r>
            <a:endParaRPr sz="2500">
              <a:solidFill>
                <a:srgbClr val="6D9EEB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398" name="Google Shape;398;p27"/>
          <p:cNvSpPr txBox="1"/>
          <p:nvPr/>
        </p:nvSpPr>
        <p:spPr>
          <a:xfrm>
            <a:off x="6145100" y="2442575"/>
            <a:ext cx="3000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數據分析、財務預測與避險模型 </a:t>
            </a:r>
            <a:endParaRPr sz="2500">
              <a:solidFill>
                <a:srgbClr val="FF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399" name="Google Shape;399;p27"/>
          <p:cNvSpPr txBox="1"/>
          <p:nvPr/>
        </p:nvSpPr>
        <p:spPr>
          <a:xfrm>
            <a:off x="9298050" y="2395425"/>
            <a:ext cx="2273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DFKai-SB"/>
                <a:ea typeface="DFKai-SB"/>
                <a:cs typeface="DFKai-SB"/>
                <a:sym typeface="DFKai-SB"/>
              </a:rPr>
              <a:t>商業簡報、投資報告撰寫 </a:t>
            </a:r>
            <a:endParaRPr sz="250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400" name="Google Shape;400;p27"/>
          <p:cNvSpPr txBox="1"/>
          <p:nvPr/>
        </p:nvSpPr>
        <p:spPr>
          <a:xfrm>
            <a:off x="530225" y="3645600"/>
            <a:ext cx="2661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6"/>
                </a:solidFill>
                <a:latin typeface="DFKai-SB"/>
                <a:ea typeface="DFKai-SB"/>
                <a:cs typeface="DFKai-SB"/>
                <a:sym typeface="DFKai-SB"/>
              </a:rPr>
              <a:t>從日常現象或雜亂數據中，找出具備商業價值或值得投資的異常狀況（例如：特定產品銷量為何突然變化）。 </a:t>
            </a:r>
            <a:endParaRPr sz="2000">
              <a:solidFill>
                <a:schemeClr val="accent6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401" name="Google Shape;401;p27"/>
          <p:cNvSpPr txBox="1"/>
          <p:nvPr/>
        </p:nvSpPr>
        <p:spPr>
          <a:xfrm>
            <a:off x="3242825" y="3645600"/>
            <a:ext cx="2786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rgbClr val="6D9EEB"/>
                </a:solidFill>
                <a:latin typeface="DFKai-SB"/>
                <a:ea typeface="DFKai-SB"/>
                <a:cs typeface="DFKai-SB"/>
                <a:sym typeface="DFKai-SB"/>
              </a:rPr>
              <a:t>學習如何設定「控制變因」與「操縱變因」。在行銷上即是區分對照組與實驗組，確保數據的差異真正來自特定商業策略。 </a:t>
            </a:r>
            <a:endParaRPr sz="2000">
              <a:solidFill>
                <a:srgbClr val="6D9EEB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402" name="Google Shape;402;p27"/>
          <p:cNvSpPr txBox="1"/>
          <p:nvPr/>
        </p:nvSpPr>
        <p:spPr>
          <a:xfrm>
            <a:off x="6221713" y="3645600"/>
            <a:ext cx="2661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運用數A的量化優勢，判讀圖表背後的相關性與因果關係，避免「偽相關」導致錯誤的投資或政策判斷。 </a:t>
            </a:r>
            <a:endParaRPr sz="2000">
              <a:solidFill>
                <a:srgbClr val="FF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403" name="Google Shape;403;p27"/>
          <p:cNvSpPr txBox="1"/>
          <p:nvPr/>
        </p:nvSpPr>
        <p:spPr>
          <a:xfrm>
            <a:off x="9193350" y="3718975"/>
            <a:ext cx="2661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latin typeface="DFKai-SB"/>
                <a:ea typeface="DFKai-SB"/>
                <a:cs typeface="DFKai-SB"/>
                <a:sym typeface="DFKai-SB"/>
              </a:rPr>
              <a:t>將複雜的數據與實驗結果，轉化為投資人或非技術背景的高階主管能聽懂的圖表與決策建議。 </a:t>
            </a:r>
            <a:endParaRPr sz="2000"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409" name="Google Shape;409;p28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任務二：</a:t>
            </a:r>
            <a:endParaRPr/>
          </a:p>
        </p:txBody>
      </p:sp>
      <p:sp>
        <p:nvSpPr>
          <p:cNvPr id="410" name="Google Shape;410;p28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8"/>
          <p:cNvSpPr txBox="1"/>
          <p:nvPr/>
        </p:nvSpPr>
        <p:spPr>
          <a:xfrm>
            <a:off x="1029261" y="5146000"/>
            <a:ext cx="105156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分別</a:t>
            </a:r>
            <a:r>
              <a:rPr i="0" lang="zh-TW" sz="2900" u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寫出該實驗中的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操縱</a:t>
            </a:r>
            <a:r>
              <a:rPr i="0" lang="zh-TW" sz="2900" u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變因，及應變變因，並與組員討論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設計</a:t>
            </a:r>
            <a:r>
              <a:rPr i="0" lang="zh-TW" sz="2900" u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一個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新的</a:t>
            </a:r>
            <a:r>
              <a:rPr i="0" lang="zh-TW" sz="2900" u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實驗例子，上台分享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，並上傳classroom</a:t>
            </a:r>
            <a:endParaRPr i="0" sz="2900" u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412" name="Google Shape;412;p28"/>
          <p:cNvGrpSpPr/>
          <p:nvPr/>
        </p:nvGrpSpPr>
        <p:grpSpPr>
          <a:xfrm>
            <a:off x="838199" y="1236741"/>
            <a:ext cx="10897736" cy="1963001"/>
            <a:chOff x="363940" y="2307555"/>
            <a:chExt cx="10897736" cy="2133928"/>
          </a:xfrm>
        </p:grpSpPr>
        <p:grpSp>
          <p:nvGrpSpPr>
            <p:cNvPr id="413" name="Google Shape;413;p28"/>
            <p:cNvGrpSpPr/>
            <p:nvPr/>
          </p:nvGrpSpPr>
          <p:grpSpPr>
            <a:xfrm>
              <a:off x="363940" y="2307555"/>
              <a:ext cx="10897736" cy="2133928"/>
              <a:chOff x="267064" y="4369164"/>
              <a:chExt cx="10897736" cy="2133928"/>
            </a:xfrm>
          </p:grpSpPr>
          <p:sp>
            <p:nvSpPr>
              <p:cNvPr id="414" name="Google Shape;414;p28"/>
              <p:cNvSpPr txBox="1"/>
              <p:nvPr/>
            </p:nvSpPr>
            <p:spPr>
              <a:xfrm>
                <a:off x="267064" y="4403083"/>
                <a:ext cx="1476300" cy="13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確定運動可以改善肥胖</a:t>
                </a:r>
                <a:endParaRPr/>
              </a:p>
            </p:txBody>
          </p:sp>
          <p:sp>
            <p:nvSpPr>
              <p:cNvPr id="415" name="Google Shape;415;p28"/>
              <p:cNvSpPr txBox="1"/>
              <p:nvPr/>
            </p:nvSpPr>
            <p:spPr>
              <a:xfrm>
                <a:off x="2157599" y="4403083"/>
                <a:ext cx="1635000" cy="17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何種運動改善肥胖效果最好？</a:t>
                </a:r>
                <a:endParaRPr/>
              </a:p>
            </p:txBody>
          </p:sp>
          <p:sp>
            <p:nvSpPr>
              <p:cNvPr id="416" name="Google Shape;416;p28"/>
              <p:cNvSpPr txBox="1"/>
              <p:nvPr/>
            </p:nvSpPr>
            <p:spPr>
              <a:xfrm>
                <a:off x="4404641" y="4369164"/>
                <a:ext cx="1635000" cy="17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讓受試者分別進行不同運動30天</a:t>
                </a:r>
                <a:endParaRPr/>
              </a:p>
            </p:txBody>
          </p:sp>
          <p:sp>
            <p:nvSpPr>
              <p:cNvPr id="417" name="Google Shape;417;p28"/>
              <p:cNvSpPr txBox="1"/>
              <p:nvPr/>
            </p:nvSpPr>
            <p:spPr>
              <a:xfrm>
                <a:off x="6397040" y="4394692"/>
                <a:ext cx="2195100" cy="210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分析從事不同運動(跑步、重訓、打籃球)的人BMI下降的比例</a:t>
                </a:r>
                <a:endParaRPr/>
              </a:p>
            </p:txBody>
          </p:sp>
          <p:sp>
            <p:nvSpPr>
              <p:cNvPr id="418" name="Google Shape;418;p28"/>
              <p:cNvSpPr/>
              <p:nvPr/>
            </p:nvSpPr>
            <p:spPr>
              <a:xfrm>
                <a:off x="3781456" y="4825099"/>
                <a:ext cx="453138" cy="148951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accent1"/>
              </a:solidFill>
              <a:ln cap="flat" cmpd="sng" w="127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28"/>
              <p:cNvSpPr/>
              <p:nvPr/>
            </p:nvSpPr>
            <p:spPr>
              <a:xfrm>
                <a:off x="5892219" y="4825098"/>
                <a:ext cx="453138" cy="148951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accent1"/>
              </a:solidFill>
              <a:ln cap="flat" cmpd="sng" w="127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28"/>
              <p:cNvSpPr txBox="1"/>
              <p:nvPr/>
            </p:nvSpPr>
            <p:spPr>
              <a:xfrm>
                <a:off x="9318300" y="4570013"/>
                <a:ext cx="1846500" cy="13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確認BMI下降最多的運動為何</a:t>
                </a:r>
                <a:endParaRPr/>
              </a:p>
            </p:txBody>
          </p:sp>
          <p:sp>
            <p:nvSpPr>
              <p:cNvPr id="421" name="Google Shape;421;p28"/>
              <p:cNvSpPr/>
              <p:nvPr/>
            </p:nvSpPr>
            <p:spPr>
              <a:xfrm>
                <a:off x="8700904" y="4899535"/>
                <a:ext cx="453000" cy="149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accent1"/>
              </a:solidFill>
              <a:ln cap="flat" cmpd="sng" w="127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2" name="Google Shape;422;p28"/>
            <p:cNvSpPr/>
            <p:nvPr/>
          </p:nvSpPr>
          <p:spPr>
            <a:xfrm>
              <a:off x="1812607" y="2804568"/>
              <a:ext cx="453138" cy="148951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3" name="Google Shape;423;p28"/>
          <p:cNvGrpSpPr/>
          <p:nvPr/>
        </p:nvGrpSpPr>
        <p:grpSpPr>
          <a:xfrm>
            <a:off x="838199" y="3217941"/>
            <a:ext cx="10467686" cy="2339967"/>
            <a:chOff x="363940" y="2307555"/>
            <a:chExt cx="10467686" cy="2543719"/>
          </a:xfrm>
        </p:grpSpPr>
        <p:grpSp>
          <p:nvGrpSpPr>
            <p:cNvPr id="424" name="Google Shape;424;p28"/>
            <p:cNvGrpSpPr/>
            <p:nvPr/>
          </p:nvGrpSpPr>
          <p:grpSpPr>
            <a:xfrm>
              <a:off x="363940" y="2307555"/>
              <a:ext cx="10467686" cy="2543719"/>
              <a:chOff x="267064" y="4369164"/>
              <a:chExt cx="10467686" cy="2543719"/>
            </a:xfrm>
          </p:grpSpPr>
          <p:sp>
            <p:nvSpPr>
              <p:cNvPr id="425" name="Google Shape;425;p28"/>
              <p:cNvSpPr txBox="1"/>
              <p:nvPr/>
            </p:nvSpPr>
            <p:spPr>
              <a:xfrm>
                <a:off x="267064" y="4403083"/>
                <a:ext cx="1476300" cy="210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確定油溫降低可以改善焦黑問題</a:t>
                </a:r>
                <a:endParaRPr sz="2000">
                  <a:solidFill>
                    <a:schemeClr val="dk1"/>
                  </a:solidFill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26" name="Google Shape;426;p28"/>
              <p:cNvSpPr txBox="1"/>
              <p:nvPr/>
            </p:nvSpPr>
            <p:spPr>
              <a:xfrm>
                <a:off x="2157599" y="4403083"/>
                <a:ext cx="1635000" cy="250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油炸結果最佳的油溫下，炸多久最適合?</a:t>
                </a:r>
                <a:endParaRPr sz="2400">
                  <a:solidFill>
                    <a:schemeClr val="dk1"/>
                  </a:solidFill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27" name="Google Shape;427;p28"/>
              <p:cNvSpPr txBox="1"/>
              <p:nvPr/>
            </p:nvSpPr>
            <p:spPr>
              <a:xfrm>
                <a:off x="4404641" y="4369164"/>
                <a:ext cx="1635000" cy="17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以該油溫炸鹹酥雞，改變油炸時長</a:t>
                </a:r>
                <a:endParaRPr sz="2400">
                  <a:solidFill>
                    <a:schemeClr val="dk1"/>
                  </a:solidFill>
                </a:endParaRPr>
              </a:p>
            </p:txBody>
          </p:sp>
          <p:sp>
            <p:nvSpPr>
              <p:cNvPr id="428" name="Google Shape;428;p28"/>
              <p:cNvSpPr txBox="1"/>
              <p:nvPr/>
            </p:nvSpPr>
            <p:spPr>
              <a:xfrm>
                <a:off x="6397036" y="4394697"/>
                <a:ext cx="1776600" cy="17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分析不同時長的油炸結果</a:t>
                </a:r>
                <a:endParaRPr sz="2400">
                  <a:solidFill>
                    <a:schemeClr val="dk1"/>
                  </a:solidFill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29" name="Google Shape;429;p28"/>
              <p:cNvSpPr/>
              <p:nvPr/>
            </p:nvSpPr>
            <p:spPr>
              <a:xfrm>
                <a:off x="3781456" y="4825099"/>
                <a:ext cx="453000" cy="149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accent1"/>
              </a:solidFill>
              <a:ln cap="flat" cmpd="sng" w="127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28"/>
              <p:cNvSpPr/>
              <p:nvPr/>
            </p:nvSpPr>
            <p:spPr>
              <a:xfrm>
                <a:off x="5892219" y="4825098"/>
                <a:ext cx="453000" cy="149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accent1"/>
              </a:solidFill>
              <a:ln cap="flat" cmpd="sng" w="127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28"/>
              <p:cNvSpPr txBox="1"/>
              <p:nvPr/>
            </p:nvSpPr>
            <p:spPr>
              <a:xfrm>
                <a:off x="8888250" y="4447296"/>
                <a:ext cx="1846500" cy="13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確認最佳油炸時長為何</a:t>
                </a:r>
                <a:endParaRPr sz="2400">
                  <a:solidFill>
                    <a:schemeClr val="dk1"/>
                  </a:solidFill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32" name="Google Shape;432;p28"/>
              <p:cNvSpPr/>
              <p:nvPr/>
            </p:nvSpPr>
            <p:spPr>
              <a:xfrm>
                <a:off x="8331754" y="4825098"/>
                <a:ext cx="453000" cy="149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accent1"/>
              </a:solidFill>
              <a:ln cap="flat" cmpd="sng" w="127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3" name="Google Shape;433;p28"/>
            <p:cNvSpPr/>
            <p:nvPr/>
          </p:nvSpPr>
          <p:spPr>
            <a:xfrm>
              <a:off x="1812607" y="2804568"/>
              <a:ext cx="453000" cy="1491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439" name="Google Shape;439;p29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任務二：</a:t>
            </a:r>
            <a:endParaRPr/>
          </a:p>
        </p:txBody>
      </p:sp>
      <p:sp>
        <p:nvSpPr>
          <p:cNvPr id="440" name="Google Shape;440;p29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9"/>
          <p:cNvSpPr txBox="1"/>
          <p:nvPr/>
        </p:nvSpPr>
        <p:spPr>
          <a:xfrm>
            <a:off x="1600309" y="4312727"/>
            <a:ext cx="93990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i="0" lang="zh-TW" sz="2900" u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寫出該實驗中的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操縱</a:t>
            </a:r>
            <a:r>
              <a:rPr i="0" lang="zh-TW" sz="2900" u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變因，及應變變因，並與組員討論一個實驗例子，上台分享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，並上傳classroom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442" name="Google Shape;442;p29"/>
          <p:cNvGrpSpPr/>
          <p:nvPr/>
        </p:nvGrpSpPr>
        <p:grpSpPr>
          <a:xfrm>
            <a:off x="838199" y="1465341"/>
            <a:ext cx="10467686" cy="2339967"/>
            <a:chOff x="363940" y="2307555"/>
            <a:chExt cx="10467686" cy="2543719"/>
          </a:xfrm>
        </p:grpSpPr>
        <p:grpSp>
          <p:nvGrpSpPr>
            <p:cNvPr id="443" name="Google Shape;443;p29"/>
            <p:cNvGrpSpPr/>
            <p:nvPr/>
          </p:nvGrpSpPr>
          <p:grpSpPr>
            <a:xfrm>
              <a:off x="363940" y="2307555"/>
              <a:ext cx="10467686" cy="2543719"/>
              <a:chOff x="267064" y="4369164"/>
              <a:chExt cx="10467686" cy="2543719"/>
            </a:xfrm>
          </p:grpSpPr>
          <p:sp>
            <p:nvSpPr>
              <p:cNvPr id="444" name="Google Shape;444;p29"/>
              <p:cNvSpPr txBox="1"/>
              <p:nvPr/>
            </p:nvSpPr>
            <p:spPr>
              <a:xfrm>
                <a:off x="267064" y="4403083"/>
                <a:ext cx="1476300" cy="210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確定油溫降低可以改善焦黑問題</a:t>
                </a:r>
                <a:endParaRPr sz="2000">
                  <a:solidFill>
                    <a:schemeClr val="dk1"/>
                  </a:solidFill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45" name="Google Shape;445;p29"/>
              <p:cNvSpPr txBox="1"/>
              <p:nvPr/>
            </p:nvSpPr>
            <p:spPr>
              <a:xfrm>
                <a:off x="2157599" y="4403083"/>
                <a:ext cx="1635000" cy="250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油炸結果最佳的油溫下，炸多久最適合?</a:t>
                </a:r>
                <a:endParaRPr sz="2400">
                  <a:solidFill>
                    <a:schemeClr val="dk1"/>
                  </a:solidFill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46" name="Google Shape;446;p29"/>
              <p:cNvSpPr txBox="1"/>
              <p:nvPr/>
            </p:nvSpPr>
            <p:spPr>
              <a:xfrm>
                <a:off x="4404641" y="4369164"/>
                <a:ext cx="1635000" cy="17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以該油溫炸鹹酥雞，改變油炸時長</a:t>
                </a:r>
                <a:endParaRPr sz="2400">
                  <a:solidFill>
                    <a:schemeClr val="dk1"/>
                  </a:solidFill>
                </a:endParaRPr>
              </a:p>
            </p:txBody>
          </p:sp>
          <p:sp>
            <p:nvSpPr>
              <p:cNvPr id="447" name="Google Shape;447;p29"/>
              <p:cNvSpPr txBox="1"/>
              <p:nvPr/>
            </p:nvSpPr>
            <p:spPr>
              <a:xfrm>
                <a:off x="6397036" y="4394697"/>
                <a:ext cx="1776600" cy="17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分析不同時長的油炸結果</a:t>
                </a:r>
                <a:endParaRPr sz="2400">
                  <a:solidFill>
                    <a:schemeClr val="dk1"/>
                  </a:solidFill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48" name="Google Shape;448;p29"/>
              <p:cNvSpPr/>
              <p:nvPr/>
            </p:nvSpPr>
            <p:spPr>
              <a:xfrm>
                <a:off x="3781456" y="4825099"/>
                <a:ext cx="453000" cy="149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accent1"/>
              </a:solidFill>
              <a:ln cap="flat" cmpd="sng" w="127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29"/>
              <p:cNvSpPr/>
              <p:nvPr/>
            </p:nvSpPr>
            <p:spPr>
              <a:xfrm>
                <a:off x="5892219" y="4825098"/>
                <a:ext cx="453000" cy="149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accent1"/>
              </a:solidFill>
              <a:ln cap="flat" cmpd="sng" w="127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29"/>
              <p:cNvSpPr txBox="1"/>
              <p:nvPr/>
            </p:nvSpPr>
            <p:spPr>
              <a:xfrm>
                <a:off x="8888250" y="4447296"/>
                <a:ext cx="1846500" cy="13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確認最佳油炸時長為何</a:t>
                </a:r>
                <a:endParaRPr sz="2400">
                  <a:solidFill>
                    <a:schemeClr val="dk1"/>
                  </a:solidFill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51" name="Google Shape;451;p29"/>
              <p:cNvSpPr/>
              <p:nvPr/>
            </p:nvSpPr>
            <p:spPr>
              <a:xfrm>
                <a:off x="8331754" y="4825098"/>
                <a:ext cx="453000" cy="149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accent1"/>
              </a:solidFill>
              <a:ln cap="flat" cmpd="sng" w="127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2" name="Google Shape;452;p29"/>
            <p:cNvSpPr/>
            <p:nvPr/>
          </p:nvSpPr>
          <p:spPr>
            <a:xfrm>
              <a:off x="1812607" y="2804568"/>
              <a:ext cx="453000" cy="1491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458" name="Google Shape;458;p30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你可以獲得什麼？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59" name="Google Shape;459;p30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0" name="Google Shape;460;p30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0"/>
          <p:cNvSpPr txBox="1"/>
          <p:nvPr/>
        </p:nvSpPr>
        <p:spPr>
          <a:xfrm>
            <a:off x="1859280" y="1533091"/>
            <a:ext cx="4135120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短期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學測成績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長期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基礎科學研究能力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報告撰寫功力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演講實力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提問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467" name="Google Shape;467;p31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探究考題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68" name="Google Shape;468;p31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9" name="Google Shape;469;p3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1"/>
          <p:cNvSpPr/>
          <p:nvPr/>
        </p:nvSpPr>
        <p:spPr>
          <a:xfrm>
            <a:off x="1635760" y="1710993"/>
            <a:ext cx="9144000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繪圖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圖表判讀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由圖表或敘述解釋實驗結果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判斷實驗正確性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提出實驗缺漏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476" name="Google Shape;476;p32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大考</a:t>
            </a: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題型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77" name="Google Shape;477;p32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8" name="Google Shape;47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9038" y="1201138"/>
            <a:ext cx="6557825" cy="261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9050" y="4010375"/>
            <a:ext cx="6557800" cy="1493512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2"/>
          <p:cNvSpPr txBox="1"/>
          <p:nvPr/>
        </p:nvSpPr>
        <p:spPr>
          <a:xfrm>
            <a:off x="9116850" y="5822500"/>
            <a:ext cx="1448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/>
              <a:t>113</a:t>
            </a:r>
            <a:r>
              <a:rPr lang="zh-TW" sz="2500"/>
              <a:t>學測</a:t>
            </a:r>
            <a:endParaRPr sz="25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486" name="Google Shape;486;p33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大考題型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87" name="Google Shape;487;p33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8" name="Google Shape;488;p33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9" name="Google Shape;48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750" y="1348300"/>
            <a:ext cx="6733997" cy="4692776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3"/>
          <p:cNvSpPr txBox="1"/>
          <p:nvPr/>
        </p:nvSpPr>
        <p:spPr>
          <a:xfrm>
            <a:off x="9230025" y="5935650"/>
            <a:ext cx="1448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/>
              <a:t>113學測</a:t>
            </a:r>
            <a:endParaRPr sz="25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496" name="Google Shape;496;p34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大考題型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97" name="Google Shape;497;p34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34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9" name="Google Shape;49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50" y="1151563"/>
            <a:ext cx="6125553" cy="3238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4"/>
          <p:cNvPicPr preferRelativeResize="0"/>
          <p:nvPr/>
        </p:nvPicPr>
        <p:blipFill rotWithShape="1">
          <a:blip r:embed="rId4">
            <a:alphaModFix/>
          </a:blip>
          <a:srcRect b="0" l="0" r="42726" t="55707"/>
          <a:stretch/>
        </p:blipFill>
        <p:spPr>
          <a:xfrm>
            <a:off x="6931925" y="1534425"/>
            <a:ext cx="4990589" cy="189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4"/>
          <p:cNvPicPr preferRelativeResize="0"/>
          <p:nvPr/>
        </p:nvPicPr>
        <p:blipFill rotWithShape="1">
          <a:blip r:embed="rId4">
            <a:alphaModFix/>
          </a:blip>
          <a:srcRect b="44361" l="0" r="0" t="0"/>
          <a:stretch/>
        </p:blipFill>
        <p:spPr>
          <a:xfrm>
            <a:off x="365750" y="4546925"/>
            <a:ext cx="6936989" cy="189042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4"/>
          <p:cNvSpPr txBox="1"/>
          <p:nvPr/>
        </p:nvSpPr>
        <p:spPr>
          <a:xfrm>
            <a:off x="9230025" y="5935650"/>
            <a:ext cx="1448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/>
              <a:t>112</a:t>
            </a:r>
            <a:r>
              <a:rPr lang="zh-TW" sz="2500"/>
              <a:t>分科</a:t>
            </a:r>
            <a:endParaRPr sz="2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508" name="Google Shape;508;p35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大考題型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09" name="Google Shape;509;p35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0" name="Google Shape;510;p35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1" name="Google Shape;51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850" y="1130562"/>
            <a:ext cx="7839125" cy="197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5725" y="3233163"/>
            <a:ext cx="7417250" cy="2272162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5"/>
          <p:cNvSpPr txBox="1"/>
          <p:nvPr/>
        </p:nvSpPr>
        <p:spPr>
          <a:xfrm>
            <a:off x="9230025" y="5935650"/>
            <a:ext cx="1448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/>
              <a:t>111</a:t>
            </a:r>
            <a:r>
              <a:rPr lang="zh-TW" sz="2500"/>
              <a:t>學測</a:t>
            </a:r>
            <a:endParaRPr sz="2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519" name="Google Shape;519;p36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大考題型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20" name="Google Shape;520;p36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1" name="Google Shape;521;p36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2" name="Google Shape;522;p36"/>
          <p:cNvPicPr preferRelativeResize="0"/>
          <p:nvPr/>
        </p:nvPicPr>
        <p:blipFill rotWithShape="1">
          <a:blip r:embed="rId3">
            <a:alphaModFix/>
          </a:blip>
          <a:srcRect b="0" l="0" r="47440" t="0"/>
          <a:stretch/>
        </p:blipFill>
        <p:spPr>
          <a:xfrm>
            <a:off x="400400" y="1111450"/>
            <a:ext cx="3898400" cy="227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3400" y="1237450"/>
            <a:ext cx="7197875" cy="44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36"/>
          <p:cNvPicPr preferRelativeResize="0"/>
          <p:nvPr/>
        </p:nvPicPr>
        <p:blipFill rotWithShape="1">
          <a:blip r:embed="rId3">
            <a:alphaModFix/>
          </a:blip>
          <a:srcRect b="0" l="52559" r="0" t="0"/>
          <a:stretch/>
        </p:blipFill>
        <p:spPr>
          <a:xfrm>
            <a:off x="779950" y="3491000"/>
            <a:ext cx="3518850" cy="227215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6"/>
          <p:cNvSpPr txBox="1"/>
          <p:nvPr/>
        </p:nvSpPr>
        <p:spPr>
          <a:xfrm>
            <a:off x="9230025" y="5935650"/>
            <a:ext cx="1448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/>
              <a:t>111學測</a:t>
            </a:r>
            <a:endParaRPr sz="25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7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2" name="Google Shape;532;p37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畫布" id="533" name="Google Shape;533;p37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zh-TW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 </a:t>
            </a:r>
            <a:endParaRPr b="1" i="0" sz="4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34" name="Google Shape;534;p37"/>
          <p:cNvSpPr txBox="1"/>
          <p:nvPr/>
        </p:nvSpPr>
        <p:spPr>
          <a:xfrm>
            <a:off x="838198" y="1665171"/>
            <a:ext cx="10515601" cy="29779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57200" lvl="0" marL="660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zh-TW" sz="3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為了節省整理資訊的時間、專注思考筆記內容，1950年代，美國康乃爾大學（Cornell University）教授華特‧波克（Walter Pauk）開發了一套在課堂、講座、閱讀時，記錄資訊的方法，稱為「康乃爾筆記法」。</a:t>
            </a:r>
            <a:endParaRPr b="0" i="0" sz="3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8"/>
          <p:cNvSpPr txBox="1"/>
          <p:nvPr/>
        </p:nvSpPr>
        <p:spPr>
          <a:xfrm>
            <a:off x="991374" y="1865496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1" name="Google Shape;541;p38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畫布" id="542" name="Google Shape;542;p38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zh-TW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 </a:t>
            </a:r>
            <a:endParaRPr b="1" i="0" sz="4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43" name="Google Shape;543;p38"/>
          <p:cNvSpPr txBox="1"/>
          <p:nvPr/>
        </p:nvSpPr>
        <p:spPr>
          <a:xfrm>
            <a:off x="931675" y="1387325"/>
            <a:ext cx="5077800" cy="43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5461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oto Sans Symbols"/>
              <a:buChar char="⮚"/>
            </a:pPr>
            <a:r>
              <a:rPr b="0" i="0" lang="zh-TW" sz="26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筆記頁面劃分成「一大兩小」3個區塊。一大，指的是右邊的「筆記欄」；兩小，分別是左邊的「整理欄」和下方的「摘要欄」。每個區塊的大小並沒有硬性規定，唯有筆記欄需要大一點的空間。</a:t>
            </a:r>
            <a:endParaRPr b="0" i="0" sz="26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44" name="Google Shape;54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3800" y="1173100"/>
            <a:ext cx="3864926" cy="490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9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1" name="Google Shape;551;p39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畫布" id="552" name="Google Shape;552;p39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zh-TW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 </a:t>
            </a:r>
            <a:endParaRPr b="1" i="0" sz="4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53" name="Google Shape;553;p39"/>
          <p:cNvSpPr txBox="1"/>
          <p:nvPr/>
        </p:nvSpPr>
        <p:spPr>
          <a:xfrm>
            <a:off x="692761" y="1227131"/>
            <a:ext cx="4021477" cy="4955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546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【基本用法】將筆記切成 3+1個區塊</a:t>
            </a:r>
            <a:endParaRPr b="1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 Black"/>
              <a:buAutoNum type="arabicPeriod"/>
            </a:pPr>
            <a:r>
              <a:rPr b="0" i="0" lang="zh-TW" sz="2000">
                <a:solidFill>
                  <a:srgbClr val="212529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上方區塊「資訊區」：用來記錄筆記主題、日期、編號、頁碼等資訊。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 Black"/>
              <a:buAutoNum type="arabicPeriod"/>
            </a:pPr>
            <a:r>
              <a:rPr b="0" i="0" lang="zh-TW" sz="2000">
                <a:solidFill>
                  <a:srgbClr val="212529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右側大區塊是「記錄（筆記）區」（Notetaking column）：上課中使用，記錄上課內容筆記。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 Black"/>
              <a:buAutoNum type="arabicPeriod"/>
            </a:pPr>
            <a:r>
              <a:rPr b="0" i="0" lang="zh-TW" sz="2000">
                <a:solidFill>
                  <a:srgbClr val="212529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左側是「關鍵字區」（Cue column）：能喚起記憶的線索，寫下問題或關鍵字詞。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 Black"/>
              <a:buAutoNum type="arabicPeriod"/>
            </a:pPr>
            <a:r>
              <a:rPr b="0" i="0" lang="zh-TW" sz="2000">
                <a:solidFill>
                  <a:srgbClr val="212529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下方區塊是「複習（摘要）區」（Summary column）：下課後使用，摘要重點，有助於快速複習。</a:t>
            </a:r>
            <a:endParaRPr b="0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54" name="Google Shape;554;p39"/>
          <p:cNvPicPr preferRelativeResize="0"/>
          <p:nvPr/>
        </p:nvPicPr>
        <p:blipFill rotWithShape="1">
          <a:blip r:embed="rId3">
            <a:alphaModFix/>
          </a:blip>
          <a:srcRect b="0" l="9440" r="5786" t="0"/>
          <a:stretch/>
        </p:blipFill>
        <p:spPr>
          <a:xfrm>
            <a:off x="8615679" y="1773772"/>
            <a:ext cx="3159761" cy="3862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39"/>
          <p:cNvPicPr preferRelativeResize="0"/>
          <p:nvPr/>
        </p:nvPicPr>
        <p:blipFill rotWithShape="1">
          <a:blip r:embed="rId4">
            <a:alphaModFix/>
          </a:blip>
          <a:srcRect b="0" l="11271" r="8159" t="0"/>
          <a:stretch/>
        </p:blipFill>
        <p:spPr>
          <a:xfrm>
            <a:off x="5135878" y="1773772"/>
            <a:ext cx="3058161" cy="372571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39"/>
          <p:cNvSpPr txBox="1"/>
          <p:nvPr/>
        </p:nvSpPr>
        <p:spPr>
          <a:xfrm>
            <a:off x="9067142" y="5823899"/>
            <a:ext cx="2479698" cy="46166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心得反思</a:t>
            </a:r>
            <a:endParaRPr/>
          </a:p>
        </p:txBody>
      </p:sp>
      <p:sp>
        <p:nvSpPr>
          <p:cNvPr id="557" name="Google Shape;557;p39"/>
          <p:cNvSpPr/>
          <p:nvPr/>
        </p:nvSpPr>
        <p:spPr>
          <a:xfrm>
            <a:off x="10182531" y="5192829"/>
            <a:ext cx="284480" cy="56896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0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4" name="Google Shape;564;p40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畫布" id="565" name="Google Shape;565;p40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zh-TW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 </a:t>
            </a:r>
            <a:endParaRPr b="1" i="0" sz="4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66" name="Google Shape;566;p40"/>
          <p:cNvSpPr txBox="1"/>
          <p:nvPr/>
        </p:nvSpPr>
        <p:spPr>
          <a:xfrm>
            <a:off x="692761" y="1227131"/>
            <a:ext cx="4021477" cy="4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546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1"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學長們的範例</a:t>
            </a:r>
            <a:endParaRPr b="0" i="0" sz="3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67" name="Google Shape;56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2174" y="1888267"/>
            <a:ext cx="2831393" cy="4291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8065" y="1879948"/>
            <a:ext cx="2924584" cy="4297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55171" y="1819370"/>
            <a:ext cx="2831393" cy="43866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0" name="Google Shape;570;p40"/>
          <p:cNvCxnSpPr/>
          <p:nvPr/>
        </p:nvCxnSpPr>
        <p:spPr>
          <a:xfrm>
            <a:off x="2556625" y="-259125"/>
            <a:ext cx="1658400" cy="165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1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7" name="Google Shape;577;p41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畫布" id="578" name="Google Shape;578;p41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zh-TW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 </a:t>
            </a:r>
            <a:endParaRPr b="1" i="0" sz="4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79" name="Google Shape;579;p41"/>
          <p:cNvSpPr txBox="1"/>
          <p:nvPr/>
        </p:nvSpPr>
        <p:spPr>
          <a:xfrm>
            <a:off x="692761" y="1227131"/>
            <a:ext cx="40215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546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1"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學長們的範例</a:t>
            </a:r>
            <a:endParaRPr b="0" i="0" sz="3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580" name="Google Shape;580;p41"/>
          <p:cNvCxnSpPr/>
          <p:nvPr/>
        </p:nvCxnSpPr>
        <p:spPr>
          <a:xfrm>
            <a:off x="2556625" y="-259125"/>
            <a:ext cx="1658400" cy="165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81" name="Google Shape;58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563" y="1800613"/>
            <a:ext cx="3495675" cy="465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4375" y="1800625"/>
            <a:ext cx="3387439" cy="465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588" name="Google Shape;588;p42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b="0" i="0" lang="zh-TW" sz="440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 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89" name="Google Shape;589;p42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0" name="Google Shape;590;p42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42"/>
          <p:cNvSpPr txBox="1"/>
          <p:nvPr/>
        </p:nvSpPr>
        <p:spPr>
          <a:xfrm>
            <a:off x="1246484" y="1688230"/>
            <a:ext cx="609600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zh-TW" sz="2000" u="none" strike="noStrike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科學筆記本：康乃爾筆記法 </a:t>
            </a:r>
            <a:endParaRPr b="0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2000" u="sng" strike="noStrike">
                <a:solidFill>
                  <a:srgbClr val="1155CC"/>
                </a:solidFill>
                <a:latin typeface="Golos Text"/>
                <a:ea typeface="Golos Text"/>
                <a:cs typeface="Golos Text"/>
                <a:sym typeface="Golos Tex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https://reurl.cc/y6y608</a:t>
            </a:r>
            <a:endParaRPr b="0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br>
              <a:rPr b="0"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zh-TW" sz="2000" u="none" strike="noStrike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康乃爾筆記法+ 5R筆記法</a:t>
            </a:r>
            <a:endParaRPr b="0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2000" u="sng" strike="noStrike">
                <a:solidFill>
                  <a:srgbClr val="1155CC"/>
                </a:solidFill>
                <a:latin typeface="Golos Text"/>
                <a:ea typeface="Golos Text"/>
                <a:cs typeface="Golos Text"/>
                <a:sym typeface="Golos Tex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https://vocus.cc/article/5e3c1ec2fd897800013ae05c</a:t>
            </a:r>
            <a:br>
              <a:rPr b="0"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42"/>
          <p:cNvSpPr txBox="1"/>
          <p:nvPr/>
        </p:nvSpPr>
        <p:spPr>
          <a:xfrm>
            <a:off x="692761" y="1227131"/>
            <a:ext cx="4021477" cy="4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546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1"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參考資料</a:t>
            </a:r>
            <a:endParaRPr b="0" i="0" sz="3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598" name="Google Shape;598;p43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3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康乃爾筆記法-練習範例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99" name="Google Shape;599;p43"/>
          <p:cNvSpPr txBox="1"/>
          <p:nvPr/>
        </p:nvSpPr>
        <p:spPr>
          <a:xfrm>
            <a:off x="838200" y="2230399"/>
            <a:ext cx="10515600" cy="37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化理論有來自不同領域的支持。化石紀錄顯示物種會隨時間改變，並出現過渡形態。比較解剖學中，同源構造暗示不同物種可能有共同祖先，而趨同演化則說明不同物種因相似環境壓力而出現相似特徵。分子生物學的研究則顯示，DNA 與蛋白質序列的相似度可以反映物種間的親緣關係。生物地理分布，如島嶼特有種，也能解釋物種如何因地理隔離而分化。胚胎學觀察則發現，不同物種在胚胎早期的發育階段常有相似之處。</a:t>
            </a:r>
            <a:endParaRPr sz="3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5400" lvl="0" marL="228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00" name="Google Shape;600;p43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43"/>
          <p:cNvSpPr txBox="1"/>
          <p:nvPr/>
        </p:nvSpPr>
        <p:spPr>
          <a:xfrm>
            <a:off x="915425" y="1380238"/>
            <a:ext cx="6333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主題一：演化的證據</a:t>
            </a:r>
            <a:endParaRPr sz="3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607" name="Google Shape;607;p44"/>
          <p:cNvSpPr txBox="1"/>
          <p:nvPr/>
        </p:nvSpPr>
        <p:spPr>
          <a:xfrm>
            <a:off x="702100" y="98613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b="0" i="0" lang="zh-TW" sz="390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</a:t>
            </a:r>
            <a:r>
              <a:rPr lang="zh-TW" sz="3900">
                <a:latin typeface="Microsoft JhengHei"/>
                <a:ea typeface="Microsoft JhengHei"/>
                <a:cs typeface="Microsoft JhengHei"/>
                <a:sym typeface="Microsoft JhengHei"/>
              </a:rPr>
              <a:t>練習範例</a:t>
            </a:r>
            <a:r>
              <a:rPr b="0" i="0" lang="zh-TW" sz="390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 </a:t>
            </a:r>
            <a:endParaRPr sz="3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08" name="Google Shape;608;p44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9" name="Google Shape;609;p44"/>
          <p:cNvCxnSpPr/>
          <p:nvPr/>
        </p:nvCxnSpPr>
        <p:spPr>
          <a:xfrm>
            <a:off x="3823125" y="1405421"/>
            <a:ext cx="42900" cy="422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0" name="Google Shape;610;p44"/>
          <p:cNvSpPr txBox="1"/>
          <p:nvPr/>
        </p:nvSpPr>
        <p:spPr>
          <a:xfrm>
            <a:off x="915425" y="819762"/>
            <a:ext cx="633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主題一：演化的證據</a:t>
            </a:r>
            <a:endParaRPr sz="3000"/>
          </a:p>
        </p:txBody>
      </p:sp>
      <p:grpSp>
        <p:nvGrpSpPr>
          <p:cNvPr id="611" name="Google Shape;611;p44"/>
          <p:cNvGrpSpPr/>
          <p:nvPr/>
        </p:nvGrpSpPr>
        <p:grpSpPr>
          <a:xfrm>
            <a:off x="915425" y="1475458"/>
            <a:ext cx="10438250" cy="4107317"/>
            <a:chOff x="915425" y="1677164"/>
            <a:chExt cx="10438250" cy="4107317"/>
          </a:xfrm>
        </p:grpSpPr>
        <p:sp>
          <p:nvSpPr>
            <p:cNvPr id="612" name="Google Shape;612;p44"/>
            <p:cNvSpPr txBox="1"/>
            <p:nvPr/>
          </p:nvSpPr>
          <p:spPr>
            <a:xfrm>
              <a:off x="915425" y="1715102"/>
              <a:ext cx="18024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化石紀錄</a:t>
              </a:r>
              <a:endParaRPr/>
            </a:p>
          </p:txBody>
        </p:sp>
        <p:sp>
          <p:nvSpPr>
            <p:cNvPr id="613" name="Google Shape;613;p44"/>
            <p:cNvSpPr txBox="1"/>
            <p:nvPr/>
          </p:nvSpPr>
          <p:spPr>
            <a:xfrm>
              <a:off x="915425" y="2473155"/>
              <a:ext cx="1644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解剖學</a:t>
              </a:r>
              <a:endParaRPr/>
            </a:p>
          </p:txBody>
        </p:sp>
        <p:sp>
          <p:nvSpPr>
            <p:cNvPr id="614" name="Google Shape;614;p44"/>
            <p:cNvSpPr txBox="1"/>
            <p:nvPr/>
          </p:nvSpPr>
          <p:spPr>
            <a:xfrm>
              <a:off x="4005775" y="2397264"/>
              <a:ext cx="7347900" cy="13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同源：可能有共同祖先</a:t>
              </a:r>
              <a:endParaRPr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趨同演化：不同物種，相似環境壓力</a:t>
              </a:r>
              <a:endParaRPr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15" name="Google Shape;615;p44"/>
            <p:cNvSpPr txBox="1"/>
            <p:nvPr/>
          </p:nvSpPr>
          <p:spPr>
            <a:xfrm>
              <a:off x="915425" y="3747414"/>
              <a:ext cx="2718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分子生物學</a:t>
              </a:r>
              <a:endParaRPr/>
            </a:p>
          </p:txBody>
        </p:sp>
        <p:sp>
          <p:nvSpPr>
            <p:cNvPr id="616" name="Google Shape;616;p44"/>
            <p:cNvSpPr txBox="1"/>
            <p:nvPr/>
          </p:nvSpPr>
          <p:spPr>
            <a:xfrm>
              <a:off x="4005775" y="3728664"/>
              <a:ext cx="6780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分析DNA 與蛋白質序列的相似度</a:t>
              </a:r>
              <a:endParaRPr/>
            </a:p>
          </p:txBody>
        </p:sp>
        <p:sp>
          <p:nvSpPr>
            <p:cNvPr id="617" name="Google Shape;617;p44"/>
            <p:cNvSpPr txBox="1"/>
            <p:nvPr/>
          </p:nvSpPr>
          <p:spPr>
            <a:xfrm>
              <a:off x="3990275" y="1677164"/>
              <a:ext cx="40806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物種會隨時間改變</a:t>
              </a:r>
              <a:endParaRPr/>
            </a:p>
          </p:txBody>
        </p:sp>
        <p:sp>
          <p:nvSpPr>
            <p:cNvPr id="618" name="Google Shape;618;p44"/>
            <p:cNvSpPr txBox="1"/>
            <p:nvPr/>
          </p:nvSpPr>
          <p:spPr>
            <a:xfrm>
              <a:off x="915425" y="4375152"/>
              <a:ext cx="3000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生物地理分布</a:t>
              </a:r>
              <a:endParaRPr/>
            </a:p>
          </p:txBody>
        </p:sp>
        <p:sp>
          <p:nvSpPr>
            <p:cNvPr id="619" name="Google Shape;619;p44"/>
            <p:cNvSpPr txBox="1"/>
            <p:nvPr/>
          </p:nvSpPr>
          <p:spPr>
            <a:xfrm>
              <a:off x="4055700" y="4433327"/>
              <a:ext cx="69786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解釋物種如何因地理隔離而分化</a:t>
              </a:r>
              <a:endParaRPr/>
            </a:p>
          </p:txBody>
        </p:sp>
        <p:sp>
          <p:nvSpPr>
            <p:cNvPr id="620" name="Google Shape;620;p44"/>
            <p:cNvSpPr txBox="1"/>
            <p:nvPr/>
          </p:nvSpPr>
          <p:spPr>
            <a:xfrm>
              <a:off x="915425" y="5038752"/>
              <a:ext cx="3000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胚胎學</a:t>
              </a:r>
              <a:endParaRPr/>
            </a:p>
          </p:txBody>
        </p:sp>
        <p:sp>
          <p:nvSpPr>
            <p:cNvPr id="621" name="Google Shape;621;p44"/>
            <p:cNvSpPr txBox="1"/>
            <p:nvPr/>
          </p:nvSpPr>
          <p:spPr>
            <a:xfrm>
              <a:off x="4055725" y="5137981"/>
              <a:ext cx="60384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不同物種胚胎早期相似</a:t>
              </a:r>
              <a:endParaRPr/>
            </a:p>
          </p:txBody>
        </p:sp>
      </p:grpSp>
      <p:sp>
        <p:nvSpPr>
          <p:cNvPr id="622" name="Google Shape;622;p44"/>
          <p:cNvSpPr txBox="1"/>
          <p:nvPr/>
        </p:nvSpPr>
        <p:spPr>
          <a:xfrm>
            <a:off x="866525" y="5633025"/>
            <a:ext cx="10328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演化證據來自化石、解剖、分子、生物地理與胚胎學，顯示物種具有共同祖先並隨環境改變。</a:t>
            </a:r>
            <a:endParaRPr/>
          </a:p>
        </p:txBody>
      </p:sp>
      <p:cxnSp>
        <p:nvCxnSpPr>
          <p:cNvPr id="623" name="Google Shape;623;p44"/>
          <p:cNvCxnSpPr/>
          <p:nvPr/>
        </p:nvCxnSpPr>
        <p:spPr>
          <a:xfrm flipH="1" rot="10800000">
            <a:off x="702100" y="1374525"/>
            <a:ext cx="10388100" cy="2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44"/>
          <p:cNvCxnSpPr/>
          <p:nvPr/>
        </p:nvCxnSpPr>
        <p:spPr>
          <a:xfrm flipH="1" rot="10800000">
            <a:off x="836525" y="5591975"/>
            <a:ext cx="10388100" cy="2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630" name="Google Shape;630;p45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3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康乃爾筆記法-練習範例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31" name="Google Shape;631;p45"/>
          <p:cNvSpPr txBox="1"/>
          <p:nvPr/>
        </p:nvSpPr>
        <p:spPr>
          <a:xfrm>
            <a:off x="838200" y="2230399"/>
            <a:ext cx="10515600" cy="37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演化理論有來自不同領域的支持。</a:t>
            </a:r>
            <a:r>
              <a:rPr lang="zh-TW" sz="30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|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化石紀錄顯示物種會隨時間改變，並出現過渡形態。</a:t>
            </a:r>
            <a:r>
              <a:rPr lang="zh-TW" sz="30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|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比較解剖學中，同源構造暗示不同物種可能有共同祖先，而趨同演化則說明不同物種因相似環境壓力而出現相似特徵。</a:t>
            </a:r>
            <a:r>
              <a:rPr lang="zh-TW" sz="30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|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分子生物學的研究則顯示，DNA 與蛋白質序列的相似度可以反映物種間的親緣關係。</a:t>
            </a:r>
            <a:r>
              <a:rPr lang="zh-TW" sz="30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|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生物地理分布，如島嶼特有種，也能解釋物種如何因地理隔離而分化。</a:t>
            </a:r>
            <a:r>
              <a:rPr lang="zh-TW" sz="30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|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胚胎學觀察則發現，不同物種在胚胎早期的發育階段常有相似之處。</a:t>
            </a:r>
            <a:r>
              <a:rPr lang="zh-TW" sz="30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|</a:t>
            </a:r>
            <a:endParaRPr sz="3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5400" lvl="0" marL="228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32" name="Google Shape;632;p45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45"/>
          <p:cNvSpPr txBox="1"/>
          <p:nvPr/>
        </p:nvSpPr>
        <p:spPr>
          <a:xfrm>
            <a:off x="915425" y="1380238"/>
            <a:ext cx="6333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主題一：演化的證據</a:t>
            </a:r>
            <a:endParaRPr sz="3600"/>
          </a:p>
        </p:txBody>
      </p:sp>
      <p:sp>
        <p:nvSpPr>
          <p:cNvPr id="634" name="Google Shape;634;p45"/>
          <p:cNvSpPr txBox="1"/>
          <p:nvPr/>
        </p:nvSpPr>
        <p:spPr>
          <a:xfrm>
            <a:off x="6782825" y="1380250"/>
            <a:ext cx="521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逐句拆解</a:t>
            </a:r>
            <a:r>
              <a:rPr lang="zh-TW" sz="36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(看句號)</a:t>
            </a:r>
            <a:endParaRPr sz="36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640" name="Google Shape;640;p46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3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康乃爾筆記法-練習範例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41" name="Google Shape;641;p46"/>
          <p:cNvSpPr txBox="1"/>
          <p:nvPr/>
        </p:nvSpPr>
        <p:spPr>
          <a:xfrm>
            <a:off x="838200" y="1099165"/>
            <a:ext cx="10515600" cy="47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演化理論有來自不同領域的支持。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化石紀錄顯示物種會隨時間改變，並出現過渡形態。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比較解剖學中，同源構造暗示不同物種可能有共同祖先，而趨同演化則說明不同物種因相似環境壓力而出現相似特徵。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分子生物學的研究則顯示，DNA 與蛋白質序列的相似度可以反映物種間的親緣關係。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生物地理分布，如島嶼特有種，也能解釋物種如何因地理隔離而分化。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胚胎學觀察則發現，不同物種在胚胎早期的發育階段常有相似之處。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5400" lvl="0" marL="228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None/>
            </a:pPr>
            <a:r>
              <a:t/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42" name="Google Shape;642;p46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6"/>
          <p:cNvSpPr txBox="1"/>
          <p:nvPr/>
        </p:nvSpPr>
        <p:spPr>
          <a:xfrm>
            <a:off x="7106580" y="1004050"/>
            <a:ext cx="521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逐句拆解(條列示)</a:t>
            </a:r>
            <a:endParaRPr sz="36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649" name="Google Shape;649;p47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3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康乃爾筆記法-練習範例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50" name="Google Shape;650;p47"/>
          <p:cNvSpPr txBox="1"/>
          <p:nvPr/>
        </p:nvSpPr>
        <p:spPr>
          <a:xfrm>
            <a:off x="838200" y="1099150"/>
            <a:ext cx="10515600" cy="48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演化理論有來自不同領域的支持。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化石紀錄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顯示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物種會隨時間改變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，並出現過渡形態。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比較解剖學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中，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同源構造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暗示不同物種可能有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共同祖先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，而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趨同演化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則說明不同物種因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相似環境壓力而出現相似特徵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分子生物學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的研究則顯示，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DNA 與蛋白質序列的相似度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可以反映物種間的親緣關係。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生物地理分布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，如島嶼特有種，也能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解釋物種如何因地理隔離而分化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胚胎學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觀察則發現，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不同物種在胚胎早期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的發育階段常有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相似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之處。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5400" lvl="0" marL="228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None/>
            </a:pPr>
            <a:r>
              <a:t/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51" name="Google Shape;651;p47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47"/>
          <p:cNvSpPr txBox="1"/>
          <p:nvPr/>
        </p:nvSpPr>
        <p:spPr>
          <a:xfrm>
            <a:off x="7122200" y="1004050"/>
            <a:ext cx="521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每句重點</a:t>
            </a:r>
            <a:endParaRPr sz="36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658" name="Google Shape;658;p48"/>
          <p:cNvSpPr txBox="1"/>
          <p:nvPr/>
        </p:nvSpPr>
        <p:spPr>
          <a:xfrm>
            <a:off x="702100" y="98613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b="0" i="0" lang="zh-TW" sz="390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</a:t>
            </a:r>
            <a:r>
              <a:rPr lang="zh-TW" sz="3900">
                <a:latin typeface="Microsoft JhengHei"/>
                <a:ea typeface="Microsoft JhengHei"/>
                <a:cs typeface="Microsoft JhengHei"/>
                <a:sym typeface="Microsoft JhengHei"/>
              </a:rPr>
              <a:t>練習範例</a:t>
            </a:r>
            <a:r>
              <a:rPr b="0" i="0" lang="zh-TW" sz="390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 </a:t>
            </a:r>
            <a:endParaRPr sz="3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59" name="Google Shape;659;p48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0" name="Google Shape;660;p48"/>
          <p:cNvCxnSpPr/>
          <p:nvPr/>
        </p:nvCxnSpPr>
        <p:spPr>
          <a:xfrm>
            <a:off x="3823125" y="1405421"/>
            <a:ext cx="42900" cy="422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1" name="Google Shape;661;p48"/>
          <p:cNvSpPr txBox="1"/>
          <p:nvPr/>
        </p:nvSpPr>
        <p:spPr>
          <a:xfrm>
            <a:off x="915425" y="819762"/>
            <a:ext cx="633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主題一：演化的證據</a:t>
            </a:r>
            <a:endParaRPr sz="3000"/>
          </a:p>
        </p:txBody>
      </p:sp>
      <p:grpSp>
        <p:nvGrpSpPr>
          <p:cNvPr id="662" name="Google Shape;662;p48"/>
          <p:cNvGrpSpPr/>
          <p:nvPr/>
        </p:nvGrpSpPr>
        <p:grpSpPr>
          <a:xfrm>
            <a:off x="915425" y="1475458"/>
            <a:ext cx="10438250" cy="4107317"/>
            <a:chOff x="915425" y="1677164"/>
            <a:chExt cx="10438250" cy="4107317"/>
          </a:xfrm>
        </p:grpSpPr>
        <p:sp>
          <p:nvSpPr>
            <p:cNvPr id="663" name="Google Shape;663;p48"/>
            <p:cNvSpPr txBox="1"/>
            <p:nvPr/>
          </p:nvSpPr>
          <p:spPr>
            <a:xfrm>
              <a:off x="915425" y="1715102"/>
              <a:ext cx="18024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化石紀錄</a:t>
              </a:r>
              <a:endParaRPr/>
            </a:p>
          </p:txBody>
        </p:sp>
        <p:sp>
          <p:nvSpPr>
            <p:cNvPr id="664" name="Google Shape;664;p48"/>
            <p:cNvSpPr txBox="1"/>
            <p:nvPr/>
          </p:nvSpPr>
          <p:spPr>
            <a:xfrm>
              <a:off x="915425" y="2473155"/>
              <a:ext cx="1644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解剖學</a:t>
              </a:r>
              <a:endParaRPr/>
            </a:p>
          </p:txBody>
        </p:sp>
        <p:sp>
          <p:nvSpPr>
            <p:cNvPr id="665" name="Google Shape;665;p48"/>
            <p:cNvSpPr txBox="1"/>
            <p:nvPr/>
          </p:nvSpPr>
          <p:spPr>
            <a:xfrm>
              <a:off x="4005775" y="2397264"/>
              <a:ext cx="7347900" cy="13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同源：可能有共同祖先</a:t>
              </a:r>
              <a:endParaRPr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趨同演化：不同物種，相似環境壓力</a:t>
              </a:r>
              <a:endParaRPr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66" name="Google Shape;666;p48"/>
            <p:cNvSpPr txBox="1"/>
            <p:nvPr/>
          </p:nvSpPr>
          <p:spPr>
            <a:xfrm>
              <a:off x="915425" y="3747414"/>
              <a:ext cx="2718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分子生物學</a:t>
              </a:r>
              <a:endParaRPr/>
            </a:p>
          </p:txBody>
        </p:sp>
        <p:sp>
          <p:nvSpPr>
            <p:cNvPr id="667" name="Google Shape;667;p48"/>
            <p:cNvSpPr txBox="1"/>
            <p:nvPr/>
          </p:nvSpPr>
          <p:spPr>
            <a:xfrm>
              <a:off x="4005775" y="3728664"/>
              <a:ext cx="6780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分析DNA 與蛋白質序列的相似度</a:t>
              </a:r>
              <a:endParaRPr/>
            </a:p>
          </p:txBody>
        </p:sp>
        <p:sp>
          <p:nvSpPr>
            <p:cNvPr id="668" name="Google Shape;668;p48"/>
            <p:cNvSpPr txBox="1"/>
            <p:nvPr/>
          </p:nvSpPr>
          <p:spPr>
            <a:xfrm>
              <a:off x="3990275" y="1677164"/>
              <a:ext cx="40806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物種會隨時間改變</a:t>
              </a:r>
              <a:endParaRPr/>
            </a:p>
          </p:txBody>
        </p:sp>
        <p:sp>
          <p:nvSpPr>
            <p:cNvPr id="669" name="Google Shape;669;p48"/>
            <p:cNvSpPr txBox="1"/>
            <p:nvPr/>
          </p:nvSpPr>
          <p:spPr>
            <a:xfrm>
              <a:off x="915425" y="4375152"/>
              <a:ext cx="3000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生物地理分布</a:t>
              </a:r>
              <a:endParaRPr/>
            </a:p>
          </p:txBody>
        </p:sp>
        <p:sp>
          <p:nvSpPr>
            <p:cNvPr id="670" name="Google Shape;670;p48"/>
            <p:cNvSpPr txBox="1"/>
            <p:nvPr/>
          </p:nvSpPr>
          <p:spPr>
            <a:xfrm>
              <a:off x="4055700" y="4433327"/>
              <a:ext cx="69786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解釋物種如何因地理隔離而分化</a:t>
              </a:r>
              <a:endParaRPr/>
            </a:p>
          </p:txBody>
        </p:sp>
        <p:sp>
          <p:nvSpPr>
            <p:cNvPr id="671" name="Google Shape;671;p48"/>
            <p:cNvSpPr txBox="1"/>
            <p:nvPr/>
          </p:nvSpPr>
          <p:spPr>
            <a:xfrm>
              <a:off x="915425" y="5038752"/>
              <a:ext cx="3000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胚胎學</a:t>
              </a:r>
              <a:endParaRPr/>
            </a:p>
          </p:txBody>
        </p:sp>
        <p:sp>
          <p:nvSpPr>
            <p:cNvPr id="672" name="Google Shape;672;p48"/>
            <p:cNvSpPr txBox="1"/>
            <p:nvPr/>
          </p:nvSpPr>
          <p:spPr>
            <a:xfrm>
              <a:off x="4055725" y="5137981"/>
              <a:ext cx="60384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不同物種胚胎早期相似</a:t>
              </a:r>
              <a:endParaRPr/>
            </a:p>
          </p:txBody>
        </p:sp>
      </p:grpSp>
      <p:sp>
        <p:nvSpPr>
          <p:cNvPr id="673" name="Google Shape;673;p48"/>
          <p:cNvSpPr txBox="1"/>
          <p:nvPr/>
        </p:nvSpPr>
        <p:spPr>
          <a:xfrm>
            <a:off x="866525" y="5633025"/>
            <a:ext cx="10328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演化證據來自化石、解剖、</a:t>
            </a:r>
            <a:r>
              <a:rPr lang="zh-TW" sz="30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分生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、生物地理與胚胎學，顯示物種有共同祖先並</a:t>
            </a:r>
            <a:r>
              <a:rPr lang="zh-TW" sz="30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因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環境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壓力，隨</a:t>
            </a:r>
            <a:r>
              <a:rPr lang="zh-TW" sz="30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時間而緩慢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改變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/>
          </a:p>
        </p:txBody>
      </p:sp>
      <p:cxnSp>
        <p:nvCxnSpPr>
          <p:cNvPr id="674" name="Google Shape;674;p48"/>
          <p:cNvCxnSpPr/>
          <p:nvPr/>
        </p:nvCxnSpPr>
        <p:spPr>
          <a:xfrm flipH="1" rot="10800000">
            <a:off x="702100" y="1374525"/>
            <a:ext cx="10388100" cy="2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48"/>
          <p:cNvCxnSpPr/>
          <p:nvPr/>
        </p:nvCxnSpPr>
        <p:spPr>
          <a:xfrm flipH="1" rot="10800000">
            <a:off x="836525" y="5591975"/>
            <a:ext cx="10388100" cy="2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6" name="Google Shape;676;p48"/>
          <p:cNvSpPr txBox="1"/>
          <p:nvPr/>
        </p:nvSpPr>
        <p:spPr>
          <a:xfrm>
            <a:off x="5744350" y="804450"/>
            <a:ext cx="5210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(每人總結 可能不同)</a:t>
            </a:r>
            <a:endParaRPr sz="32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682" name="Google Shape;682;p49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b="0" i="0" lang="zh-TW" sz="440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</a:t>
            </a:r>
            <a:r>
              <a:rPr lang="zh-TW" sz="4400">
                <a:latin typeface="Microsoft JhengHei"/>
                <a:ea typeface="Microsoft JhengHei"/>
                <a:cs typeface="Microsoft JhengHei"/>
                <a:sym typeface="Microsoft JhengHei"/>
              </a:rPr>
              <a:t>練習</a:t>
            </a:r>
            <a:r>
              <a:rPr b="0" i="0" lang="zh-TW" sz="440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 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83" name="Google Shape;683;p49"/>
          <p:cNvSpPr txBox="1"/>
          <p:nvPr/>
        </p:nvSpPr>
        <p:spPr>
          <a:xfrm>
            <a:off x="748900" y="2141100"/>
            <a:ext cx="10817700" cy="37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水分子之間透過氫鍵作用，展現出許多與其他液體不同的特性。首先，水具有高比熱，能吸收或釋放大量熱能而使溫度變化緩慢，有助於穩定生物體與環境的溫度。其次，水的表面張力較高，使得某些昆蟲能在水面行走。水的凝聚性讓水分子彼此吸引，附著性則讓水分子與其他物質產生吸引力，兩者共同造成毛細現象。最後，水具有密度異常性：固態冰的密度比液態水小，因此冰會浮在水面上，為水生生物提供保護。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4" name="Google Shape;684;p49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49"/>
          <p:cNvSpPr txBox="1"/>
          <p:nvPr/>
        </p:nvSpPr>
        <p:spPr>
          <a:xfrm>
            <a:off x="915425" y="1364713"/>
            <a:ext cx="6333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主題二：水的性質</a:t>
            </a:r>
            <a:endParaRPr sz="36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691" name="Google Shape;691;p50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b="0" i="0" lang="zh-TW" sz="440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</a:t>
            </a:r>
            <a:r>
              <a:rPr lang="zh-TW" sz="4400">
                <a:latin typeface="Microsoft JhengHei"/>
                <a:ea typeface="Microsoft JhengHei"/>
                <a:cs typeface="Microsoft JhengHei"/>
                <a:sym typeface="Microsoft JhengHei"/>
              </a:rPr>
              <a:t>練習</a:t>
            </a:r>
            <a:r>
              <a:rPr b="0" i="0" lang="zh-TW" sz="440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 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92" name="Google Shape;692;p50"/>
          <p:cNvSpPr txBox="1"/>
          <p:nvPr/>
        </p:nvSpPr>
        <p:spPr>
          <a:xfrm>
            <a:off x="106725" y="1832452"/>
            <a:ext cx="11846700" cy="4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" lvl="0" marL="228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None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能源是人類生活與工業發展不可或缺的基礎。依照來源與是否能再生，可分為可再生能源與非再生能源。非再生能源包括石油、煤和天然氣，雖然能量密度高且易於使用，但屬於有限資源，燃燒後會釋放二氧化碳，造成空氣污染與溫室效應。核能雖然不直接排放二氧化碳，且單位能量輸出高，但會產生放射性廢料，需要妥善處理。相對而言，可再生能源如太陽能、風能、水力、地熱與生質能，來源持續不斷，污染相對較少，但其效率與穩定性受自然條件影響，例如日照時間或風力大小。隨著氣候變遷問題加劇，各國積極推動能源轉型，以降低對化石燃料的依賴，發展更永續的能源系統。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3" name="Google Shape;693;p50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50"/>
          <p:cNvSpPr txBox="1"/>
          <p:nvPr/>
        </p:nvSpPr>
        <p:spPr>
          <a:xfrm>
            <a:off x="424300" y="1094213"/>
            <a:ext cx="6333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主題</a:t>
            </a:r>
            <a:r>
              <a:rPr lang="zh-TW" sz="3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</a:t>
            </a:r>
            <a:r>
              <a:rPr lang="zh-TW" sz="3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r>
              <a:rPr lang="zh-TW" sz="3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能源</a:t>
            </a:r>
            <a:endParaRPr sz="36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700" name="Google Shape;700;p51"/>
          <p:cNvSpPr txBox="1"/>
          <p:nvPr/>
        </p:nvSpPr>
        <p:spPr>
          <a:xfrm>
            <a:off x="620975" y="42128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4400">
                <a:latin typeface="Microsoft JhengHei"/>
                <a:ea typeface="Microsoft JhengHei"/>
                <a:cs typeface="Microsoft JhengHei"/>
                <a:sym typeface="Microsoft JhengHei"/>
              </a:rPr>
              <a:t>任務三：</a:t>
            </a: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康乃爾筆記法摘要練習 </a:t>
            </a:r>
            <a:endParaRPr sz="44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01" name="Google Shape;701;p51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51"/>
          <p:cNvSpPr txBox="1"/>
          <p:nvPr/>
        </p:nvSpPr>
        <p:spPr>
          <a:xfrm>
            <a:off x="527900" y="2094625"/>
            <a:ext cx="11266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202124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請將主題二及主題三分別作出摘要筆記，並拍照上傳</a:t>
            </a:r>
            <a:endParaRPr sz="36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708" name="Google Shape;708;p52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什麼是偽科學？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09" name="Google Shape;709;p52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0" name="Google Shape;710;p52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52"/>
          <p:cNvSpPr txBox="1"/>
          <p:nvPr/>
        </p:nvSpPr>
        <p:spPr>
          <a:xfrm>
            <a:off x="1564640" y="1709762"/>
            <a:ext cx="9591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偽科學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（Pseudoscience）是一種聲稱具有科學基礎或方法的信仰或理論，但實際上不符合科學方法的基本原則。偽科學通常</a:t>
            </a:r>
            <a:r>
              <a:rPr b="1"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缺乏可檢驗的假設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b="1"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沒有經過嚴格的實驗驗證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b="1"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或者結果無法被重複驗證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。此外，偽科學往往忽視反證、缺乏透明性，並依賴於模糊或不可驗證的證據。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717" name="Google Shape;717;p53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什麼是偽科學？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18" name="Google Shape;718;p53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9" name="Google Shape;719;p53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53"/>
          <p:cNvSpPr txBox="1"/>
          <p:nvPr/>
        </p:nvSpPr>
        <p:spPr>
          <a:xfrm>
            <a:off x="538480" y="5648523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1800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偽科學醫療資訊氾濫 別自己當醫師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https://www.youtube.com/watch?v=iG1PeCZAqs4</a:t>
            </a:r>
            <a:endParaRPr/>
          </a:p>
        </p:txBody>
      </p:sp>
      <p:pic>
        <p:nvPicPr>
          <p:cNvPr id="721" name="Google Shape;72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6975" y="1849904"/>
            <a:ext cx="4514850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3"/>
          <p:cNvSpPr txBox="1"/>
          <p:nvPr/>
        </p:nvSpPr>
        <p:spPr>
          <a:xfrm>
            <a:off x="6853599" y="4340950"/>
            <a:ext cx="4083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700">
                <a:latin typeface="Microsoft JhengHei"/>
                <a:ea typeface="Microsoft JhengHei"/>
                <a:cs typeface="Microsoft JhengHei"/>
                <a:sym typeface="Microsoft JhengHei"/>
              </a:rPr>
              <a:t>你覺得有可能嗎？Why？</a:t>
            </a:r>
            <a:endParaRPr b="1" sz="27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23" name="Google Shape;723;p53"/>
          <p:cNvSpPr txBox="1"/>
          <p:nvPr/>
        </p:nvSpPr>
        <p:spPr>
          <a:xfrm>
            <a:off x="6523357" y="1849904"/>
            <a:ext cx="4744083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愛莉莎莎在這支影片中，嘗試進行印度的自然療法</a:t>
            </a:r>
            <a:r>
              <a:rPr b="1" i="0" lang="zh-TW" sz="180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「肝膽排石法」</a:t>
            </a:r>
            <a:r>
              <a:rPr b="0" i="0"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，並特地買相關書籍研究，並解說自己將在</a:t>
            </a:r>
            <a:r>
              <a:rPr b="1" i="0"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斷食的7天內只吃蔬菜與水果</a:t>
            </a:r>
            <a:r>
              <a:rPr b="0" i="0"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，等到了排石當天會先吃瀉鹽，她表示「吃這個要你的膽管變大好幾倍，到時會比較容易將結石排出」，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729" name="Google Shape;729;p54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什麼是偽科學？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30" name="Google Shape;730;p54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1" name="Google Shape;731;p54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54"/>
          <p:cNvSpPr txBox="1"/>
          <p:nvPr/>
        </p:nvSpPr>
        <p:spPr>
          <a:xfrm>
            <a:off x="538480" y="5648523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1800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偽科學醫療資訊氾濫 別自己當醫師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https://www.youtube.com/watch?v=iG1PeCZAqs4</a:t>
            </a:r>
            <a:endParaRPr/>
          </a:p>
        </p:txBody>
      </p:sp>
      <p:pic>
        <p:nvPicPr>
          <p:cNvPr id="733" name="Google Shape;73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6975" y="1849904"/>
            <a:ext cx="4514850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54"/>
          <p:cNvSpPr txBox="1"/>
          <p:nvPr/>
        </p:nvSpPr>
        <p:spPr>
          <a:xfrm>
            <a:off x="6523357" y="3698537"/>
            <a:ext cx="4744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愛莉莎莎影片中「排出綠色膽石」，其實只是大量的橄欖油和葡萄柚汁在體內皂化反應形成的「皂化石」，跟膽結石的清除一點關係都沒有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35" name="Google Shape;735;p54"/>
          <p:cNvSpPr txBox="1"/>
          <p:nvPr/>
        </p:nvSpPr>
        <p:spPr>
          <a:xfrm>
            <a:off x="6523357" y="1849904"/>
            <a:ext cx="47442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愛莉莎莎在這支影片中，嘗試進行印度的自然療法</a:t>
            </a:r>
            <a:r>
              <a:rPr b="1" i="0" lang="zh-TW" sz="180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「肝膽排石法」</a:t>
            </a:r>
            <a:r>
              <a:rPr b="0" i="0"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，並特地買相關書籍研究，並解說自己將在</a:t>
            </a:r>
            <a:r>
              <a:rPr b="1" i="0"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斷食的7天內只吃蔬菜與水果</a:t>
            </a:r>
            <a:r>
              <a:rPr b="0" i="0"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，等到了排石當天會先吃瀉鹽，她表示「吃這個要你的膽管變大好幾倍，到時會比較容易將結石排出」，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36" name="Google Shape;736;p54"/>
          <p:cNvSpPr txBox="1"/>
          <p:nvPr/>
        </p:nvSpPr>
        <p:spPr>
          <a:xfrm>
            <a:off x="6634475" y="4899125"/>
            <a:ext cx="432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https://www.youtube.com/watch?v=ZV2Ss724vC0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742" name="Google Shape;742;p55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什麼是偽科學？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43" name="Google Shape;743;p55"/>
          <p:cNvSpPr txBox="1"/>
          <p:nvPr/>
        </p:nvSpPr>
        <p:spPr>
          <a:xfrm>
            <a:off x="7614925" y="1346275"/>
            <a:ext cx="29571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zh-TW" sz="3450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量子共振分色</a:t>
            </a:r>
            <a:endParaRPr b="1" sz="3450">
              <a:solidFill>
                <a:srgbClr val="0F0F0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55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5" name="Google Shape;74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575" y="2013024"/>
            <a:ext cx="5173799" cy="29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55"/>
          <p:cNvSpPr txBox="1"/>
          <p:nvPr/>
        </p:nvSpPr>
        <p:spPr>
          <a:xfrm>
            <a:off x="4813500" y="6026700"/>
            <a:ext cx="7378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4"/>
              </a:rPr>
              <a:t>https://www.youtube.com/watch?v=aoPhMd9JuQk</a:t>
            </a:r>
            <a:endParaRPr sz="2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47" name="Google Shape;747;p55"/>
          <p:cNvSpPr txBox="1"/>
          <p:nvPr/>
        </p:nvSpPr>
        <p:spPr>
          <a:xfrm>
            <a:off x="602125" y="4881125"/>
            <a:ext cx="5516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00">
                <a:solidFill>
                  <a:schemeClr val="dk1"/>
                </a:solidFill>
              </a:rPr>
              <a:t>https://www.youtube.com/watch?v=35YwR2az9nk</a:t>
            </a:r>
            <a:endParaRPr sz="600"/>
          </a:p>
        </p:txBody>
      </p:sp>
      <p:pic>
        <p:nvPicPr>
          <p:cNvPr id="748" name="Google Shape;748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2475" y="2043963"/>
            <a:ext cx="4933957" cy="2824538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55"/>
          <p:cNvSpPr txBox="1"/>
          <p:nvPr/>
        </p:nvSpPr>
        <p:spPr>
          <a:xfrm>
            <a:off x="1733975" y="1263350"/>
            <a:ext cx="375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MARIO Marble Music</a:t>
            </a:r>
            <a:endParaRPr b="1" sz="2800">
              <a:solidFill>
                <a:srgbClr val="0F0F0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0" name="Google Shape;750;p55"/>
          <p:cNvSpPr txBox="1"/>
          <p:nvPr/>
        </p:nvSpPr>
        <p:spPr>
          <a:xfrm>
            <a:off x="5257075" y="5315525"/>
            <a:ext cx="76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6"/>
              </a:rPr>
              <a:t>https://www.youtube.com/watch?v=dTrPShwe8fI</a:t>
            </a:r>
            <a:endParaRPr sz="2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756" name="Google Shape;756;p56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什麼是偽科學？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57" name="Google Shape;757;p56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8" name="Google Shape;758;p56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56"/>
          <p:cNvSpPr txBox="1"/>
          <p:nvPr/>
        </p:nvSpPr>
        <p:spPr>
          <a:xfrm>
            <a:off x="832491" y="1123048"/>
            <a:ext cx="4574540" cy="4611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排毒療法（Detox Therapies）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概述</a:t>
            </a: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排毒療法聲稱通過特定的飲食、補充劑或其他方法可以排除體內的「毒素」，從而改善健康。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科學方法解釋</a:t>
            </a: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人體的肝臟、腎臟、皮膚等器官本身就具有自然排毒功能，健康的身體不需要額外的「排毒」干預。所謂「毒素」通常未具體定義，許多排毒療法的效果沒有科學證據支持，並且未經控制的療法可能會造成健康風險。因此，排毒療法多數被視為偽科學。</a:t>
            </a:r>
            <a:endParaRPr/>
          </a:p>
        </p:txBody>
      </p:sp>
      <p:sp>
        <p:nvSpPr>
          <p:cNvPr id="760" name="Google Shape;760;p56"/>
          <p:cNvSpPr txBox="1"/>
          <p:nvPr/>
        </p:nvSpPr>
        <p:spPr>
          <a:xfrm>
            <a:off x="6629402" y="1123048"/>
            <a:ext cx="4427218" cy="4611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氫氣治療（Hydrogen Therapy）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概述</a:t>
            </a: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氫氣治療聲稱吸入或飲用氫氣能夠治療多種疾病，如癌症、糖尿病、心血管疾病等。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科學方法解釋</a:t>
            </a: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雖然氫氣在細胞中可能有抗氧化作用，但目前的研究多是初步和動物實驗，尚未有足夠的人體臨床試驗證明氫氣能夠有效治療上述疾病。此外，商業推廣的許多氫氣產品和療法往往夸大了氫氣的作用，沒有嚴格的科學支持，故多數氫氣療法被視為偽科學。</a:t>
            </a:r>
            <a:endParaRPr/>
          </a:p>
        </p:txBody>
      </p:sp>
      <p:sp>
        <p:nvSpPr>
          <p:cNvPr id="761" name="Google Shape;761;p56"/>
          <p:cNvSpPr txBox="1"/>
          <p:nvPr/>
        </p:nvSpPr>
        <p:spPr>
          <a:xfrm>
            <a:off x="6973584" y="5884575"/>
            <a:ext cx="475950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1600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氫氣治憂鬱? 王群光被爆違法!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https://www.youtube.com/watch?v=DLdaJYAHTT0</a:t>
            </a:r>
            <a:endParaRPr/>
          </a:p>
        </p:txBody>
      </p:sp>
      <p:sp>
        <p:nvSpPr>
          <p:cNvPr id="762" name="Google Shape;762;p56"/>
          <p:cNvSpPr txBox="1"/>
          <p:nvPr/>
        </p:nvSpPr>
        <p:spPr>
          <a:xfrm>
            <a:off x="1045395" y="5833300"/>
            <a:ext cx="60977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1800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3天清水斷食比168更有效 自然醫學博士:可排毒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https://www.youtube.com/watch?v=b1_RBOIfYug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768" name="Google Shape;768;p57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</a:t>
            </a: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四</a:t>
            </a: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：定義偽科學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69" name="Google Shape;769;p57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0" name="Google Shape;770;p57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57"/>
          <p:cNvSpPr txBox="1"/>
          <p:nvPr/>
        </p:nvSpPr>
        <p:spPr>
          <a:xfrm>
            <a:off x="1161306" y="1330215"/>
            <a:ext cx="3555474" cy="41053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請每組找出一篇偽科學的報導，並從科學的角度解釋為何不可信？與班上同學分享，並上傳至作業區。</a:t>
            </a:r>
            <a:endParaRPr sz="2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50800" lvl="0" marL="228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72" name="Google Shape;772;p57"/>
          <p:cNvSpPr txBox="1"/>
          <p:nvPr/>
        </p:nvSpPr>
        <p:spPr>
          <a:xfrm>
            <a:off x="5521960" y="1149561"/>
            <a:ext cx="5831700" cy="49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組</a:t>
            </a: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別</a:t>
            </a: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：姓名座號/姓名座號</a:t>
            </a:r>
            <a:endParaRPr b="1"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舉例：</a:t>
            </a:r>
            <a:endParaRPr b="1"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人類智力測量的顱相學（Phrenology）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概述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：顱相學主張可以根據頭骨的形狀和凸起來測量和判斷一個人的智力、性格和精神特質的。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科學方法解釋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顱相學基於一個錯誤的假設，即大腦的不同區域對應特定的性格特質，並且這些區域的大小會影響頭骨的形狀。現代神經科學證明，頭骨形狀與腦功能和個性特質之間沒有直接關聯。顱相學缺乏實驗證據支持，結果也無法重複驗證，因而被視為偽科學。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參考來源： https://pansci.asia/archives/112846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778" name="Google Shape;778;p58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科學搜索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79" name="Google Shape;779;p58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58"/>
          <p:cNvSpPr txBox="1"/>
          <p:nvPr/>
        </p:nvSpPr>
        <p:spPr>
          <a:xfrm>
            <a:off x="998550" y="865875"/>
            <a:ext cx="10040100" cy="45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icrosoft JhengHei"/>
              <a:buChar char="●"/>
            </a:pP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小論文：中學生網站</a:t>
            </a:r>
            <a:endParaRPr sz="2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icrosoft JhengHei"/>
              <a:buChar char="●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https://www.shs.edu.tw/Customer/Winning/EssayIndex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icrosoft JhengHei"/>
              <a:buChar char="●"/>
            </a:pP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科展：國立台灣科教館</a:t>
            </a:r>
            <a:endParaRPr sz="2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icrosoft JhengHei"/>
              <a:buChar char="●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https://twsf.ntsec.gov.tw/Article.aspx?a=41&amp;lang=1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icrosoft JhengHei"/>
              <a:buChar char="●"/>
            </a:pP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期刊論文：NCBI-PubMed</a:t>
            </a:r>
            <a:endParaRPr sz="2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rosoft JhengHei"/>
              <a:buChar char="●"/>
            </a:pPr>
            <a:r>
              <a:rPr lang="zh-TW" sz="2000" u="sng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https://pubmed.ncbi.nlm.nih.gov/</a:t>
            </a:r>
            <a:endParaRPr sz="2000" u="sng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icrosoft JhengHei"/>
              <a:buChar char="●"/>
            </a:pP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期刊論文：APS</a:t>
            </a:r>
            <a:endParaRPr sz="2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rosoft JhengHei"/>
              <a:buChar char="●"/>
            </a:pPr>
            <a:r>
              <a:rPr lang="zh-TW" sz="2000" u="sng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https://journals.aps.org/</a:t>
            </a:r>
            <a:endParaRPr sz="2000" u="sng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icrosoft JhengHei"/>
              <a:buChar char="●"/>
            </a:pP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臺灣博碩士論文知識加值系統 - 國家圖書館</a:t>
            </a:r>
            <a:endParaRPr sz="2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rosoft JhengHei"/>
              <a:buChar char="●"/>
            </a:pPr>
            <a:r>
              <a:rPr lang="zh-TW" sz="20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5"/>
              </a:rPr>
              <a:t>https://reurl.cc/qvrr7N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icrosoft JhengHei"/>
              <a:buChar char="●"/>
            </a:pP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google</a:t>
            </a: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學術</a:t>
            </a:r>
            <a:endParaRPr sz="2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786" name="Google Shape;786;p59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87" name="Google Shape;787;p59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8" name="Google Shape;788;p59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59"/>
          <p:cNvSpPr txBox="1"/>
          <p:nvPr/>
        </p:nvSpPr>
        <p:spPr>
          <a:xfrm>
            <a:off x="1911114" y="1243977"/>
            <a:ext cx="7030768" cy="6876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zh-TW" sz="2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小論文：中學生網站</a:t>
            </a:r>
            <a:endParaRPr b="0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790" name="Google Shape;790;p59"/>
          <p:cNvPicPr preferRelativeResize="0"/>
          <p:nvPr/>
        </p:nvPicPr>
        <p:blipFill rotWithShape="1">
          <a:blip r:embed="rId3">
            <a:alphaModFix/>
          </a:blip>
          <a:srcRect b="0" l="0" r="13147" t="0"/>
          <a:stretch/>
        </p:blipFill>
        <p:spPr>
          <a:xfrm>
            <a:off x="1911114" y="2290270"/>
            <a:ext cx="9015303" cy="3292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796" name="Google Shape;796;p60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97" name="Google Shape;797;p60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8" name="Google Shape;798;p60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60"/>
          <p:cNvSpPr txBox="1"/>
          <p:nvPr/>
        </p:nvSpPr>
        <p:spPr>
          <a:xfrm>
            <a:off x="2536562" y="975584"/>
            <a:ext cx="7030768" cy="6876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zh-TW" sz="2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科展：國立台灣科教館</a:t>
            </a:r>
            <a:endParaRPr b="0" i="0" sz="2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800" name="Google Shape;80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2314" y="2381499"/>
            <a:ext cx="5791200" cy="2846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8295" y="1665171"/>
            <a:ext cx="5943101" cy="4528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807" name="Google Shape;807;p61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08" name="Google Shape;808;p61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9" name="Google Shape;809;p6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0" name="Google Shape;810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6012" y="1909430"/>
            <a:ext cx="7125217" cy="399973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1"/>
          <p:cNvSpPr txBox="1"/>
          <p:nvPr/>
        </p:nvSpPr>
        <p:spPr>
          <a:xfrm>
            <a:off x="2394322" y="1112913"/>
            <a:ext cx="7030768" cy="6876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zh-TW" sz="2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期刊：NCBI-PubMed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817" name="Google Shape;817;p62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18" name="Google Shape;818;p62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9" name="Google Shape;819;p62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62"/>
          <p:cNvSpPr txBox="1"/>
          <p:nvPr/>
        </p:nvSpPr>
        <p:spPr>
          <a:xfrm>
            <a:off x="2394322" y="1112913"/>
            <a:ext cx="70308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zh-TW" sz="2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期刊：</a:t>
            </a:r>
            <a:r>
              <a:rPr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APS（涵括多種物理期刊）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1" name="Google Shape;82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6000" y="2156110"/>
            <a:ext cx="7125225" cy="2950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827" name="Google Shape;827;p63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28" name="Google Shape;828;p63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9" name="Google Shape;829;p63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0" name="Google Shape;83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8625" y="1004050"/>
            <a:ext cx="7498974" cy="526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836" name="Google Shape;836;p64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37" name="Google Shape;837;p64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8" name="Google Shape;838;p64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9" name="Google Shape;83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7400" y="1205575"/>
            <a:ext cx="8285999" cy="543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845" name="Google Shape;845;p65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46" name="Google Shape;846;p65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7" name="Google Shape;847;p65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8" name="Google Shape;84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2275" y="1163887"/>
            <a:ext cx="7267449" cy="527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854" name="Google Shape;854;p66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55" name="Google Shape;855;p66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6" name="Google Shape;856;p66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7" name="Google Shape;85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0" y="1346650"/>
            <a:ext cx="10447119" cy="45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863" name="Google Shape;863;p67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64" name="Google Shape;864;p67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5" name="Google Shape;865;p67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6" name="Google Shape;86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800" y="1004050"/>
            <a:ext cx="7615800" cy="5178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48713" y="2705100"/>
            <a:ext cx="1857375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873" name="Google Shape;873;p68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74" name="Google Shape;874;p68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5" name="Google Shape;875;p68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6" name="Google Shape;8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213" y="2466975"/>
            <a:ext cx="11153775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882" name="Google Shape;882;p69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83" name="Google Shape;883;p69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4" name="Google Shape;884;p69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5" name="Google Shape;88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2775" y="1358950"/>
            <a:ext cx="9036049" cy="47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畫布" id="891" name="Google Shape;891;p70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92" name="Google Shape;892;p70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3" name="Google Shape;893;p70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4" name="Google Shape;89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4825" y="1344436"/>
            <a:ext cx="8522357" cy="490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1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1" name="Google Shape;901;p71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畫布" id="902" name="Google Shape;902;p71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任務四：科學搜索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903" name="Google Shape;90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025" y="1004050"/>
            <a:ext cx="8131524" cy="557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2222" y="3509800"/>
            <a:ext cx="1411275" cy="10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72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72"/>
          <p:cNvSpPr txBox="1"/>
          <p:nvPr/>
        </p:nvSpPr>
        <p:spPr>
          <a:xfrm>
            <a:off x="1172250" y="1256125"/>
            <a:ext cx="9083100" cy="1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67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</a:pPr>
            <a:r>
              <a:rPr lang="zh-TW" sz="3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至臺灣博碩士論文知識加值系統 - 國家圖書館“搜尋論文並繳交(</a:t>
            </a:r>
            <a:r>
              <a:rPr lang="zh-TW" sz="3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研究主題、學校、研究生、指導教授)</a:t>
            </a:r>
            <a:endParaRPr sz="3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12" name="Google Shape;912;p72"/>
          <p:cNvSpPr txBox="1"/>
          <p:nvPr/>
        </p:nvSpPr>
        <p:spPr>
          <a:xfrm>
            <a:off x="1214850" y="2997225"/>
            <a:ext cx="89979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035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Char char="•"/>
            </a:pPr>
            <a:r>
              <a:rPr lang="zh-TW" sz="3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至科展網站搜尋作品並繳交</a:t>
            </a:r>
            <a:r>
              <a:rPr lang="zh-TW" sz="3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(第幾屆、參賽組別、作品名、作者、指導老師)</a:t>
            </a:r>
            <a:endParaRPr sz="3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sz="4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3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descr="畫布" id="913" name="Google Shape;913;p72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</a:t>
            </a: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五</a:t>
            </a: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：科學搜索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14" name="Google Shape;914;p72"/>
          <p:cNvSpPr txBox="1"/>
          <p:nvPr/>
        </p:nvSpPr>
        <p:spPr>
          <a:xfrm>
            <a:off x="1214850" y="4526425"/>
            <a:ext cx="103365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035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Char char="•"/>
            </a:pPr>
            <a:r>
              <a:rPr lang="zh-TW" sz="3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至</a:t>
            </a:r>
            <a:r>
              <a:rPr lang="zh-TW" sz="3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期刊論文網站，搜尋一篇文獻並繳交(需打上篇名、期刊出處、期刊impact facter(IF)、第一作者、發表年分、是否為review paper)</a:t>
            </a:r>
            <a:endParaRPr sz="3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73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畫布" id="921" name="Google Shape;921;p73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</a:t>
            </a: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五</a:t>
            </a: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：科學搜索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22" name="Google Shape;922;p73"/>
          <p:cNvSpPr txBox="1"/>
          <p:nvPr/>
        </p:nvSpPr>
        <p:spPr>
          <a:xfrm>
            <a:off x="1077794" y="1323200"/>
            <a:ext cx="69786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b="0" i="0" lang="zh-TW" sz="200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例如：</a:t>
            </a:r>
            <a:endParaRPr b="0" i="0" sz="2000" u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第幾屆：</a:t>
            </a:r>
            <a:r>
              <a:rPr b="0" i="0" lang="zh-TW" sz="200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中華民國第 63 屆中小學科學展覽會</a:t>
            </a:r>
            <a:endParaRPr b="0" i="0" sz="2000" u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組別：</a:t>
            </a:r>
            <a:r>
              <a:rPr b="0" i="0" lang="zh-TW" sz="200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高中組/數學科/第一名</a:t>
            </a:r>
            <a:endParaRPr b="0" i="0" sz="2000" u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作品名：</a:t>
            </a:r>
            <a:r>
              <a:rPr b="0" i="0" lang="zh-TW" sz="200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比例和的圓舞曲：當內切錐線遇上截線比例和</a:t>
            </a:r>
            <a:endParaRPr b="0" i="0" sz="2000" u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作者：</a:t>
            </a:r>
            <a:r>
              <a:rPr b="0" i="0" lang="zh-TW" sz="200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臺中市立臺中第一高級中等學校</a:t>
            </a:r>
            <a:endParaRPr b="0" i="0" sz="2000" u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  高二 詹淯翔 高二 范思緯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指導老師： 黃家瑋</a:t>
            </a:r>
            <a:endParaRPr b="0"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23" name="Google Shape;923;p73"/>
          <p:cNvSpPr txBox="1"/>
          <p:nvPr/>
        </p:nvSpPr>
        <p:spPr>
          <a:xfrm>
            <a:off x="7131050" y="5073650"/>
            <a:ext cx="7239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73"/>
          <p:cNvSpPr txBox="1"/>
          <p:nvPr/>
        </p:nvSpPr>
        <p:spPr>
          <a:xfrm>
            <a:off x="1145886" y="3804622"/>
            <a:ext cx="45339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b="0" i="0" lang="zh-TW" sz="200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例如：</a:t>
            </a:r>
            <a:endParaRPr sz="20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篇名：Insulin-Like Growth Factor 1 (IGF-1) Signaling in Glucose Metabolism in Colorectal Cancer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期刊出處：molecular science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第一作者：Maria E. Mycielska</a:t>
            </a:r>
            <a:endParaRPr sz="20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IF：5.7</a:t>
            </a:r>
            <a:endParaRPr sz="20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發表日期：2021 Jun</a:t>
            </a:r>
            <a:endParaRPr sz="20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t/>
            </a:r>
            <a:endParaRPr b="0"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74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畫布" id="931" name="Google Shape;931;p74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任務五：科學搜索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32" name="Google Shape;932;p74"/>
          <p:cNvSpPr txBox="1"/>
          <p:nvPr/>
        </p:nvSpPr>
        <p:spPr>
          <a:xfrm>
            <a:off x="7131050" y="5073650"/>
            <a:ext cx="7239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74"/>
          <p:cNvSpPr txBox="1"/>
          <p:nvPr/>
        </p:nvSpPr>
        <p:spPr>
          <a:xfrm>
            <a:off x="838197" y="2418826"/>
            <a:ext cx="5870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篇名：Insulin-Like Growth Factor 1 (IGF-1) Signaling in Glucose Metabolism in Colorectal Cancer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期刊出處：molecular science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第一作者：Maria E. Mycielska</a:t>
            </a:r>
            <a:endParaRPr sz="20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IF：5.7</a:t>
            </a:r>
            <a:endParaRPr sz="20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發表</a:t>
            </a: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年分</a:t>
            </a: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：2021 </a:t>
            </a:r>
            <a:endParaRPr sz="20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不是review paper</a:t>
            </a:r>
            <a:endParaRPr sz="20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t/>
            </a:r>
            <a:endParaRPr b="0"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934" name="Google Shape;93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3047" y="2067888"/>
            <a:ext cx="5109178" cy="2830458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74"/>
          <p:cNvSpPr txBox="1"/>
          <p:nvPr/>
        </p:nvSpPr>
        <p:spPr>
          <a:xfrm>
            <a:off x="838200" y="1490288"/>
            <a:ext cx="3000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7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期刊</a:t>
            </a:r>
            <a:endParaRPr sz="21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1" name="Google Shape;941;p75"/>
          <p:cNvGrpSpPr/>
          <p:nvPr/>
        </p:nvGrpSpPr>
        <p:grpSpPr>
          <a:xfrm>
            <a:off x="1166796" y="1962149"/>
            <a:ext cx="4100107" cy="2244301"/>
            <a:chOff x="5729693" y="1352697"/>
            <a:chExt cx="5059808" cy="3044254"/>
          </a:xfrm>
        </p:grpSpPr>
        <p:pic>
          <p:nvPicPr>
            <p:cNvPr descr="C:\Users\Administrator\Desktop\ppt展示模板-8.png" id="942" name="Google Shape;942;p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29693" y="1352697"/>
              <a:ext cx="5059808" cy="30442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3" name="Google Shape;943;p75"/>
            <p:cNvSpPr/>
            <p:nvPr/>
          </p:nvSpPr>
          <p:spPr>
            <a:xfrm>
              <a:off x="6422687" y="1728837"/>
              <a:ext cx="3665189" cy="211288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畫布" id="944" name="Google Shape;944;p75"/>
          <p:cNvSpPr txBox="1"/>
          <p:nvPr/>
        </p:nvSpPr>
        <p:spPr>
          <a:xfrm>
            <a:off x="838200" y="352956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QA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descr="畫布" id="945" name="Google Shape;945;p75"/>
          <p:cNvSpPr txBox="1"/>
          <p:nvPr/>
        </p:nvSpPr>
        <p:spPr>
          <a:xfrm>
            <a:off x="5559777" y="2602775"/>
            <a:ext cx="4637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Any question？</a:t>
            </a:r>
            <a:endParaRPr/>
          </a:p>
        </p:txBody>
      </p:sp>
      <p:sp>
        <p:nvSpPr>
          <p:cNvPr id="946" name="Google Shape;946;p75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