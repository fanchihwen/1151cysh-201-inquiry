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tags/tag1.xml" ContentType="application/vnd.openxmlformats-officedocument.presentationml.tags+xml"/>
  <Override PartName="/ppt/notesSlides/notesSlide46.xml" ContentType="application/vnd.openxmlformats-officedocument.presentationml.notesSlide+xml"/>
  <Override PartName="/ppt/tags/tag2.xml" ContentType="application/vnd.openxmlformats-officedocument.presentationml.tags+xml"/>
  <Override PartName="/ppt/notesSlides/notesSlide47.xml" ContentType="application/vnd.openxmlformats-officedocument.presentationml.notesSlide+xml"/>
  <Override PartName="/ppt/tags/tag3.xml" ContentType="application/vnd.openxmlformats-officedocument.presentationml.tags+xml"/>
  <Override PartName="/ppt/notesSlides/notesSlide48.xml" ContentType="application/vnd.openxmlformats-officedocument.presentationml.notesSlide+xml"/>
  <Override PartName="/ppt/tags/tag4.xml" ContentType="application/vnd.openxmlformats-officedocument.presentationml.tags+xml"/>
  <Override PartName="/ppt/notesSlides/notesSlide49.xml" ContentType="application/vnd.openxmlformats-officedocument.presentationml.notesSlide+xml"/>
  <Override PartName="/ppt/tags/tag5.xml" ContentType="application/vnd.openxmlformats-officedocument.presentationml.tags+xml"/>
  <Override PartName="/ppt/notesSlides/notesSlide50.xml" ContentType="application/vnd.openxmlformats-officedocument.presentationml.notesSlide+xml"/>
  <Override PartName="/ppt/tags/tag6.xml" ContentType="application/vnd.openxmlformats-officedocument.presentationml.tags+xml"/>
  <Override PartName="/ppt/notesSlides/notesSlide51.xml" ContentType="application/vnd.openxmlformats-officedocument.presentationml.notesSlide+xml"/>
  <Override PartName="/ppt/tags/tag7.xml" ContentType="application/vnd.openxmlformats-officedocument.presentationml.tags+xml"/>
  <Override PartName="/ppt/notesSlides/notesSlide52.xml" ContentType="application/vnd.openxmlformats-officedocument.presentationml.notesSlide+xml"/>
  <Override PartName="/ppt/tags/tag8.xml" ContentType="application/vnd.openxmlformats-officedocument.presentationml.tags+xml"/>
  <Override PartName="/ppt/notesSlides/notesSlide53.xml" ContentType="application/vnd.openxmlformats-officedocument.presentationml.notesSlide+xml"/>
  <Override PartName="/ppt/tags/tag9.xml" ContentType="application/vnd.openxmlformats-officedocument.presentationml.tags+xml"/>
  <Override PartName="/ppt/notesSlides/notesSlide54.xml" ContentType="application/vnd.openxmlformats-officedocument.presentationml.notesSlide+xml"/>
  <Override PartName="/ppt/tags/tag10.xml" ContentType="application/vnd.openxmlformats-officedocument.presentationml.tags+xml"/>
  <Override PartName="/ppt/notesSlides/notesSlide55.xml" ContentType="application/vnd.openxmlformats-officedocument.presentationml.notesSlide+xml"/>
  <Override PartName="/ppt/tags/tag11.xml" ContentType="application/vnd.openxmlformats-officedocument.presentationml.tags+xml"/>
  <Override PartName="/ppt/notesSlides/notesSlide56.xml" ContentType="application/vnd.openxmlformats-officedocument.presentationml.notesSlide+xml"/>
  <Override PartName="/ppt/tags/tag12.xml" ContentType="application/vnd.openxmlformats-officedocument.presentationml.tags+xml"/>
  <Override PartName="/ppt/notesSlides/notesSlide57.xml" ContentType="application/vnd.openxmlformats-officedocument.presentationml.notesSlide+xml"/>
  <Override PartName="/ppt/tags/tag13.xml" ContentType="application/vnd.openxmlformats-officedocument.presentationml.tags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8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25" r:id="rId47"/>
    <p:sldId id="326" r:id="rId48"/>
    <p:sldId id="327" r:id="rId49"/>
    <p:sldId id="328" r:id="rId50"/>
    <p:sldId id="329" r:id="rId51"/>
    <p:sldId id="330" r:id="rId52"/>
    <p:sldId id="331" r:id="rId53"/>
    <p:sldId id="332" r:id="rId54"/>
    <p:sldId id="333" r:id="rId55"/>
    <p:sldId id="334" r:id="rId56"/>
    <p:sldId id="335" r:id="rId57"/>
    <p:sldId id="336" r:id="rId58"/>
    <p:sldId id="337" r:id="rId59"/>
    <p:sldId id="301" r:id="rId60"/>
    <p:sldId id="302" r:id="rId61"/>
    <p:sldId id="303" r:id="rId62"/>
    <p:sldId id="304" r:id="rId63"/>
    <p:sldId id="305" r:id="rId64"/>
    <p:sldId id="306" r:id="rId65"/>
    <p:sldId id="307" r:id="rId66"/>
    <p:sldId id="308" r:id="rId67"/>
    <p:sldId id="309" r:id="rId68"/>
    <p:sldId id="310" r:id="rId69"/>
    <p:sldId id="311" r:id="rId70"/>
    <p:sldId id="312" r:id="rId71"/>
    <p:sldId id="313" r:id="rId72"/>
    <p:sldId id="314" r:id="rId73"/>
    <p:sldId id="315" r:id="rId74"/>
    <p:sldId id="316" r:id="rId75"/>
    <p:sldId id="317" r:id="rId76"/>
    <p:sldId id="318" r:id="rId77"/>
    <p:sldId id="319" r:id="rId78"/>
    <p:sldId id="320" r:id="rId79"/>
    <p:sldId id="321" r:id="rId80"/>
    <p:sldId id="322" r:id="rId81"/>
    <p:sldId id="323" r:id="rId82"/>
    <p:sldId id="324" r:id="rId83"/>
  </p:sldIdLst>
  <p:sldSz cx="12192000" cy="6858000"/>
  <p:notesSz cx="6858000" cy="9144000"/>
  <p:embeddedFontLst>
    <p:embeddedFont>
      <p:font typeface="Microsoft JhengHei" panose="020B0604030504040204" pitchFamily="34" charset="-120"/>
      <p:regular r:id="rId85"/>
      <p:bold r:id="rId86"/>
    </p:embeddedFont>
    <p:embeddedFont>
      <p:font typeface="DFKai-SB" panose="03000509000000000000" pitchFamily="65" charset="-120"/>
      <p:regular r:id="rId87"/>
    </p:embeddedFont>
    <p:embeddedFont>
      <p:font typeface="Arial Black" panose="020B0A04020102020204" pitchFamily="34" charset="0"/>
      <p:bold r:id="rId88"/>
    </p:embeddedFont>
    <p:embeddedFont>
      <p:font typeface="Golos Text" panose="02020500000000000000" charset="0"/>
      <p:regular r:id="rId89"/>
      <p:bold r:id="rId90"/>
    </p:embeddedFont>
    <p:embeddedFont>
      <p:font typeface="Noto Sans TC" panose="020B0200000000000000" pitchFamily="34" charset="-120"/>
      <p:regular r:id="rId91"/>
      <p:bold r:id="rId92"/>
    </p:embeddedFont>
    <p:embeddedFont>
      <p:font typeface="Roboto" panose="02000000000000000000" pitchFamily="2" charset="0"/>
      <p:regular r:id="rId93"/>
      <p:bold r:id="rId94"/>
      <p:italic r:id="rId95"/>
      <p:boldItalic r:id="rId9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font" Target="fonts/font5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6.fntdata"/><Relationship Id="rId95" Type="http://schemas.openxmlformats.org/officeDocument/2006/relationships/font" Target="fonts/font11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font" Target="fonts/font4.fntdata"/><Relationship Id="rId91" Type="http://schemas.openxmlformats.org/officeDocument/2006/relationships/font" Target="fonts/font7.fntdata"/><Relationship Id="rId96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2.fntdata"/><Relationship Id="rId94" Type="http://schemas.openxmlformats.org/officeDocument/2006/relationships/font" Target="fonts/font10.fntdata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8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3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9.fntdata"/><Relationship Id="rId9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" name="Google Shape;2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9f93969b8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379f93969b8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g379f93969b8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9e7ae5223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f9e7ae5223_3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3f9e7ae5223_3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872dfcdfe7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g2872dfcdfe7_3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2872dfcdfe7_3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872dfcdfe7_3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872dfcdfe7_3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872dfcdfe7_3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5" name="Google Shape;36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9f5ffd6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g3f9f5ffd6c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g3f9f5ffd6c1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872dfcdfe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6" name="Google Shape;436;g2872dfcdfe7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g2872dfcdfe7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5" name="Google Shape;45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4" name="Google Shape;46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872dfcdfe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3" name="Google Shape;483;g2872dfcdfe7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g2872dfcdfe7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872dfcdfe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g2872dfcdfe7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g2872dfcdfe7_0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872dfcdf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g2872dfcdfe7_0_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g2872dfcdfe7_0_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872dfcdfe7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g2872dfcdfe7_0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g2872dfcdfe7_0_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8" name="Google Shape;52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7" name="Google Shape;53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7" name="Google Shape;547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0" name="Google Shape;56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8a4cebde5e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g38a4cebde5e_0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g38a4cebde5e_0_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5" name="Google Shape;585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8a4cebde5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5" name="Google Shape;595;g38a4cebde5e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g38a4cebde5e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409f7c21d5f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g409f7c21d5f_1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g409f7c21d5f_1_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409f7c21d5f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7" name="Google Shape;627;g409f7c21d5f_1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g409f7c21d5f_1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409f7c21d5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7" name="Google Shape;637;g409f7c21d5f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g409f7c21d5f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409f7c21d5f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6" name="Google Shape;646;g409f7c21d5f_1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g409f7c21d5f_1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409f7c21d5f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5" name="Google Shape;655;g409f7c21d5f_1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g409f7c21d5f_1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8a4cebde5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9" name="Google Shape;679;g38a4cebde5e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g38a4cebde5e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8a4cebde5e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8" name="Google Shape;688;g38a4cebde5e_0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g38a4cebde5e_0_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8a4cebde5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7" name="Google Shape;697;g38a4cebde5e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g38a4cebde5e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【開場破冰 · 1.5分鐘】</a:t>
            </a:r>
          </a:p>
          <a:p>
            <a:r>
              <a:t>各位 201 班同學好！做探究實作時，有圖表、有數據就是科學嗎？今天我們用 15 分鐘，揭開一場跨越 2000 年的真假科學冒險。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【Hook 衝突 · 2分鐘】</a:t>
            </a:r>
          </a:p>
          <a:p>
            <a:r>
              <a:t>請同學看大螢幕這兩個案例。左邊是名詞很高深的手環，右邊是為了分數修改數據的探究報告。誰是真正的科學？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【GPS 導航 · 1分鐘】</a:t>
            </a:r>
          </a:p>
          <a:p>
            <a:r>
              <a:t>帶領同學看清今天的學習路徑，從字源考古到波普爾之刀，再到費曼的照妖鏡與雙稜鏡武器。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【字源考古 · 2分鐘】</a:t>
            </a:r>
          </a:p>
          <a:p>
            <a:r>
              <a:t>說明科學是一套不斷演進的探索方法。亞里斯多德反對憑感覺主觀意見 Doxa；直到 1833 年才有 Scientist 這個詞。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【波普爾分界 · 2.5分鐘】</a:t>
            </a:r>
          </a:p>
          <a:p>
            <a:r>
              <a:t>核心是可證偽性。文學藝術是非科學，不可證偽但有價值；偽科學不可證偽卻假冒科學。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【黑天鵝實驗 · 1.5分鐘】</a:t>
            </a:r>
          </a:p>
          <a:p>
            <a:r>
              <a:t>歸納法的極限：你看了 100 萬隻白天鵝都不能證明理論絕對正確；但澳洲的 1 隻黑天鵝就能瞬間證偽！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【費曼貨物崇拜 · 2分鐘】</a:t>
            </a:r>
          </a:p>
          <a:p>
            <a:r>
              <a:t>島民蓋竹子塔台、戴木頭耳機，為什麼飛機不來？因為形式滿分，物理缺席！研究缺少誠實，也是貨物崇拜。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【密立根爬樓梯 · 2分鐘】</a:t>
            </a:r>
          </a:p>
          <a:p>
            <a:r>
              <a:t>密立根空氣黏滯度算小了，後面的科學家測出高數值卻不敢發表，自己找理由修低！費曼第一原則：絕不欺騙自己。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【探究現場照妖鏡 · 2分鐘】</a:t>
            </a:r>
          </a:p>
          <a:p>
            <a:r>
              <a:t>直擊高二探究痛點：偷刪離群值、先射箭再畫靶。真正的科學是誠實記錄異常、公開所有限制！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【科學光譜 · 1.5分鐘】</a:t>
            </a:r>
          </a:p>
          <a:p>
            <a:r>
              <a:t>從反科學到正統科學。像魏格納提出大陸漂移說，一開始被嘲笑是邊緣科學，但他提出地質證據，最終進入正統科學！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【課堂大挑戰 · 2分鐘】</a:t>
            </a:r>
          </a:p>
          <a:p>
            <a:r>
              <a:t>帶領全班搶答 4 道情境題，現場檢驗「波普爾之刀」的辨識力！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【雙稜鏡交付 · 1.5分鐘】</a:t>
            </a:r>
          </a:p>
          <a:p>
            <a:r>
              <a:t>下課前交給同學的隨身武器：波普爾之鏡照對手，費曼之鏡照自己。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【結語收束 · 1分鐘】</a:t>
            </a:r>
          </a:p>
          <a:p>
            <a:r>
              <a:t>祝嘉中 201 每位同學今年都能做一個誠實、敏銳、敢於修正自己的探究者。謝謝大家！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5" name="Google Shape;70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59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4" name="Google Shape;714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60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28924afeb3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6" name="Google Shape;726;g28924afeb34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g28924afeb34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61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8924afeb34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9" name="Google Shape;739;g28924afeb34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g28924afeb34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62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3" name="Google Shape;753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63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5" name="Google Shape;76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64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872dfcdfe7_4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5" name="Google Shape;775;g2872dfcdfe7_4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g2872dfcdfe7_4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65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3" name="Google Shape;78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66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3" name="Google Shape;793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67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4" name="Google Shape;804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68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2872dfcdfe7_3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4" name="Google Shape;814;g2872dfcdfe7_3_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g2872dfcdfe7_3_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69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2ff61de19c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4" name="Google Shape;824;g2ff61de19c9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g2ff61de19c9_0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70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2ff61de19c9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3" name="Google Shape;833;g2ff61de19c9_0_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g2ff61de19c9_0_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71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ff61de19c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2" name="Google Shape;842;g2ff61de19c9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g2ff61de19c9_0_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72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2ff61de19c9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1" name="Google Shape;851;g2ff61de19c9_0_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g2ff61de19c9_0_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73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2ff61de19c9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0" name="Google Shape;860;g2ff61de19c9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g2ff61de19c9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74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ff61de19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g2ff61de19c9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g2ff61de19c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75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2ff61de19c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9" name="Google Shape;879;g2ff61de19c9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g2ff61de19c9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76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2ff61de19c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8" name="Google Shape;888;g2ff61de19c9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g2ff61de19c9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77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2ff61de19c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7" name="Google Shape;897;g2ff61de19c9_0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g2ff61de19c9_0_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78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7" name="Google Shape;907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79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ff61de19c9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7" name="Google Shape;917;g2ff61de19c9_0_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g2ff61de19c9_0_1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80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8a9b5f07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7" name="Google Shape;927;g38a9b5f077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g38a9b5f077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81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8" name="Google Shape;938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82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>
  <p:cSld name="标题和内容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 rot="5400000">
            <a:off x="251050" y="-251051"/>
            <a:ext cx="729204" cy="1231306"/>
          </a:xfrm>
          <a:custGeom>
            <a:avLst/>
            <a:gdLst/>
            <a:ahLst/>
            <a:cxnLst/>
            <a:rect l="l" t="t" r="r" b="b"/>
            <a:pathLst>
              <a:path w="729204" h="1231306" extrusionOk="0">
                <a:moveTo>
                  <a:pt x="0" y="1231306"/>
                </a:moveTo>
                <a:lnTo>
                  <a:pt x="0" y="0"/>
                </a:lnTo>
                <a:lnTo>
                  <a:pt x="729204" y="1231306"/>
                </a:lnTo>
                <a:close/>
              </a:path>
            </a:pathLst>
          </a:custGeom>
          <a:solidFill>
            <a:srgbClr val="E0EF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0" y="6609144"/>
            <a:ext cx="12192000" cy="248856"/>
          </a:xfrm>
          <a:prstGeom prst="rect">
            <a:avLst/>
          </a:prstGeom>
          <a:solidFill>
            <a:srgbClr val="F1D5D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"/>
          <p:cNvSpPr/>
          <p:nvPr/>
        </p:nvSpPr>
        <p:spPr>
          <a:xfrm rot="-1800000">
            <a:off x="21470" y="632339"/>
            <a:ext cx="659692" cy="123743"/>
          </a:xfrm>
          <a:prstGeom prst="roundRect">
            <a:avLst>
              <a:gd name="adj" fmla="val 50000"/>
            </a:avLst>
          </a:prstGeom>
          <a:solidFill>
            <a:srgbClr val="F1D5D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>
  <p:cSld name="节标题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项内容">
  <p:cSld name="两项内容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标题幻灯片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eurl.cc/jvMAb1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hanlin.com.tw/app/keyword/%E5%9C%8B%E4%B8%AD/%E7%90%86%E5%8C%96/%E8%AE%8A%E5%9B%A0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reurl.cc/y6y608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vocus.cc/article/5e3c1ec2fd897800013ae05c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G1PeCZAqs4" TargetMode="Externa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hyperlink" Target="https://www.youtube.com/watch?v=dTrPShwe8fI" TargetMode="Externa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hyperlink" Target="https://www.youtube.com/watch?v=35YwR2az9nk" TargetMode="External"/><Relationship Id="rId4" Type="http://schemas.openxmlformats.org/officeDocument/2006/relationships/hyperlink" Target="https://www.youtube.com/watch?v=aoPhMd9JuQk" TargetMode="Externa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" TargetMode="Externa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eurl.cc/qvrr7N" TargetMode="External"/><Relationship Id="rId4" Type="http://schemas.openxmlformats.org/officeDocument/2006/relationships/hyperlink" Target="https://journals.aps.org/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/>
          <p:nvPr/>
        </p:nvSpPr>
        <p:spPr>
          <a:xfrm>
            <a:off x="0" y="0"/>
            <a:ext cx="4359317" cy="6858000"/>
          </a:xfrm>
          <a:custGeom>
            <a:avLst/>
            <a:gdLst/>
            <a:ahLst/>
            <a:cxnLst/>
            <a:rect l="l" t="t" r="r" b="b"/>
            <a:pathLst>
              <a:path w="4359317" h="6858000" extrusionOk="0">
                <a:moveTo>
                  <a:pt x="297872" y="0"/>
                </a:moveTo>
                <a:lnTo>
                  <a:pt x="0" y="0"/>
                </a:lnTo>
                <a:lnTo>
                  <a:pt x="0" y="6858000"/>
                </a:lnTo>
                <a:lnTo>
                  <a:pt x="4359317" y="6858000"/>
                </a:lnTo>
                <a:close/>
              </a:path>
            </a:pathLst>
          </a:custGeom>
          <a:solidFill>
            <a:srgbClr val="E0EF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7"/>
          <p:cNvSpPr/>
          <p:nvPr/>
        </p:nvSpPr>
        <p:spPr>
          <a:xfrm>
            <a:off x="0" y="5486400"/>
            <a:ext cx="12192000" cy="1371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7"/>
          <p:cNvSpPr/>
          <p:nvPr/>
        </p:nvSpPr>
        <p:spPr>
          <a:xfrm>
            <a:off x="11222253" y="607154"/>
            <a:ext cx="591183" cy="591183"/>
          </a:xfrm>
          <a:prstGeom prst="donut">
            <a:avLst>
              <a:gd name="adj" fmla="val 12646"/>
            </a:avLst>
          </a:prstGeom>
          <a:solidFill>
            <a:srgbClr val="E0EF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7"/>
          <p:cNvSpPr/>
          <p:nvPr/>
        </p:nvSpPr>
        <p:spPr>
          <a:xfrm>
            <a:off x="629920" y="5257800"/>
            <a:ext cx="2326640" cy="457200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7"/>
          <p:cNvSpPr txBox="1"/>
          <p:nvPr/>
        </p:nvSpPr>
        <p:spPr>
          <a:xfrm>
            <a:off x="0" y="535907"/>
            <a:ext cx="12201785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探究與實作 課程簡介</a:t>
            </a:r>
            <a:endParaRPr sz="4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Natural Science: Inquiry and Practice</a:t>
            </a:r>
            <a:endParaRPr sz="4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" name="Google Shape;28;p7"/>
          <p:cNvSpPr txBox="1"/>
          <p:nvPr/>
        </p:nvSpPr>
        <p:spPr>
          <a:xfrm>
            <a:off x="5854632" y="2420747"/>
            <a:ext cx="58644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國立嘉義高中</a:t>
            </a:r>
            <a:endParaRPr sz="4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物理科 樊志文</a:t>
            </a:r>
            <a:r>
              <a:rPr lang="zh-TW" sz="4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老師</a:t>
            </a:r>
            <a:endParaRPr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生物科 蕭伊岑老師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DFKai-SB"/>
              <a:buNone/>
            </a:pPr>
            <a:r>
              <a:rPr lang="zh-TW" sz="4400" b="0" i="0" u="none" strike="noStrike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何為探究實作？</a:t>
            </a:r>
            <a:endParaRPr sz="4400" b="0" i="0" u="none" strike="noStrike" cap="none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35" name="Google Shape;35;p8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Google Shape;36;p8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8"/>
          <p:cNvPicPr preferRelativeResize="0"/>
          <p:nvPr/>
        </p:nvPicPr>
        <p:blipFill rotWithShape="1">
          <a:blip r:embed="rId3">
            <a:alphaModFix/>
          </a:blip>
          <a:srcRect t="24396"/>
          <a:stretch/>
        </p:blipFill>
        <p:spPr>
          <a:xfrm>
            <a:off x="1700530" y="1085632"/>
            <a:ext cx="9563100" cy="4335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DFKai-SB"/>
              <a:buNone/>
            </a:pPr>
            <a:r>
              <a:rPr lang="zh-TW" sz="4400" b="0" i="0" u="none" strike="noStrike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本學期課程架構流程</a:t>
            </a:r>
            <a:endParaRPr sz="4400" b="0" i="0" u="none" strike="noStrike" cap="none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44" name="Google Shape;44;p9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" name="Google Shape;45;p9"/>
          <p:cNvPicPr preferRelativeResize="0"/>
          <p:nvPr/>
        </p:nvPicPr>
        <p:blipFill rotWithShape="1">
          <a:blip r:embed="rId3">
            <a:alphaModFix/>
          </a:blip>
          <a:srcRect t="15263"/>
          <a:stretch/>
        </p:blipFill>
        <p:spPr>
          <a:xfrm>
            <a:off x="941070" y="1665171"/>
            <a:ext cx="10515600" cy="39594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"/>
          <p:cNvSpPr txBox="1"/>
          <p:nvPr/>
        </p:nvSpPr>
        <p:spPr>
          <a:xfrm>
            <a:off x="1442720" y="2580640"/>
            <a:ext cx="1371600" cy="584775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0" i="0" u="none" strike="noStrike" cap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勇者的基石</a:t>
            </a:r>
            <a:endParaRPr sz="1600" b="0" i="0" u="none" strike="noStrike" cap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0" i="0" u="none" strike="noStrike" cap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(Excel)</a:t>
            </a:r>
            <a:endParaRPr sz="1600" b="0" i="0" u="none" strike="noStrike" cap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47" name="Google Shape;47;p9"/>
          <p:cNvSpPr txBox="1"/>
          <p:nvPr/>
        </p:nvSpPr>
        <p:spPr>
          <a:xfrm>
            <a:off x="8360025" y="2703678"/>
            <a:ext cx="2565900" cy="338700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色層分析</a:t>
            </a:r>
            <a:endParaRPr sz="1600" b="0" i="0" u="none" strike="noStrike" cap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分組說明</a:t>
            </a:r>
            <a:endParaRPr/>
          </a:p>
        </p:txBody>
      </p:sp>
      <p:sp>
        <p:nvSpPr>
          <p:cNvPr id="54" name="Google Shape;54;p10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0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0"/>
          <p:cNvSpPr txBox="1"/>
          <p:nvPr/>
        </p:nvSpPr>
        <p:spPr>
          <a:xfrm>
            <a:off x="1508260" y="1536194"/>
            <a:ext cx="93990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1.採用分組合作學習，一同努力以達到共同設定的目標。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2.配合學校教室的硬體資源限制，每組學生4人分組，請以2人為單位，找尋你的夥伴，並找老師登記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3.組別可因實驗不同而做重新分配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lang="zh-TW" sz="44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評分標準</a:t>
            </a:r>
            <a:endParaRPr sz="4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838199" y="1398046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總成績為各主題成績之平均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例：本學期兩大主題，則每一主題占50%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本學期三大主題，則每一主題占33.3%</a:t>
            </a:r>
            <a:endParaRPr/>
          </a:p>
          <a:p>
            <a:pPr marL="228600" marR="0" lvl="0" indent="-2286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成績來源：</a:t>
            </a: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作業</a:t>
            </a: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(科學筆記本、平台作業)、上台發表、學習態度</a:t>
            </a: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(課堂表現)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286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上課回答問題 </a:t>
            </a:r>
            <a:r>
              <a:rPr lang="zh-TW" sz="32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每次加平時成績1分</a:t>
            </a:r>
            <a:endParaRPr/>
          </a:p>
        </p:txBody>
      </p:sp>
      <p:sp>
        <p:nvSpPr>
          <p:cNvPr id="64" name="Google Shape;64;p1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lang="zh-TW" sz="44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評分標準</a:t>
            </a:r>
            <a:endParaRPr sz="4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1" name="Google Shape;71;p12"/>
          <p:cNvSpPr txBox="1"/>
          <p:nvPr/>
        </p:nvSpPr>
        <p:spPr>
          <a:xfrm>
            <a:off x="838199" y="1398046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marR="0" lvl="0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總成績為各主題成績之平均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例：本學期兩大主題，則每一主題占50%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本學期三大主題，則每一主題占33.3%</a:t>
            </a:r>
            <a:endParaRPr/>
          </a:p>
          <a:p>
            <a:pPr marL="228600" marR="0" lvl="0" indent="-2286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成績來源：(科學筆記本、平台作業)40</a:t>
            </a: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%</a:t>
            </a: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、上台發表40</a:t>
            </a: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%</a:t>
            </a: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、(同學互評、學習態度)20</a:t>
            </a: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%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286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上課回答問題 </a:t>
            </a:r>
            <a:r>
              <a:rPr lang="zh-TW" sz="32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每次加平時成績1分，累積5分以上加總平均1分</a:t>
            </a:r>
            <a:endParaRPr/>
          </a:p>
        </p:txBody>
      </p:sp>
      <p:sp>
        <p:nvSpPr>
          <p:cNvPr id="72" name="Google Shape;72;p12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endParaRPr sz="4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990600" y="1512771"/>
            <a:ext cx="10515601" cy="3767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實驗室飲食(包含吃&amp;喝)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攜帶食物進入實驗室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未遵守實驗室安全守則(經勸阻不聽)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操作傷害自己與同學的實驗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作業或報告缺繳以致無法及格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報告抄襲</a:t>
            </a:r>
            <a:endParaRPr/>
          </a:p>
        </p:txBody>
      </p:sp>
      <p:sp>
        <p:nvSpPr>
          <p:cNvPr id="82" name="Google Shape;82;p13" descr="畫布"/>
          <p:cNvSpPr txBox="1"/>
          <p:nvPr/>
        </p:nvSpPr>
        <p:spPr>
          <a:xfrm>
            <a:off x="990600" y="3254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總成績38分</a:t>
            </a:r>
            <a:endParaRPr sz="4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8598900" y="2434425"/>
            <a:ext cx="2754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3000"/>
              <a:buFont typeface="Microsoft JhengHei"/>
              <a:buNone/>
            </a:pPr>
            <a:r>
              <a:rPr lang="zh-TW" sz="3000" b="0" i="0" u="none" strike="noStrike" cap="none">
                <a:solidFill>
                  <a:srgbClr val="EA433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不用懷疑就是連補考的機會都沒有！！！</a:t>
            </a:r>
            <a:endParaRPr sz="1200" b="0" i="0" u="none" strike="noStrike" cap="none">
              <a:solidFill>
                <a:srgbClr val="EA433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endParaRPr sz="4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990600" y="1512771"/>
            <a:ext cx="10515600" cy="37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需要兩位認真負責的帥哥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視課程需求於上課前推平板車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幫忙提醒上課注意事項如至實驗室上課或帶實驗衣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期末各兩支嘉獎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3" name="Google Shape;93;p14" descr="畫布"/>
          <p:cNvSpPr txBox="1"/>
          <p:nvPr/>
        </p:nvSpPr>
        <p:spPr>
          <a:xfrm>
            <a:off x="990600" y="3254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選小老師</a:t>
            </a:r>
            <a:endParaRPr sz="4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8598900" y="2434425"/>
            <a:ext cx="275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3000"/>
              <a:buFont typeface="Microsoft JhengHei"/>
              <a:buNone/>
            </a:pPr>
            <a:endParaRPr sz="1200" b="0" i="0" u="none" strike="noStrike" cap="none">
              <a:solidFill>
                <a:srgbClr val="EA433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956050" y="2957650"/>
            <a:ext cx="678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任務一：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1396500" y="1712250"/>
            <a:ext cx="9399000" cy="18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lang="zh-TW" sz="29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找好你的夥伴，並以100字左右介紹對方(兩人夥伴)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lang="zh-TW" sz="29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抽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r>
              <a:rPr lang="zh-TW" sz="29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組上台分享</a:t>
            </a:r>
            <a:endParaRPr sz="29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lang="zh-TW" sz="29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將作業上傳至Classroom，截止時間：9/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r>
              <a:rPr lang="zh-TW" sz="29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晚上11:59</a:t>
            </a:r>
            <a:endParaRPr sz="29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sz="4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" name="Google Shape;113;p16"/>
          <p:cNvGrpSpPr/>
          <p:nvPr/>
        </p:nvGrpSpPr>
        <p:grpSpPr>
          <a:xfrm>
            <a:off x="1106169" y="3495824"/>
            <a:ext cx="9979659" cy="559549"/>
            <a:chOff x="1038860" y="2061829"/>
            <a:chExt cx="9979659" cy="559549"/>
          </a:xfrm>
        </p:grpSpPr>
        <p:sp>
          <p:nvSpPr>
            <p:cNvPr id="114" name="Google Shape;114;p16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 cap="non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6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16"/>
          <p:cNvSpPr txBox="1"/>
          <p:nvPr/>
        </p:nvSpPr>
        <p:spPr>
          <a:xfrm>
            <a:off x="1012189" y="6199770"/>
            <a:ext cx="84124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0" i="0" u="none" strike="noStrike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高中生都要學的探究與實作，與實驗課有何差別？</a:t>
            </a:r>
            <a:r>
              <a:rPr lang="zh-TW" sz="1800" b="0" i="0" u="sng" strike="noStrike">
                <a:solidFill>
                  <a:srgbClr val="1155CC"/>
                </a:solidFill>
                <a:latin typeface="Golos Text"/>
                <a:ea typeface="Golos Text"/>
                <a:cs typeface="Golos Text"/>
                <a:sym typeface="Golos Tex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https://reurl.cc/jvMAb1</a:t>
            </a:r>
            <a:endParaRPr sz="18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2934969" y="1760710"/>
            <a:ext cx="6096000" cy="90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lang="zh-TW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探</a:t>
            </a:r>
            <a:r>
              <a:rPr lang="zh-TW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討 研</a:t>
            </a:r>
            <a:r>
              <a:rPr lang="zh-TW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究 </a:t>
            </a:r>
            <a:r>
              <a:rPr lang="zh-TW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與 </a:t>
            </a:r>
            <a:r>
              <a:rPr lang="zh-TW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</a:t>
            </a:r>
            <a:r>
              <a:rPr lang="zh-TW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際操</a:t>
            </a:r>
            <a:r>
              <a:rPr lang="zh-TW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作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DFKai-SB"/>
              <a:buNone/>
            </a:pPr>
            <a:r>
              <a:rPr lang="zh-TW" sz="4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何為探究實作？</a:t>
            </a:r>
            <a:endParaRPr sz="44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1021075" y="1269875"/>
            <a:ext cx="107271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一種以學生為中心的學習方法，強調通過提出問題、進行觀察、實驗和分析來主動探索知識。探究實作鼓勵學生積極參與學習過程，</a:t>
            </a:r>
            <a:r>
              <a:rPr lang="zh-TW" sz="2400">
                <a:solidFill>
                  <a:srgbClr val="FF0000"/>
                </a:solidFill>
                <a:latin typeface="DFKai-SB"/>
                <a:ea typeface="DFKai-SB"/>
                <a:cs typeface="DFKai-SB"/>
                <a:sym typeface="DFKai-SB"/>
              </a:rPr>
              <a:t>培養批判性思維、問題解決能力和自主學習的能力</a:t>
            </a: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。這種方法通常包括以下步驟：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1168398" y="3627048"/>
            <a:ext cx="10810200" cy="23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提出問題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：學生根據</a:t>
            </a:r>
            <a:r>
              <a:rPr lang="zh-TW" sz="24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觀察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</a:t>
            </a:r>
            <a:r>
              <a:rPr lang="zh-TW" sz="24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經驗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提出感興趣的</a:t>
            </a:r>
            <a:r>
              <a:rPr lang="zh-TW" sz="24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問題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收集資料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：通過閱讀、調查或實驗收集相關資料。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提出假設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：根據已有的知識和收集的資料，學生對問題的可能答案提出假設。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進行實驗或調查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：設計並執行實驗或進行深入調查來檢驗假設。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分析結果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：對實驗或調查的結果進行分析，得出結論。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分享結果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：學生將他們的發現與同學或教師分享，進行討論和反思。 </a:t>
            </a:r>
            <a:endParaRPr/>
          </a:p>
        </p:txBody>
      </p:sp>
      <p:grpSp>
        <p:nvGrpSpPr>
          <p:cNvPr id="133" name="Google Shape;133;p17"/>
          <p:cNvGrpSpPr/>
          <p:nvPr/>
        </p:nvGrpSpPr>
        <p:grpSpPr>
          <a:xfrm>
            <a:off x="1168398" y="2704891"/>
            <a:ext cx="9979659" cy="559549"/>
            <a:chOff x="1038860" y="2061829"/>
            <a:chExt cx="9979659" cy="559549"/>
          </a:xfrm>
        </p:grpSpPr>
        <p:sp>
          <p:nvSpPr>
            <p:cNvPr id="134" name="Google Shape;134;p17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FF0000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7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DFKai-SB"/>
              <a:buNone/>
            </a:pPr>
            <a:r>
              <a:rPr lang="zh-TW" sz="4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何為探究實作？</a:t>
            </a:r>
            <a:endParaRPr sz="44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1168398" y="3627048"/>
            <a:ext cx="10810242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提出問題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：學生根據觀察或經驗提出感興趣的問題。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收集資料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：通過閱讀、調查或實驗</a:t>
            </a:r>
            <a:r>
              <a:rPr lang="zh-TW" sz="24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收集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相關資料。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提出假設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r>
              <a:rPr lang="zh-TW" sz="24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根據已有的知識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和收集的資料，學生對問題的可能答案</a:t>
            </a:r>
            <a:r>
              <a:rPr lang="zh-TW" sz="24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提出假設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進行實驗或調查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：設計並執行實驗或進行深入調查來檢驗假設。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分析結果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：對實驗或調查的結果進行分析，得出結論。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分享結果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：學生將他們的發現與同學或教師分享，進行討論和反思。 </a:t>
            </a:r>
            <a:endParaRPr/>
          </a:p>
        </p:txBody>
      </p:sp>
      <p:grpSp>
        <p:nvGrpSpPr>
          <p:cNvPr id="150" name="Google Shape;150;p18"/>
          <p:cNvGrpSpPr/>
          <p:nvPr/>
        </p:nvGrpSpPr>
        <p:grpSpPr>
          <a:xfrm>
            <a:off x="1262378" y="2722828"/>
            <a:ext cx="9979659" cy="559549"/>
            <a:chOff x="1038860" y="2061829"/>
            <a:chExt cx="9979659" cy="559549"/>
          </a:xfrm>
        </p:grpSpPr>
        <p:sp>
          <p:nvSpPr>
            <p:cNvPr id="151" name="Google Shape;151;p18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FF0000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8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" name="Google Shape;158;p18"/>
          <p:cNvSpPr txBox="1"/>
          <p:nvPr/>
        </p:nvSpPr>
        <p:spPr>
          <a:xfrm>
            <a:off x="1021077" y="1269882"/>
            <a:ext cx="1022096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一種以學生為中心的學習方法，強調通過提出問題、進行觀察、實驗和分析來主動探索知識。探究實作鼓勵學生積極參與學習過程，</a:t>
            </a:r>
            <a:r>
              <a:rPr lang="zh-TW" sz="2400">
                <a:solidFill>
                  <a:srgbClr val="FF0000"/>
                </a:solidFill>
                <a:latin typeface="DFKai-SB"/>
                <a:ea typeface="DFKai-SB"/>
                <a:cs typeface="DFKai-SB"/>
                <a:sym typeface="DFKai-SB"/>
              </a:rPr>
              <a:t>培養批判性思維、問題解決能力和自主學習的能力</a:t>
            </a: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。這種方法通常包括以下步驟：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DFKai-SB"/>
              <a:buNone/>
            </a:pPr>
            <a:r>
              <a:rPr lang="zh-TW" sz="4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何為探究實作？</a:t>
            </a:r>
            <a:endParaRPr sz="44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1168398" y="3627048"/>
            <a:ext cx="10810242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提出問題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：學生根據觀察或經驗提出感興趣的問題。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收集資料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：通過閱讀、調查或實驗收集相關資料。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提出假設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：根據已有的知識和收集的資料，學生對問題的可能答案提出假設。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進行實驗或調查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：設計並</a:t>
            </a:r>
            <a:r>
              <a:rPr lang="zh-TW" sz="24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執行實驗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或進行深入調查來</a:t>
            </a:r>
            <a:r>
              <a:rPr lang="zh-TW" sz="24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檢驗假設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分析結果</a:t>
            </a:r>
            <a:r>
              <a:rPr lang="zh-TW" sz="24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對實驗或調查的結果進行分析，</a:t>
            </a:r>
            <a:r>
              <a:rPr lang="zh-TW" sz="24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得出結論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分享結果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：學生將他們的發現與同學或教師分享，進行討論和反思。 </a:t>
            </a:r>
            <a:endParaRPr/>
          </a:p>
        </p:txBody>
      </p:sp>
      <p:grpSp>
        <p:nvGrpSpPr>
          <p:cNvPr id="168" name="Google Shape;168;p19"/>
          <p:cNvGrpSpPr/>
          <p:nvPr/>
        </p:nvGrpSpPr>
        <p:grpSpPr>
          <a:xfrm>
            <a:off x="1262378" y="2722828"/>
            <a:ext cx="9979659" cy="559549"/>
            <a:chOff x="1038860" y="2061829"/>
            <a:chExt cx="9979659" cy="559549"/>
          </a:xfrm>
        </p:grpSpPr>
        <p:sp>
          <p:nvSpPr>
            <p:cNvPr id="169" name="Google Shape;169;p19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9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9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173" name="Google Shape;173;p19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19"/>
          <p:cNvSpPr txBox="1"/>
          <p:nvPr/>
        </p:nvSpPr>
        <p:spPr>
          <a:xfrm>
            <a:off x="1021077" y="1269882"/>
            <a:ext cx="1022096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一種以學生為中心的學習方法，強調通過提出問題、進行觀察、實驗和分析來主動探索知識。探究實作鼓勵學生積極參與學習過程，</a:t>
            </a:r>
            <a:r>
              <a:rPr lang="zh-TW" sz="2400">
                <a:solidFill>
                  <a:srgbClr val="FF0000"/>
                </a:solidFill>
                <a:latin typeface="DFKai-SB"/>
                <a:ea typeface="DFKai-SB"/>
                <a:cs typeface="DFKai-SB"/>
                <a:sym typeface="DFKai-SB"/>
              </a:rPr>
              <a:t>培養批判性思維、問題解決能力和自主學習的能力</a:t>
            </a: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。這種方法通常包括以下步驟：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DFKai-SB"/>
              <a:buNone/>
            </a:pPr>
            <a:r>
              <a:rPr lang="zh-TW" sz="4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何為探究實作？</a:t>
            </a:r>
            <a:endParaRPr sz="44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1168398" y="3627048"/>
            <a:ext cx="10810242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提出問題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：學生根據觀察或經驗提出感興趣的問題。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收集資料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：通過閱讀、調查或實驗收集相關資料。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提出假設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：根據已有的知識和收集的資料，學生對問題的可能答案提出假設。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進行實驗或調查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：設計並執行實驗或進行深入調查來檢驗假設。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分析結果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：對實驗或調查的結果進行分析，得出結論。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分享結果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：學生將他們的發現與同學或教師分享，</a:t>
            </a:r>
            <a:r>
              <a:rPr lang="zh-TW" sz="24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進行討論和反思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 </a:t>
            </a:r>
            <a:endParaRPr/>
          </a:p>
        </p:txBody>
      </p:sp>
      <p:grpSp>
        <p:nvGrpSpPr>
          <p:cNvPr id="186" name="Google Shape;186;p20"/>
          <p:cNvGrpSpPr/>
          <p:nvPr/>
        </p:nvGrpSpPr>
        <p:grpSpPr>
          <a:xfrm>
            <a:off x="1262378" y="2722828"/>
            <a:ext cx="9979659" cy="559549"/>
            <a:chOff x="1038860" y="2061829"/>
            <a:chExt cx="9979659" cy="559549"/>
          </a:xfrm>
        </p:grpSpPr>
        <p:sp>
          <p:nvSpPr>
            <p:cNvPr id="187" name="Google Shape;187;p20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FF0000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0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" name="Google Shape;194;p20"/>
          <p:cNvSpPr txBox="1"/>
          <p:nvPr/>
        </p:nvSpPr>
        <p:spPr>
          <a:xfrm>
            <a:off x="1021077" y="1269882"/>
            <a:ext cx="1022096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一種以學生為中心的學習方法，強調通過提出問題、進行觀察、實驗和分析來主動探索知識。探究實作鼓勵學生積極參與學習過程，</a:t>
            </a:r>
            <a:r>
              <a:rPr lang="zh-TW" sz="2400">
                <a:solidFill>
                  <a:srgbClr val="FF0000"/>
                </a:solidFill>
                <a:latin typeface="DFKai-SB"/>
                <a:ea typeface="DFKai-SB"/>
                <a:cs typeface="DFKai-SB"/>
                <a:sym typeface="DFKai-SB"/>
              </a:rPr>
              <a:t>培養批判性思維、問題解決能力和自主學習的能力</a:t>
            </a: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。這種方法通常包括以下步驟：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21"/>
          <p:cNvGrpSpPr/>
          <p:nvPr/>
        </p:nvGrpSpPr>
        <p:grpSpPr>
          <a:xfrm>
            <a:off x="1909424" y="2942872"/>
            <a:ext cx="8226428" cy="2142233"/>
            <a:chOff x="1038859" y="2188392"/>
            <a:chExt cx="8226428" cy="2142233"/>
          </a:xfrm>
        </p:grpSpPr>
        <p:sp>
          <p:nvSpPr>
            <p:cNvPr id="204" name="Google Shape;204;p21"/>
            <p:cNvSpPr txBox="1"/>
            <p:nvPr/>
          </p:nvSpPr>
          <p:spPr>
            <a:xfrm>
              <a:off x="1038859" y="2866918"/>
              <a:ext cx="7405893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 </a:t>
              </a:r>
              <a:r>
                <a:rPr lang="zh-TW" sz="2400" b="0" i="0">
                  <a:solidFill>
                    <a:schemeClr val="accent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觀察→提出問題</a:t>
              </a: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 </a:t>
              </a: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形成假設</a:t>
              </a: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</a:t>
              </a: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實驗</a:t>
              </a:r>
              <a:r>
                <a:rPr lang="zh-TW" sz="2400" b="0" i="0">
                  <a:solidFill>
                    <a:srgbClr val="FF000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→分析→結論</a:t>
              </a:r>
              <a:endParaRPr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1"/>
            <p:cNvSpPr/>
            <p:nvPr/>
          </p:nvSpPr>
          <p:spPr>
            <a:xfrm flipH="1">
              <a:off x="4178746" y="3373770"/>
              <a:ext cx="3244029" cy="479074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1"/>
            <p:cNvSpPr/>
            <p:nvPr/>
          </p:nvSpPr>
          <p:spPr>
            <a:xfrm rot="8985004" flipH="1">
              <a:off x="3881643" y="2393409"/>
              <a:ext cx="893396" cy="294016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4788274" y="2238338"/>
              <a:ext cx="4477013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提出新假設</a:t>
              </a: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</a:t>
              </a: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實驗</a:t>
              </a:r>
              <a:r>
                <a:rPr lang="zh-TW" sz="2400" b="0" i="0">
                  <a:solidFill>
                    <a:srgbClr val="FF000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→分析→結論</a:t>
              </a:r>
              <a:endParaRPr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1"/>
            <p:cNvSpPr txBox="1"/>
            <p:nvPr/>
          </p:nvSpPr>
          <p:spPr>
            <a:xfrm>
              <a:off x="5218429" y="3961293"/>
              <a:ext cx="14306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與假設不符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" name="Google Shape;209;p21"/>
          <p:cNvSpPr txBox="1"/>
          <p:nvPr/>
        </p:nvSpPr>
        <p:spPr>
          <a:xfrm>
            <a:off x="1203050" y="2119525"/>
            <a:ext cx="9284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2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科學方法-</a:t>
            </a:r>
            <a:r>
              <a:rPr lang="zh-TW" sz="2200" i="0">
                <a:solidFill>
                  <a:srgbClr val="454545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觀察現象，得到新的理論或是修正舊有理論的系統方式。</a:t>
            </a:r>
            <a:endParaRPr sz="1600"/>
          </a:p>
        </p:txBody>
      </p:sp>
      <p:grpSp>
        <p:nvGrpSpPr>
          <p:cNvPr id="210" name="Google Shape;210;p21"/>
          <p:cNvGrpSpPr/>
          <p:nvPr/>
        </p:nvGrpSpPr>
        <p:grpSpPr>
          <a:xfrm>
            <a:off x="1106169" y="1435205"/>
            <a:ext cx="9979659" cy="559549"/>
            <a:chOff x="1038860" y="2061829"/>
            <a:chExt cx="9979659" cy="559549"/>
          </a:xfrm>
        </p:grpSpPr>
        <p:sp>
          <p:nvSpPr>
            <p:cNvPr id="211" name="Google Shape;211;p21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chemeClr val="accent6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1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1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chemeClr val="accent1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1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215" name="Google Shape;215;p21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1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1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6" name="Google Shape;226;p22"/>
          <p:cNvGrpSpPr/>
          <p:nvPr/>
        </p:nvGrpSpPr>
        <p:grpSpPr>
          <a:xfrm>
            <a:off x="876599" y="4699956"/>
            <a:ext cx="10856676" cy="1213624"/>
            <a:chOff x="1157368" y="4941814"/>
            <a:chExt cx="10856676" cy="1213624"/>
          </a:xfrm>
        </p:grpSpPr>
        <p:grpSp>
          <p:nvGrpSpPr>
            <p:cNvPr id="227" name="Google Shape;227;p22"/>
            <p:cNvGrpSpPr/>
            <p:nvPr/>
          </p:nvGrpSpPr>
          <p:grpSpPr>
            <a:xfrm>
              <a:off x="1157368" y="4941814"/>
              <a:ext cx="9233311" cy="1213624"/>
              <a:chOff x="289685" y="4899109"/>
              <a:chExt cx="9233311" cy="1213624"/>
            </a:xfrm>
          </p:grpSpPr>
          <p:sp>
            <p:nvSpPr>
              <p:cNvPr id="228" name="Google Shape;228;p22"/>
              <p:cNvSpPr txBox="1"/>
              <p:nvPr/>
            </p:nvSpPr>
            <p:spPr>
              <a:xfrm>
                <a:off x="1912953" y="5102795"/>
                <a:ext cx="1879530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6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運動是否可以改善肥胖？</a:t>
                </a:r>
                <a:endParaRPr/>
              </a:p>
            </p:txBody>
          </p:sp>
          <p:cxnSp>
            <p:nvCxnSpPr>
              <p:cNvPr id="229" name="Google Shape;229;p22"/>
              <p:cNvCxnSpPr/>
              <p:nvPr/>
            </p:nvCxnSpPr>
            <p:spPr>
              <a:xfrm>
                <a:off x="3761215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230" name="Google Shape;230;p22"/>
              <p:cNvSpPr txBox="1"/>
              <p:nvPr/>
            </p:nvSpPr>
            <p:spPr>
              <a:xfrm>
                <a:off x="4252259" y="4929027"/>
                <a:ext cx="1102027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運動可以改善肥胖</a:t>
                </a:r>
                <a:endParaRPr/>
              </a:p>
            </p:txBody>
          </p:sp>
          <p:cxnSp>
            <p:nvCxnSpPr>
              <p:cNvPr id="231" name="Google Shape;231;p22"/>
              <p:cNvCxnSpPr/>
              <p:nvPr/>
            </p:nvCxnSpPr>
            <p:spPr>
              <a:xfrm>
                <a:off x="5286039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232" name="Google Shape;232;p22"/>
              <p:cNvSpPr txBox="1"/>
              <p:nvPr/>
            </p:nvSpPr>
            <p:spPr>
              <a:xfrm>
                <a:off x="5814062" y="4899109"/>
                <a:ext cx="1978658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讓BMI大於25的人每天快走1小時，持續30天</a:t>
                </a:r>
                <a:endParaRPr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233" name="Google Shape;233;p22"/>
              <p:cNvCxnSpPr/>
              <p:nvPr/>
            </p:nvCxnSpPr>
            <p:spPr>
              <a:xfrm>
                <a:off x="7792720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234" name="Google Shape;234;p22"/>
              <p:cNvSpPr txBox="1"/>
              <p:nvPr/>
            </p:nvSpPr>
            <p:spPr>
              <a:xfrm>
                <a:off x="8252496" y="4995073"/>
                <a:ext cx="12705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rgbClr val="FF0000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30天後測量BMI，並分析</a:t>
                </a:r>
                <a:endParaRPr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235" name="Google Shape;235;p22"/>
              <p:cNvSpPr txBox="1"/>
              <p:nvPr/>
            </p:nvSpPr>
            <p:spPr>
              <a:xfrm>
                <a:off x="289685" y="5096933"/>
                <a:ext cx="12585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6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體重過重的人幾乎不運動</a:t>
                </a:r>
                <a:endParaRPr/>
              </a:p>
            </p:txBody>
          </p:sp>
          <p:cxnSp>
            <p:nvCxnSpPr>
              <p:cNvPr id="236" name="Google Shape;236;p22"/>
              <p:cNvCxnSpPr/>
              <p:nvPr/>
            </p:nvCxnSpPr>
            <p:spPr>
              <a:xfrm>
                <a:off x="1516953" y="540694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</p:grpSp>
        <p:cxnSp>
          <p:nvCxnSpPr>
            <p:cNvPr id="237" name="Google Shape;237;p22"/>
            <p:cNvCxnSpPr/>
            <p:nvPr/>
          </p:nvCxnSpPr>
          <p:spPr>
            <a:xfrm>
              <a:off x="10243848" y="5403479"/>
              <a:ext cx="396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38" name="Google Shape;238;p22"/>
            <p:cNvSpPr txBox="1"/>
            <p:nvPr/>
          </p:nvSpPr>
          <p:spPr>
            <a:xfrm>
              <a:off x="10743412" y="5203424"/>
              <a:ext cx="1270632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BMI下降</a:t>
              </a:r>
              <a:endParaRPr>
                <a:solidFill>
                  <a:srgbClr val="FF0000"/>
                </a:solidFill>
              </a:endParaRPr>
            </a:p>
          </p:txBody>
        </p:sp>
      </p:grpSp>
      <p:grpSp>
        <p:nvGrpSpPr>
          <p:cNvPr id="239" name="Google Shape;239;p22"/>
          <p:cNvGrpSpPr/>
          <p:nvPr/>
        </p:nvGrpSpPr>
        <p:grpSpPr>
          <a:xfrm>
            <a:off x="1106169" y="1435205"/>
            <a:ext cx="9979659" cy="559549"/>
            <a:chOff x="1038860" y="2061829"/>
            <a:chExt cx="9979659" cy="559549"/>
          </a:xfrm>
        </p:grpSpPr>
        <p:sp>
          <p:nvSpPr>
            <p:cNvPr id="240" name="Google Shape;240;p22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chemeClr val="accent6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2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2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chemeClr val="accent1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2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244" name="Google Shape;244;p22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2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2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" name="Google Shape;247;p22"/>
          <p:cNvGrpSpPr/>
          <p:nvPr/>
        </p:nvGrpSpPr>
        <p:grpSpPr>
          <a:xfrm>
            <a:off x="1909424" y="2253579"/>
            <a:ext cx="8226428" cy="2142233"/>
            <a:chOff x="1038859" y="2188392"/>
            <a:chExt cx="8226428" cy="2142233"/>
          </a:xfrm>
        </p:grpSpPr>
        <p:sp>
          <p:nvSpPr>
            <p:cNvPr id="248" name="Google Shape;248;p22"/>
            <p:cNvSpPr txBox="1"/>
            <p:nvPr/>
          </p:nvSpPr>
          <p:spPr>
            <a:xfrm>
              <a:off x="1038859" y="2866918"/>
              <a:ext cx="7405893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 </a:t>
              </a:r>
              <a:r>
                <a:rPr lang="zh-TW" sz="2400" b="0" i="0">
                  <a:solidFill>
                    <a:schemeClr val="accent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觀察→提出問題</a:t>
              </a: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 </a:t>
              </a: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形成假設</a:t>
              </a: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</a:t>
              </a: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實驗</a:t>
              </a:r>
              <a:r>
                <a:rPr lang="zh-TW" sz="2400" b="0" i="0">
                  <a:solidFill>
                    <a:srgbClr val="FF000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→分析→結論</a:t>
              </a:r>
              <a:endParaRPr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2"/>
            <p:cNvSpPr/>
            <p:nvPr/>
          </p:nvSpPr>
          <p:spPr>
            <a:xfrm flipH="1">
              <a:off x="4178746" y="3373770"/>
              <a:ext cx="3244029" cy="479074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2"/>
            <p:cNvSpPr/>
            <p:nvPr/>
          </p:nvSpPr>
          <p:spPr>
            <a:xfrm rot="8985004" flipH="1">
              <a:off x="3881643" y="2393409"/>
              <a:ext cx="893396" cy="294016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2"/>
            <p:cNvSpPr txBox="1"/>
            <p:nvPr/>
          </p:nvSpPr>
          <p:spPr>
            <a:xfrm>
              <a:off x="4788274" y="2238338"/>
              <a:ext cx="4477013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提出新假設</a:t>
              </a: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</a:t>
              </a: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實驗</a:t>
              </a:r>
              <a:r>
                <a:rPr lang="zh-TW" sz="2400" b="0" i="0">
                  <a:solidFill>
                    <a:srgbClr val="FF000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→分析→結論</a:t>
              </a:r>
              <a:endParaRPr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2"/>
            <p:cNvSpPr txBox="1"/>
            <p:nvPr/>
          </p:nvSpPr>
          <p:spPr>
            <a:xfrm>
              <a:off x="5218429" y="3961293"/>
              <a:ext cx="14306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與假設不符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0" name="Google Shape;260;p23"/>
          <p:cNvGrpSpPr/>
          <p:nvPr/>
        </p:nvGrpSpPr>
        <p:grpSpPr>
          <a:xfrm>
            <a:off x="1106169" y="1435205"/>
            <a:ext cx="9979659" cy="559549"/>
            <a:chOff x="1038860" y="2061829"/>
            <a:chExt cx="9979659" cy="559549"/>
          </a:xfrm>
        </p:grpSpPr>
        <p:sp>
          <p:nvSpPr>
            <p:cNvPr id="261" name="Google Shape;261;p23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chemeClr val="accent6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3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3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chemeClr val="accent1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3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3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3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" name="Google Shape;268;p23"/>
          <p:cNvGrpSpPr/>
          <p:nvPr/>
        </p:nvGrpSpPr>
        <p:grpSpPr>
          <a:xfrm>
            <a:off x="917252" y="4026075"/>
            <a:ext cx="10691873" cy="1876770"/>
            <a:chOff x="944017" y="3726779"/>
            <a:chExt cx="10159514" cy="1876770"/>
          </a:xfrm>
        </p:grpSpPr>
        <p:sp>
          <p:nvSpPr>
            <p:cNvPr id="269" name="Google Shape;269;p23"/>
            <p:cNvSpPr txBox="1"/>
            <p:nvPr/>
          </p:nvSpPr>
          <p:spPr>
            <a:xfrm>
              <a:off x="944017" y="3726779"/>
              <a:ext cx="18465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accent6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確定運動可以改善肥胖</a:t>
              </a:r>
              <a:endParaRPr sz="2000"/>
            </a:p>
          </p:txBody>
        </p:sp>
        <p:sp>
          <p:nvSpPr>
            <p:cNvPr id="270" name="Google Shape;270;p23"/>
            <p:cNvSpPr txBox="1"/>
            <p:nvPr/>
          </p:nvSpPr>
          <p:spPr>
            <a:xfrm>
              <a:off x="2117405" y="4587749"/>
              <a:ext cx="16350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accent6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何種運動改善肥胖效果最好？</a:t>
              </a:r>
              <a:endParaRPr sz="2000"/>
            </a:p>
          </p:txBody>
        </p:sp>
        <p:sp>
          <p:nvSpPr>
            <p:cNvPr id="271" name="Google Shape;271;p23"/>
            <p:cNvSpPr txBox="1"/>
            <p:nvPr/>
          </p:nvSpPr>
          <p:spPr>
            <a:xfrm>
              <a:off x="4503235" y="4447295"/>
              <a:ext cx="16350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accen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讓受試者分別進行不同運動30天</a:t>
              </a:r>
              <a:endParaRPr sz="2000"/>
            </a:p>
          </p:txBody>
        </p:sp>
        <p:sp>
          <p:nvSpPr>
            <p:cNvPr id="272" name="Google Shape;272;p23"/>
            <p:cNvSpPr txBox="1"/>
            <p:nvPr/>
          </p:nvSpPr>
          <p:spPr>
            <a:xfrm>
              <a:off x="6811916" y="4401317"/>
              <a:ext cx="16350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分析從事不同運動的人BMI下降的比例</a:t>
              </a:r>
              <a:endParaRPr sz="2000"/>
            </a:p>
          </p:txBody>
        </p:sp>
        <p:sp>
          <p:nvSpPr>
            <p:cNvPr id="273" name="Google Shape;273;p23"/>
            <p:cNvSpPr/>
            <p:nvPr/>
          </p:nvSpPr>
          <p:spPr>
            <a:xfrm rot="5400000">
              <a:off x="1396738" y="4535111"/>
              <a:ext cx="612000" cy="288000"/>
            </a:xfrm>
            <a:prstGeom prst="bentUpArrow">
              <a:avLst>
                <a:gd name="adj1" fmla="val 25000"/>
                <a:gd name="adj2" fmla="val 25000"/>
                <a:gd name="adj3" fmla="val 25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3"/>
            <p:cNvSpPr/>
            <p:nvPr/>
          </p:nvSpPr>
          <p:spPr>
            <a:xfrm>
              <a:off x="3962400" y="4836160"/>
              <a:ext cx="453138" cy="14895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3"/>
            <p:cNvSpPr/>
            <p:nvPr/>
          </p:nvSpPr>
          <p:spPr>
            <a:xfrm>
              <a:off x="6241816" y="4825100"/>
              <a:ext cx="453138" cy="14895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3"/>
            <p:cNvSpPr txBox="1"/>
            <p:nvPr/>
          </p:nvSpPr>
          <p:spPr>
            <a:xfrm>
              <a:off x="9257031" y="4501933"/>
              <a:ext cx="18465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確認BMI下降最多的運動為何</a:t>
              </a:r>
              <a:endParaRPr sz="2000"/>
            </a:p>
          </p:txBody>
        </p:sp>
        <p:sp>
          <p:nvSpPr>
            <p:cNvPr id="277" name="Google Shape;277;p23"/>
            <p:cNvSpPr/>
            <p:nvPr/>
          </p:nvSpPr>
          <p:spPr>
            <a:xfrm>
              <a:off x="8588594" y="4825099"/>
              <a:ext cx="453138" cy="14895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8" name="Google Shape;278;p23"/>
          <p:cNvGrpSpPr/>
          <p:nvPr/>
        </p:nvGrpSpPr>
        <p:grpSpPr>
          <a:xfrm>
            <a:off x="917239" y="2403590"/>
            <a:ext cx="10856676" cy="1213624"/>
            <a:chOff x="1157368" y="4941814"/>
            <a:chExt cx="10856676" cy="1213624"/>
          </a:xfrm>
        </p:grpSpPr>
        <p:grpSp>
          <p:nvGrpSpPr>
            <p:cNvPr id="279" name="Google Shape;279;p23"/>
            <p:cNvGrpSpPr/>
            <p:nvPr/>
          </p:nvGrpSpPr>
          <p:grpSpPr>
            <a:xfrm>
              <a:off x="1157368" y="4941814"/>
              <a:ext cx="9233443" cy="1213624"/>
              <a:chOff x="289685" y="4899109"/>
              <a:chExt cx="9233443" cy="1213624"/>
            </a:xfrm>
          </p:grpSpPr>
          <p:sp>
            <p:nvSpPr>
              <p:cNvPr id="280" name="Google Shape;280;p23"/>
              <p:cNvSpPr txBox="1"/>
              <p:nvPr/>
            </p:nvSpPr>
            <p:spPr>
              <a:xfrm>
                <a:off x="1912953" y="5102795"/>
                <a:ext cx="1879530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6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運動是否可以改善肥胖？</a:t>
                </a:r>
                <a:endParaRPr/>
              </a:p>
            </p:txBody>
          </p:sp>
          <p:cxnSp>
            <p:nvCxnSpPr>
              <p:cNvPr id="281" name="Google Shape;281;p23"/>
              <p:cNvCxnSpPr/>
              <p:nvPr/>
            </p:nvCxnSpPr>
            <p:spPr>
              <a:xfrm>
                <a:off x="3761215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282" name="Google Shape;282;p23"/>
              <p:cNvSpPr txBox="1"/>
              <p:nvPr/>
            </p:nvSpPr>
            <p:spPr>
              <a:xfrm>
                <a:off x="4252259" y="4929027"/>
                <a:ext cx="1102027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運動可以改善肥胖</a:t>
                </a:r>
                <a:endParaRPr/>
              </a:p>
            </p:txBody>
          </p:sp>
          <p:cxnSp>
            <p:nvCxnSpPr>
              <p:cNvPr id="283" name="Google Shape;283;p23"/>
              <p:cNvCxnSpPr/>
              <p:nvPr/>
            </p:nvCxnSpPr>
            <p:spPr>
              <a:xfrm>
                <a:off x="5286039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284" name="Google Shape;284;p23"/>
              <p:cNvSpPr txBox="1"/>
              <p:nvPr/>
            </p:nvSpPr>
            <p:spPr>
              <a:xfrm>
                <a:off x="5814062" y="4899109"/>
                <a:ext cx="1978658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讓BMI大於25的人每天快走1小時，持續30天</a:t>
                </a:r>
                <a:endParaRPr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285" name="Google Shape;285;p23"/>
              <p:cNvCxnSpPr/>
              <p:nvPr/>
            </p:nvCxnSpPr>
            <p:spPr>
              <a:xfrm>
                <a:off x="7792720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286" name="Google Shape;286;p23"/>
              <p:cNvSpPr txBox="1"/>
              <p:nvPr/>
            </p:nvSpPr>
            <p:spPr>
              <a:xfrm>
                <a:off x="8252496" y="4995073"/>
                <a:ext cx="1270632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rgbClr val="FF0000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30天后測量BMI</a:t>
                </a:r>
                <a:endParaRPr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287" name="Google Shape;287;p23"/>
              <p:cNvSpPr txBox="1"/>
              <p:nvPr/>
            </p:nvSpPr>
            <p:spPr>
              <a:xfrm>
                <a:off x="289685" y="5096933"/>
                <a:ext cx="12585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6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體重過重的人幾乎不運動</a:t>
                </a:r>
                <a:endParaRPr sz="2000">
                  <a:solidFill>
                    <a:schemeClr val="accent6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cxnSp>
            <p:nvCxnSpPr>
              <p:cNvPr id="288" name="Google Shape;288;p23"/>
              <p:cNvCxnSpPr/>
              <p:nvPr/>
            </p:nvCxnSpPr>
            <p:spPr>
              <a:xfrm>
                <a:off x="1516953" y="540694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</p:grpSp>
        <p:cxnSp>
          <p:nvCxnSpPr>
            <p:cNvPr id="289" name="Google Shape;289;p23"/>
            <p:cNvCxnSpPr/>
            <p:nvPr/>
          </p:nvCxnSpPr>
          <p:spPr>
            <a:xfrm>
              <a:off x="10243848" y="5403479"/>
              <a:ext cx="396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90" name="Google Shape;290;p23"/>
            <p:cNvSpPr txBox="1"/>
            <p:nvPr/>
          </p:nvSpPr>
          <p:spPr>
            <a:xfrm>
              <a:off x="10743412" y="5203424"/>
              <a:ext cx="1270632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BMI下降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8" name="Google Shape;298;p24"/>
          <p:cNvGrpSpPr/>
          <p:nvPr/>
        </p:nvGrpSpPr>
        <p:grpSpPr>
          <a:xfrm>
            <a:off x="876599" y="4653666"/>
            <a:ext cx="10795269" cy="1399808"/>
            <a:chOff x="1157368" y="4895524"/>
            <a:chExt cx="10795269" cy="1399808"/>
          </a:xfrm>
        </p:grpSpPr>
        <p:grpSp>
          <p:nvGrpSpPr>
            <p:cNvPr id="299" name="Google Shape;299;p24"/>
            <p:cNvGrpSpPr/>
            <p:nvPr/>
          </p:nvGrpSpPr>
          <p:grpSpPr>
            <a:xfrm>
              <a:off x="1157368" y="4896428"/>
              <a:ext cx="9149236" cy="1398904"/>
              <a:chOff x="289685" y="4853723"/>
              <a:chExt cx="9149236" cy="1398904"/>
            </a:xfrm>
          </p:grpSpPr>
          <p:sp>
            <p:nvSpPr>
              <p:cNvPr id="300" name="Google Shape;300;p24"/>
              <p:cNvSpPr txBox="1"/>
              <p:nvPr/>
            </p:nvSpPr>
            <p:spPr>
              <a:xfrm>
                <a:off x="2024835" y="5052928"/>
                <a:ext cx="16245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油溫是否太高？</a:t>
                </a:r>
                <a:endParaRPr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301" name="Google Shape;301;p24"/>
              <p:cNvCxnSpPr/>
              <p:nvPr/>
            </p:nvCxnSpPr>
            <p:spPr>
              <a:xfrm>
                <a:off x="3761215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302" name="Google Shape;302;p24"/>
              <p:cNvSpPr txBox="1"/>
              <p:nvPr/>
            </p:nvSpPr>
            <p:spPr>
              <a:xfrm>
                <a:off x="4252259" y="4929027"/>
                <a:ext cx="1101900" cy="13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控制油溫低一些較不易焦黑</a:t>
                </a:r>
                <a:endParaRPr sz="2000">
                  <a:solidFill>
                    <a:schemeClr val="accen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cxnSp>
            <p:nvCxnSpPr>
              <p:cNvPr id="303" name="Google Shape;303;p24"/>
              <p:cNvCxnSpPr/>
              <p:nvPr/>
            </p:nvCxnSpPr>
            <p:spPr>
              <a:xfrm>
                <a:off x="5286039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304" name="Google Shape;304;p24"/>
              <p:cNvSpPr txBox="1"/>
              <p:nvPr/>
            </p:nvSpPr>
            <p:spPr>
              <a:xfrm>
                <a:off x="5814062" y="4899109"/>
                <a:ext cx="1978800" cy="13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炸鹹酥雞時，使用溫度計，分次以不同油溫炸90秒。</a:t>
                </a:r>
                <a:endParaRPr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305" name="Google Shape;305;p24"/>
              <p:cNvCxnSpPr/>
              <p:nvPr/>
            </p:nvCxnSpPr>
            <p:spPr>
              <a:xfrm>
                <a:off x="7792720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306" name="Google Shape;306;p24"/>
              <p:cNvSpPr txBox="1"/>
              <p:nvPr/>
            </p:nvSpPr>
            <p:spPr>
              <a:xfrm>
                <a:off x="8168421" y="4853723"/>
                <a:ext cx="1270500" cy="13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rgbClr val="FF0000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分析以不同油溫油炸的結果是否焦黑</a:t>
                </a:r>
                <a:endParaRPr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307" name="Google Shape;307;p24"/>
              <p:cNvSpPr txBox="1"/>
              <p:nvPr/>
            </p:nvSpPr>
            <p:spPr>
              <a:xfrm>
                <a:off x="289685" y="4899033"/>
                <a:ext cx="12585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6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為何炸鹹酥雞老是焦黑失敗</a:t>
                </a:r>
                <a:endParaRPr/>
              </a:p>
            </p:txBody>
          </p:sp>
          <p:cxnSp>
            <p:nvCxnSpPr>
              <p:cNvPr id="308" name="Google Shape;308;p24"/>
              <p:cNvCxnSpPr/>
              <p:nvPr/>
            </p:nvCxnSpPr>
            <p:spPr>
              <a:xfrm>
                <a:off x="1516953" y="540694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</p:grpSp>
        <p:cxnSp>
          <p:nvCxnSpPr>
            <p:cNvPr id="309" name="Google Shape;309;p24"/>
            <p:cNvCxnSpPr/>
            <p:nvPr/>
          </p:nvCxnSpPr>
          <p:spPr>
            <a:xfrm>
              <a:off x="10243848" y="5403479"/>
              <a:ext cx="396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10" name="Google Shape;310;p24"/>
            <p:cNvSpPr txBox="1"/>
            <p:nvPr/>
          </p:nvSpPr>
          <p:spPr>
            <a:xfrm>
              <a:off x="10682137" y="4895524"/>
              <a:ext cx="1270500" cy="132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油溫較低時，焦黑失敗的問題改善。</a:t>
              </a:r>
              <a:endParaRPr>
                <a:solidFill>
                  <a:srgbClr val="FF0000"/>
                </a:solidFill>
              </a:endParaRPr>
            </a:p>
          </p:txBody>
        </p:sp>
      </p:grpSp>
      <p:grpSp>
        <p:nvGrpSpPr>
          <p:cNvPr id="311" name="Google Shape;311;p24"/>
          <p:cNvGrpSpPr/>
          <p:nvPr/>
        </p:nvGrpSpPr>
        <p:grpSpPr>
          <a:xfrm>
            <a:off x="1106169" y="1435205"/>
            <a:ext cx="9979778" cy="559529"/>
            <a:chOff x="1038860" y="2061829"/>
            <a:chExt cx="9979778" cy="559529"/>
          </a:xfrm>
        </p:grpSpPr>
        <p:sp>
          <p:nvSpPr>
            <p:cNvPr id="312" name="Google Shape;312;p24"/>
            <p:cNvSpPr txBox="1"/>
            <p:nvPr/>
          </p:nvSpPr>
          <p:spPr>
            <a:xfrm>
              <a:off x="1038860" y="2098158"/>
              <a:ext cx="1828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chemeClr val="accent6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4"/>
            <p:cNvSpPr txBox="1"/>
            <p:nvPr/>
          </p:nvSpPr>
          <p:spPr>
            <a:xfrm>
              <a:off x="9006838" y="2098158"/>
              <a:ext cx="2011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4"/>
            <p:cNvSpPr txBox="1"/>
            <p:nvPr/>
          </p:nvSpPr>
          <p:spPr>
            <a:xfrm>
              <a:off x="3362960" y="2098158"/>
              <a:ext cx="210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chemeClr val="accent1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4"/>
            <p:cNvSpPr txBox="1"/>
            <p:nvPr/>
          </p:nvSpPr>
          <p:spPr>
            <a:xfrm>
              <a:off x="6184899" y="2061829"/>
              <a:ext cx="210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316" name="Google Shape;316;p24"/>
            <p:cNvSpPr/>
            <p:nvPr/>
          </p:nvSpPr>
          <p:spPr>
            <a:xfrm>
              <a:off x="2691130" y="2228963"/>
              <a:ext cx="647700" cy="261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4"/>
            <p:cNvSpPr/>
            <p:nvPr/>
          </p:nvSpPr>
          <p:spPr>
            <a:xfrm>
              <a:off x="5448300" y="2250656"/>
              <a:ext cx="647700" cy="261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4"/>
            <p:cNvSpPr/>
            <p:nvPr/>
          </p:nvSpPr>
          <p:spPr>
            <a:xfrm>
              <a:off x="8201660" y="2228963"/>
              <a:ext cx="647700" cy="261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9" name="Google Shape;319;p24"/>
          <p:cNvGrpSpPr/>
          <p:nvPr/>
        </p:nvGrpSpPr>
        <p:grpSpPr>
          <a:xfrm>
            <a:off x="1909424" y="2253529"/>
            <a:ext cx="8226315" cy="2142251"/>
            <a:chOff x="1038859" y="2188342"/>
            <a:chExt cx="8226315" cy="2142251"/>
          </a:xfrm>
        </p:grpSpPr>
        <p:sp>
          <p:nvSpPr>
            <p:cNvPr id="320" name="Google Shape;320;p24"/>
            <p:cNvSpPr txBox="1"/>
            <p:nvPr/>
          </p:nvSpPr>
          <p:spPr>
            <a:xfrm>
              <a:off x="1038859" y="2866918"/>
              <a:ext cx="7405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 </a:t>
              </a:r>
              <a:r>
                <a:rPr lang="zh-TW" sz="2400" b="0" i="0">
                  <a:solidFill>
                    <a:schemeClr val="accent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觀察→提出問題</a:t>
              </a: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 </a:t>
              </a: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形成假設</a:t>
              </a: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</a:t>
              </a: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實驗</a:t>
              </a:r>
              <a:r>
                <a:rPr lang="zh-TW" sz="2400" b="0" i="0">
                  <a:solidFill>
                    <a:srgbClr val="FF000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→分析→結論</a:t>
              </a:r>
              <a:endParaRPr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4"/>
            <p:cNvSpPr/>
            <p:nvPr/>
          </p:nvSpPr>
          <p:spPr>
            <a:xfrm flipH="1">
              <a:off x="4178875" y="3373770"/>
              <a:ext cx="3243900" cy="4791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4"/>
            <p:cNvSpPr/>
            <p:nvPr/>
          </p:nvSpPr>
          <p:spPr>
            <a:xfrm rot="8984946" flipH="1">
              <a:off x="3881609" y="2393312"/>
              <a:ext cx="893234" cy="29416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4"/>
            <p:cNvSpPr txBox="1"/>
            <p:nvPr/>
          </p:nvSpPr>
          <p:spPr>
            <a:xfrm>
              <a:off x="4788274" y="2238338"/>
              <a:ext cx="4476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提出新假設</a:t>
              </a: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</a:t>
              </a: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實驗</a:t>
              </a:r>
              <a:r>
                <a:rPr lang="zh-TW" sz="2400" b="0" i="0">
                  <a:solidFill>
                    <a:srgbClr val="FF000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→分析→結論</a:t>
              </a:r>
              <a:endParaRPr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4"/>
            <p:cNvSpPr txBox="1"/>
            <p:nvPr/>
          </p:nvSpPr>
          <p:spPr>
            <a:xfrm>
              <a:off x="5218429" y="3961293"/>
              <a:ext cx="1430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與假設不符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5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31" name="Google Shape;331;p25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2" name="Google Shape;332;p25"/>
          <p:cNvGrpSpPr/>
          <p:nvPr/>
        </p:nvGrpSpPr>
        <p:grpSpPr>
          <a:xfrm>
            <a:off x="1106169" y="1435205"/>
            <a:ext cx="9979778" cy="559529"/>
            <a:chOff x="1038860" y="2061829"/>
            <a:chExt cx="9979778" cy="559529"/>
          </a:xfrm>
        </p:grpSpPr>
        <p:sp>
          <p:nvSpPr>
            <p:cNvPr id="333" name="Google Shape;333;p25"/>
            <p:cNvSpPr txBox="1"/>
            <p:nvPr/>
          </p:nvSpPr>
          <p:spPr>
            <a:xfrm>
              <a:off x="1038860" y="2098158"/>
              <a:ext cx="1828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chemeClr val="accent6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5"/>
            <p:cNvSpPr txBox="1"/>
            <p:nvPr/>
          </p:nvSpPr>
          <p:spPr>
            <a:xfrm>
              <a:off x="9006838" y="2098158"/>
              <a:ext cx="2011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5"/>
            <p:cNvSpPr txBox="1"/>
            <p:nvPr/>
          </p:nvSpPr>
          <p:spPr>
            <a:xfrm>
              <a:off x="3362960" y="2098158"/>
              <a:ext cx="210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chemeClr val="accent1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5"/>
            <p:cNvSpPr txBox="1"/>
            <p:nvPr/>
          </p:nvSpPr>
          <p:spPr>
            <a:xfrm>
              <a:off x="6184899" y="2061829"/>
              <a:ext cx="210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337" name="Google Shape;337;p25"/>
            <p:cNvSpPr/>
            <p:nvPr/>
          </p:nvSpPr>
          <p:spPr>
            <a:xfrm>
              <a:off x="2691130" y="2228963"/>
              <a:ext cx="647700" cy="261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5"/>
            <p:cNvSpPr/>
            <p:nvPr/>
          </p:nvSpPr>
          <p:spPr>
            <a:xfrm>
              <a:off x="5448300" y="2250656"/>
              <a:ext cx="647700" cy="261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5"/>
            <p:cNvSpPr/>
            <p:nvPr/>
          </p:nvSpPr>
          <p:spPr>
            <a:xfrm>
              <a:off x="8201660" y="2228963"/>
              <a:ext cx="647700" cy="261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0" name="Google Shape;340;p25"/>
          <p:cNvGrpSpPr/>
          <p:nvPr/>
        </p:nvGrpSpPr>
        <p:grpSpPr>
          <a:xfrm>
            <a:off x="926425" y="3912888"/>
            <a:ext cx="10159519" cy="1928113"/>
            <a:chOff x="944012" y="3687385"/>
            <a:chExt cx="10159519" cy="1928113"/>
          </a:xfrm>
        </p:grpSpPr>
        <p:sp>
          <p:nvSpPr>
            <p:cNvPr id="341" name="Google Shape;341;p25"/>
            <p:cNvSpPr txBox="1"/>
            <p:nvPr/>
          </p:nvSpPr>
          <p:spPr>
            <a:xfrm>
              <a:off x="944012" y="3687385"/>
              <a:ext cx="20904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accent6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確定油溫降低可以改善焦黑問題</a:t>
              </a:r>
              <a:endParaRPr sz="2000"/>
            </a:p>
          </p:txBody>
        </p:sp>
        <p:sp>
          <p:nvSpPr>
            <p:cNvPr id="342" name="Google Shape;342;p25"/>
            <p:cNvSpPr txBox="1"/>
            <p:nvPr/>
          </p:nvSpPr>
          <p:spPr>
            <a:xfrm>
              <a:off x="2117413" y="4587747"/>
              <a:ext cx="18465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accent6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油炸結果最佳的油溫下，炸多久最適合?</a:t>
              </a:r>
              <a:endParaRPr sz="2000"/>
            </a:p>
          </p:txBody>
        </p:sp>
        <p:sp>
          <p:nvSpPr>
            <p:cNvPr id="343" name="Google Shape;343;p25"/>
            <p:cNvSpPr txBox="1"/>
            <p:nvPr/>
          </p:nvSpPr>
          <p:spPr>
            <a:xfrm>
              <a:off x="4456103" y="4599697"/>
              <a:ext cx="17385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accen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以該油溫炸鹹酥雞，改變油炸時長。</a:t>
              </a:r>
              <a:endParaRPr sz="2000"/>
            </a:p>
          </p:txBody>
        </p:sp>
        <p:sp>
          <p:nvSpPr>
            <p:cNvPr id="344" name="Google Shape;344;p25"/>
            <p:cNvSpPr txBox="1"/>
            <p:nvPr/>
          </p:nvSpPr>
          <p:spPr>
            <a:xfrm>
              <a:off x="6811912" y="4629922"/>
              <a:ext cx="17385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分析不同時長的油炸結果</a:t>
              </a:r>
              <a:endParaRPr sz="2000"/>
            </a:p>
          </p:txBody>
        </p:sp>
        <p:sp>
          <p:nvSpPr>
            <p:cNvPr id="345" name="Google Shape;345;p25"/>
            <p:cNvSpPr/>
            <p:nvPr/>
          </p:nvSpPr>
          <p:spPr>
            <a:xfrm rot="5400000">
              <a:off x="1384963" y="4749761"/>
              <a:ext cx="612000" cy="288000"/>
            </a:xfrm>
            <a:prstGeom prst="bentUpArrow">
              <a:avLst>
                <a:gd name="adj1" fmla="val 25000"/>
                <a:gd name="adj2" fmla="val 25000"/>
                <a:gd name="adj3" fmla="val 25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5"/>
            <p:cNvSpPr/>
            <p:nvPr/>
          </p:nvSpPr>
          <p:spPr>
            <a:xfrm>
              <a:off x="3962400" y="4836160"/>
              <a:ext cx="453000" cy="1491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5"/>
            <p:cNvSpPr/>
            <p:nvPr/>
          </p:nvSpPr>
          <p:spPr>
            <a:xfrm>
              <a:off x="6241816" y="4825100"/>
              <a:ext cx="453000" cy="1491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25"/>
            <p:cNvSpPr txBox="1"/>
            <p:nvPr/>
          </p:nvSpPr>
          <p:spPr>
            <a:xfrm>
              <a:off x="9257031" y="4578133"/>
              <a:ext cx="18465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確認最佳油炸時長為何</a:t>
              </a:r>
              <a:endParaRPr sz="2000"/>
            </a:p>
          </p:txBody>
        </p:sp>
        <p:sp>
          <p:nvSpPr>
            <p:cNvPr id="349" name="Google Shape;349;p25"/>
            <p:cNvSpPr/>
            <p:nvPr/>
          </p:nvSpPr>
          <p:spPr>
            <a:xfrm>
              <a:off x="8588594" y="4825099"/>
              <a:ext cx="453000" cy="1491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" name="Google Shape;350;p25"/>
          <p:cNvGrpSpPr/>
          <p:nvPr/>
        </p:nvGrpSpPr>
        <p:grpSpPr>
          <a:xfrm>
            <a:off x="838199" y="2226453"/>
            <a:ext cx="10795269" cy="1399808"/>
            <a:chOff x="1157368" y="4895524"/>
            <a:chExt cx="10795269" cy="1399808"/>
          </a:xfrm>
        </p:grpSpPr>
        <p:grpSp>
          <p:nvGrpSpPr>
            <p:cNvPr id="351" name="Google Shape;351;p25"/>
            <p:cNvGrpSpPr/>
            <p:nvPr/>
          </p:nvGrpSpPr>
          <p:grpSpPr>
            <a:xfrm>
              <a:off x="1157368" y="4896428"/>
              <a:ext cx="9149236" cy="1398904"/>
              <a:chOff x="289685" y="4853723"/>
              <a:chExt cx="9149236" cy="1398904"/>
            </a:xfrm>
          </p:grpSpPr>
          <p:sp>
            <p:nvSpPr>
              <p:cNvPr id="352" name="Google Shape;352;p25"/>
              <p:cNvSpPr txBox="1"/>
              <p:nvPr/>
            </p:nvSpPr>
            <p:spPr>
              <a:xfrm>
                <a:off x="1912953" y="5102795"/>
                <a:ext cx="18795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油溫是否太高？</a:t>
                </a:r>
                <a:endParaRPr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353" name="Google Shape;353;p25"/>
              <p:cNvCxnSpPr/>
              <p:nvPr/>
            </p:nvCxnSpPr>
            <p:spPr>
              <a:xfrm>
                <a:off x="3761215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354" name="Google Shape;354;p25"/>
              <p:cNvSpPr txBox="1"/>
              <p:nvPr/>
            </p:nvSpPr>
            <p:spPr>
              <a:xfrm>
                <a:off x="4252259" y="4929027"/>
                <a:ext cx="1101900" cy="13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控制油溫低一些較不易焦黑</a:t>
                </a:r>
                <a:endParaRPr sz="2000">
                  <a:solidFill>
                    <a:schemeClr val="accen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cxnSp>
            <p:nvCxnSpPr>
              <p:cNvPr id="355" name="Google Shape;355;p25"/>
              <p:cNvCxnSpPr/>
              <p:nvPr/>
            </p:nvCxnSpPr>
            <p:spPr>
              <a:xfrm>
                <a:off x="5286039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356" name="Google Shape;356;p25"/>
              <p:cNvSpPr txBox="1"/>
              <p:nvPr/>
            </p:nvSpPr>
            <p:spPr>
              <a:xfrm>
                <a:off x="5814062" y="4899109"/>
                <a:ext cx="1978800" cy="13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炸鹹酥雞時，使用溫度計，分次以不同油溫炸90秒。</a:t>
                </a:r>
                <a:endParaRPr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357" name="Google Shape;357;p25"/>
              <p:cNvCxnSpPr/>
              <p:nvPr/>
            </p:nvCxnSpPr>
            <p:spPr>
              <a:xfrm>
                <a:off x="7792720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358" name="Google Shape;358;p25"/>
              <p:cNvSpPr txBox="1"/>
              <p:nvPr/>
            </p:nvSpPr>
            <p:spPr>
              <a:xfrm>
                <a:off x="8168421" y="4853723"/>
                <a:ext cx="1270500" cy="13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rgbClr val="FF0000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分析以不同油溫油炸的結果是否焦黑</a:t>
                </a:r>
                <a:endParaRPr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359" name="Google Shape;359;p25"/>
              <p:cNvSpPr txBox="1"/>
              <p:nvPr/>
            </p:nvSpPr>
            <p:spPr>
              <a:xfrm>
                <a:off x="289685" y="5096933"/>
                <a:ext cx="12585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6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為何炸鹹酥雞老是焦黑失敗</a:t>
                </a:r>
                <a:endParaRPr/>
              </a:p>
            </p:txBody>
          </p:sp>
          <p:cxnSp>
            <p:nvCxnSpPr>
              <p:cNvPr id="360" name="Google Shape;360;p25"/>
              <p:cNvCxnSpPr/>
              <p:nvPr/>
            </p:nvCxnSpPr>
            <p:spPr>
              <a:xfrm>
                <a:off x="1516953" y="540694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</p:grpSp>
        <p:cxnSp>
          <p:nvCxnSpPr>
            <p:cNvPr id="361" name="Google Shape;361;p25"/>
            <p:cNvCxnSpPr/>
            <p:nvPr/>
          </p:nvCxnSpPr>
          <p:spPr>
            <a:xfrm>
              <a:off x="10243848" y="5403479"/>
              <a:ext cx="396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62" name="Google Shape;362;p25"/>
            <p:cNvSpPr txBox="1"/>
            <p:nvPr/>
          </p:nvSpPr>
          <p:spPr>
            <a:xfrm>
              <a:off x="10682137" y="4895524"/>
              <a:ext cx="1270500" cy="132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油溫較低時，焦黑失敗的問題改善。</a:t>
              </a:r>
              <a:endParaRPr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69" name="Google Shape;369;p26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26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1" name="Google Shape;371;p26"/>
          <p:cNvGrpSpPr/>
          <p:nvPr/>
        </p:nvGrpSpPr>
        <p:grpSpPr>
          <a:xfrm>
            <a:off x="1106169" y="1304400"/>
            <a:ext cx="9979659" cy="559549"/>
            <a:chOff x="1038860" y="2061829"/>
            <a:chExt cx="9979659" cy="559549"/>
          </a:xfrm>
        </p:grpSpPr>
        <p:sp>
          <p:nvSpPr>
            <p:cNvPr id="372" name="Google Shape;372;p26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6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6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FF0000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6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376" name="Google Shape;376;p26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6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6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9" name="Google Shape;379;p26"/>
          <p:cNvSpPr txBox="1"/>
          <p:nvPr/>
        </p:nvSpPr>
        <p:spPr>
          <a:xfrm>
            <a:off x="976575" y="2940250"/>
            <a:ext cx="109011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zh-TW" sz="3000" i="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「操作(縱)</a:t>
            </a:r>
            <a:r>
              <a:rPr lang="zh-TW" sz="3000" i="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變因</a:t>
            </a:r>
            <a:r>
              <a:rPr lang="zh-TW" sz="3000" i="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」：進行實驗操作時，只能改變一項的</a:t>
            </a:r>
            <a:r>
              <a:rPr lang="zh-TW" sz="3000" i="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變因</a:t>
            </a:r>
            <a:r>
              <a:rPr lang="zh-TW" sz="3000" i="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zh-TW" sz="3000" i="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「控制</a:t>
            </a:r>
            <a:r>
              <a:rPr lang="zh-TW" sz="3000" i="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變因</a:t>
            </a:r>
            <a:r>
              <a:rPr lang="zh-TW" sz="3000" i="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」：實驗中除了操作(縱)</a:t>
            </a:r>
            <a:r>
              <a:rPr lang="zh-TW" sz="3000" i="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變因</a:t>
            </a:r>
            <a:r>
              <a:rPr lang="zh-TW" sz="3000" i="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外，其餘</a:t>
            </a:r>
            <a:r>
              <a:rPr lang="zh-TW" sz="3000" i="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變因</a:t>
            </a:r>
            <a:r>
              <a:rPr lang="zh-TW" sz="3000" i="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都保持不變，避免影響實驗。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zh-TW" sz="3000" i="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「應變</a:t>
            </a:r>
            <a:r>
              <a:rPr lang="zh-TW" sz="3000" i="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變因</a:t>
            </a:r>
            <a:r>
              <a:rPr lang="zh-TW" sz="3000" i="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」：實驗中隨操作(縱)</a:t>
            </a:r>
            <a:r>
              <a:rPr lang="zh-TW" sz="3000" i="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變因</a:t>
            </a:r>
            <a:r>
              <a:rPr lang="zh-TW" sz="3000" i="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改變後，實驗「結果」也隨之改變的</a:t>
            </a:r>
            <a:r>
              <a:rPr lang="zh-TW" sz="3000" i="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變因</a:t>
            </a:r>
            <a:r>
              <a:rPr lang="zh-TW" sz="3000" i="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6"/>
          <p:cNvSpPr txBox="1"/>
          <p:nvPr/>
        </p:nvSpPr>
        <p:spPr>
          <a:xfrm>
            <a:off x="838199" y="2243768"/>
            <a:ext cx="310006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 b="1">
                <a:solidFill>
                  <a:srgbClr val="262626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實驗中的變因</a:t>
            </a:r>
            <a:endParaRPr sz="3200">
              <a:solidFill>
                <a:srgbClr val="262626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7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7" name="Google Shape;387;p27"/>
          <p:cNvSpPr txBox="1"/>
          <p:nvPr/>
        </p:nvSpPr>
        <p:spPr>
          <a:xfrm>
            <a:off x="414000" y="2503325"/>
            <a:ext cx="26616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54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500">
                <a:solidFill>
                  <a:schemeClr val="accent6"/>
                </a:solidFill>
                <a:latin typeface="DFKai-SB"/>
                <a:ea typeface="DFKai-SB"/>
                <a:cs typeface="DFKai-SB"/>
                <a:sym typeface="DFKai-SB"/>
              </a:rPr>
              <a:t>市場痛點分析、投資標的發掘 </a:t>
            </a:r>
            <a:endParaRPr sz="2500">
              <a:solidFill>
                <a:schemeClr val="accent6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388" name="Google Shape;388;p27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9" name="Google Shape;389;p27"/>
          <p:cNvGrpSpPr/>
          <p:nvPr/>
        </p:nvGrpSpPr>
        <p:grpSpPr>
          <a:xfrm>
            <a:off x="1106169" y="1304400"/>
            <a:ext cx="9979778" cy="559529"/>
            <a:chOff x="1038860" y="2061829"/>
            <a:chExt cx="9979778" cy="559529"/>
          </a:xfrm>
        </p:grpSpPr>
        <p:sp>
          <p:nvSpPr>
            <p:cNvPr id="390" name="Google Shape;390;p27"/>
            <p:cNvSpPr txBox="1"/>
            <p:nvPr/>
          </p:nvSpPr>
          <p:spPr>
            <a:xfrm>
              <a:off x="1038860" y="2098158"/>
              <a:ext cx="1828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chemeClr val="accent6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27"/>
            <p:cNvSpPr txBox="1"/>
            <p:nvPr/>
          </p:nvSpPr>
          <p:spPr>
            <a:xfrm>
              <a:off x="9006838" y="2098158"/>
              <a:ext cx="2011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7"/>
            <p:cNvSpPr txBox="1"/>
            <p:nvPr/>
          </p:nvSpPr>
          <p:spPr>
            <a:xfrm>
              <a:off x="3362960" y="2098158"/>
              <a:ext cx="210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6D9EEB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27"/>
            <p:cNvSpPr txBox="1"/>
            <p:nvPr/>
          </p:nvSpPr>
          <p:spPr>
            <a:xfrm>
              <a:off x="6184899" y="2061829"/>
              <a:ext cx="210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394" name="Google Shape;394;p27"/>
            <p:cNvSpPr/>
            <p:nvPr/>
          </p:nvSpPr>
          <p:spPr>
            <a:xfrm>
              <a:off x="2691130" y="2228963"/>
              <a:ext cx="647700" cy="261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7"/>
            <p:cNvSpPr/>
            <p:nvPr/>
          </p:nvSpPr>
          <p:spPr>
            <a:xfrm>
              <a:off x="5448300" y="2250656"/>
              <a:ext cx="647700" cy="261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7"/>
            <p:cNvSpPr/>
            <p:nvPr/>
          </p:nvSpPr>
          <p:spPr>
            <a:xfrm>
              <a:off x="8201660" y="2228963"/>
              <a:ext cx="647700" cy="261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7" name="Google Shape;397;p27"/>
          <p:cNvSpPr txBox="1"/>
          <p:nvPr/>
        </p:nvSpPr>
        <p:spPr>
          <a:xfrm>
            <a:off x="3358300" y="2336525"/>
            <a:ext cx="25041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solidFill>
                  <a:srgbClr val="6D9EEB"/>
                </a:solidFill>
                <a:latin typeface="DFKai-SB"/>
                <a:ea typeface="DFKai-SB"/>
                <a:cs typeface="DFKai-SB"/>
                <a:sym typeface="DFKai-SB"/>
              </a:rPr>
              <a:t>商業模式驗證、市場 A/B 測試 </a:t>
            </a:r>
            <a:endParaRPr sz="2500">
              <a:solidFill>
                <a:srgbClr val="6D9EEB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398" name="Google Shape;398;p27"/>
          <p:cNvSpPr txBox="1"/>
          <p:nvPr/>
        </p:nvSpPr>
        <p:spPr>
          <a:xfrm>
            <a:off x="6145100" y="2442575"/>
            <a:ext cx="3000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solidFill>
                  <a:srgbClr val="FF0000"/>
                </a:solidFill>
                <a:latin typeface="DFKai-SB"/>
                <a:ea typeface="DFKai-SB"/>
                <a:cs typeface="DFKai-SB"/>
                <a:sym typeface="DFKai-SB"/>
              </a:rPr>
              <a:t>數據分析、財務預測與避險模型 </a:t>
            </a:r>
            <a:endParaRPr sz="2500">
              <a:solidFill>
                <a:srgbClr val="FF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399" name="Google Shape;399;p27"/>
          <p:cNvSpPr txBox="1"/>
          <p:nvPr/>
        </p:nvSpPr>
        <p:spPr>
          <a:xfrm>
            <a:off x="9298050" y="2395425"/>
            <a:ext cx="22734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DFKai-SB"/>
                <a:ea typeface="DFKai-SB"/>
                <a:cs typeface="DFKai-SB"/>
                <a:sym typeface="DFKai-SB"/>
              </a:rPr>
              <a:t>商業簡報、投資報告撰寫 </a:t>
            </a:r>
            <a:endParaRPr sz="250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400" name="Google Shape;400;p27"/>
          <p:cNvSpPr txBox="1"/>
          <p:nvPr/>
        </p:nvSpPr>
        <p:spPr>
          <a:xfrm>
            <a:off x="530225" y="3645600"/>
            <a:ext cx="2661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6"/>
                </a:solidFill>
                <a:latin typeface="DFKai-SB"/>
                <a:ea typeface="DFKai-SB"/>
                <a:cs typeface="DFKai-SB"/>
                <a:sym typeface="DFKai-SB"/>
              </a:rPr>
              <a:t>從日常現象或雜亂數據中，找出具備商業價值或值得投資的異常狀況（例如：特定產品銷量為何突然變化）。 </a:t>
            </a:r>
            <a:endParaRPr sz="2000">
              <a:solidFill>
                <a:schemeClr val="accent6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401" name="Google Shape;401;p27"/>
          <p:cNvSpPr txBox="1"/>
          <p:nvPr/>
        </p:nvSpPr>
        <p:spPr>
          <a:xfrm>
            <a:off x="3242825" y="3645600"/>
            <a:ext cx="27867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rgbClr val="6D9EEB"/>
                </a:solidFill>
                <a:latin typeface="DFKai-SB"/>
                <a:ea typeface="DFKai-SB"/>
                <a:cs typeface="DFKai-SB"/>
                <a:sym typeface="DFKai-SB"/>
              </a:rPr>
              <a:t>學習如何設定「控制變因」與「操縱變因」。在行銷上即是區分對照組與實驗組，確保數據的差異真正來自特定商業策略。 </a:t>
            </a:r>
            <a:endParaRPr sz="2000">
              <a:solidFill>
                <a:srgbClr val="6D9EEB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402" name="Google Shape;402;p27"/>
          <p:cNvSpPr txBox="1"/>
          <p:nvPr/>
        </p:nvSpPr>
        <p:spPr>
          <a:xfrm>
            <a:off x="6221713" y="3645600"/>
            <a:ext cx="26616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rgbClr val="FF0000"/>
                </a:solidFill>
                <a:latin typeface="DFKai-SB"/>
                <a:ea typeface="DFKai-SB"/>
                <a:cs typeface="DFKai-SB"/>
                <a:sym typeface="DFKai-SB"/>
              </a:rPr>
              <a:t>運用數A的量化優勢，判讀圖表背後的相關性與因果關係，避免「偽相關」導致錯誤的投資或政策判斷。 </a:t>
            </a:r>
            <a:endParaRPr sz="2000">
              <a:solidFill>
                <a:srgbClr val="FF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403" name="Google Shape;403;p27"/>
          <p:cNvSpPr txBox="1"/>
          <p:nvPr/>
        </p:nvSpPr>
        <p:spPr>
          <a:xfrm>
            <a:off x="9193350" y="3718975"/>
            <a:ext cx="26616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latin typeface="DFKai-SB"/>
                <a:ea typeface="DFKai-SB"/>
                <a:cs typeface="DFKai-SB"/>
                <a:sym typeface="DFKai-SB"/>
              </a:rPr>
              <a:t>將複雜的數據與實驗結果，轉化為投資人或非技術背景的高階主管能聽懂的圖表與決策建議。 </a:t>
            </a:r>
            <a:endParaRPr sz="2000"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8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任務二：</a:t>
            </a:r>
            <a:endParaRPr/>
          </a:p>
        </p:txBody>
      </p:sp>
      <p:sp>
        <p:nvSpPr>
          <p:cNvPr id="410" name="Google Shape;410;p28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8"/>
          <p:cNvSpPr txBox="1"/>
          <p:nvPr/>
        </p:nvSpPr>
        <p:spPr>
          <a:xfrm>
            <a:off x="1029261" y="5146000"/>
            <a:ext cx="10515600" cy="12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分別</a:t>
            </a:r>
            <a:r>
              <a:rPr lang="zh-TW" sz="2900" i="0" u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寫出該實驗中的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操縱</a:t>
            </a:r>
            <a:r>
              <a:rPr lang="zh-TW" sz="2900" i="0" u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變因，及應變變因，並與組員討論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設計</a:t>
            </a:r>
            <a:r>
              <a:rPr lang="zh-TW" sz="2900" i="0" u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一個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新的</a:t>
            </a:r>
            <a:r>
              <a:rPr lang="zh-TW" sz="2900" i="0" u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實驗例子，上台分享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，並上傳classroom</a:t>
            </a:r>
            <a:endParaRPr sz="2900" i="0" u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412" name="Google Shape;412;p28"/>
          <p:cNvGrpSpPr/>
          <p:nvPr/>
        </p:nvGrpSpPr>
        <p:grpSpPr>
          <a:xfrm>
            <a:off x="838199" y="1236741"/>
            <a:ext cx="10897736" cy="1963001"/>
            <a:chOff x="363940" y="2307555"/>
            <a:chExt cx="10897736" cy="2133928"/>
          </a:xfrm>
        </p:grpSpPr>
        <p:grpSp>
          <p:nvGrpSpPr>
            <p:cNvPr id="413" name="Google Shape;413;p28"/>
            <p:cNvGrpSpPr/>
            <p:nvPr/>
          </p:nvGrpSpPr>
          <p:grpSpPr>
            <a:xfrm>
              <a:off x="363940" y="2307555"/>
              <a:ext cx="10897736" cy="2133928"/>
              <a:chOff x="267064" y="4369164"/>
              <a:chExt cx="10897736" cy="2133928"/>
            </a:xfrm>
          </p:grpSpPr>
          <p:sp>
            <p:nvSpPr>
              <p:cNvPr id="414" name="Google Shape;414;p28"/>
              <p:cNvSpPr txBox="1"/>
              <p:nvPr/>
            </p:nvSpPr>
            <p:spPr>
              <a:xfrm>
                <a:off x="267064" y="4403083"/>
                <a:ext cx="1476300" cy="13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確定運動可以改善肥胖</a:t>
                </a:r>
                <a:endParaRPr/>
              </a:p>
            </p:txBody>
          </p:sp>
          <p:sp>
            <p:nvSpPr>
              <p:cNvPr id="415" name="Google Shape;415;p28"/>
              <p:cNvSpPr txBox="1"/>
              <p:nvPr/>
            </p:nvSpPr>
            <p:spPr>
              <a:xfrm>
                <a:off x="2157599" y="4403083"/>
                <a:ext cx="1635000" cy="17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何種運動改善肥胖效果最好？</a:t>
                </a:r>
                <a:endParaRPr/>
              </a:p>
            </p:txBody>
          </p:sp>
          <p:sp>
            <p:nvSpPr>
              <p:cNvPr id="416" name="Google Shape;416;p28"/>
              <p:cNvSpPr txBox="1"/>
              <p:nvPr/>
            </p:nvSpPr>
            <p:spPr>
              <a:xfrm>
                <a:off x="4404641" y="4369164"/>
                <a:ext cx="1635000" cy="17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讓受試者分別進行不同運動30天</a:t>
                </a:r>
                <a:endParaRPr/>
              </a:p>
            </p:txBody>
          </p:sp>
          <p:sp>
            <p:nvSpPr>
              <p:cNvPr id="417" name="Google Shape;417;p28"/>
              <p:cNvSpPr txBox="1"/>
              <p:nvPr/>
            </p:nvSpPr>
            <p:spPr>
              <a:xfrm>
                <a:off x="6397040" y="4394692"/>
                <a:ext cx="2195100" cy="210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分析從事不同運動(跑步、重訓、打籃球)的人BMI下降的比例</a:t>
                </a:r>
                <a:endParaRPr/>
              </a:p>
            </p:txBody>
          </p:sp>
          <p:sp>
            <p:nvSpPr>
              <p:cNvPr id="418" name="Google Shape;418;p28"/>
              <p:cNvSpPr/>
              <p:nvPr/>
            </p:nvSpPr>
            <p:spPr>
              <a:xfrm>
                <a:off x="3781456" y="4825099"/>
                <a:ext cx="453138" cy="148951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28"/>
              <p:cNvSpPr/>
              <p:nvPr/>
            </p:nvSpPr>
            <p:spPr>
              <a:xfrm>
                <a:off x="5892219" y="4825098"/>
                <a:ext cx="453138" cy="148951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28"/>
              <p:cNvSpPr txBox="1"/>
              <p:nvPr/>
            </p:nvSpPr>
            <p:spPr>
              <a:xfrm>
                <a:off x="9318300" y="4570013"/>
                <a:ext cx="1846500" cy="13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確認BMI下降最多的運動為何</a:t>
                </a:r>
                <a:endParaRPr/>
              </a:p>
            </p:txBody>
          </p:sp>
          <p:sp>
            <p:nvSpPr>
              <p:cNvPr id="421" name="Google Shape;421;p28"/>
              <p:cNvSpPr/>
              <p:nvPr/>
            </p:nvSpPr>
            <p:spPr>
              <a:xfrm>
                <a:off x="8700904" y="4899535"/>
                <a:ext cx="453000" cy="149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2" name="Google Shape;422;p28"/>
            <p:cNvSpPr/>
            <p:nvPr/>
          </p:nvSpPr>
          <p:spPr>
            <a:xfrm>
              <a:off x="1812607" y="2804568"/>
              <a:ext cx="453138" cy="14895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3" name="Google Shape;423;p28"/>
          <p:cNvGrpSpPr/>
          <p:nvPr/>
        </p:nvGrpSpPr>
        <p:grpSpPr>
          <a:xfrm>
            <a:off x="838199" y="3217941"/>
            <a:ext cx="10467686" cy="2339967"/>
            <a:chOff x="363940" y="2307555"/>
            <a:chExt cx="10467686" cy="2543719"/>
          </a:xfrm>
        </p:grpSpPr>
        <p:grpSp>
          <p:nvGrpSpPr>
            <p:cNvPr id="424" name="Google Shape;424;p28"/>
            <p:cNvGrpSpPr/>
            <p:nvPr/>
          </p:nvGrpSpPr>
          <p:grpSpPr>
            <a:xfrm>
              <a:off x="363940" y="2307555"/>
              <a:ext cx="10467686" cy="2543719"/>
              <a:chOff x="267064" y="4369164"/>
              <a:chExt cx="10467686" cy="2543719"/>
            </a:xfrm>
          </p:grpSpPr>
          <p:sp>
            <p:nvSpPr>
              <p:cNvPr id="425" name="Google Shape;425;p28"/>
              <p:cNvSpPr txBox="1"/>
              <p:nvPr/>
            </p:nvSpPr>
            <p:spPr>
              <a:xfrm>
                <a:off x="267064" y="4403083"/>
                <a:ext cx="1476300" cy="210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確定油溫降低可以改善焦黑問題</a:t>
                </a:r>
                <a:endParaRPr sz="200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26" name="Google Shape;426;p28"/>
              <p:cNvSpPr txBox="1"/>
              <p:nvPr/>
            </p:nvSpPr>
            <p:spPr>
              <a:xfrm>
                <a:off x="2157599" y="4403083"/>
                <a:ext cx="1635000" cy="250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油炸結果最佳的油溫下，炸多久最適合?</a:t>
                </a:r>
                <a:endParaRPr sz="240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27" name="Google Shape;427;p28"/>
              <p:cNvSpPr txBox="1"/>
              <p:nvPr/>
            </p:nvSpPr>
            <p:spPr>
              <a:xfrm>
                <a:off x="4404641" y="4369164"/>
                <a:ext cx="1635000" cy="17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以該油溫炸鹹酥雞，改變油炸時長</a:t>
                </a:r>
                <a:endParaRPr sz="2400">
                  <a:solidFill>
                    <a:schemeClr val="dk1"/>
                  </a:solidFill>
                </a:endParaRPr>
              </a:p>
            </p:txBody>
          </p:sp>
          <p:sp>
            <p:nvSpPr>
              <p:cNvPr id="428" name="Google Shape;428;p28"/>
              <p:cNvSpPr txBox="1"/>
              <p:nvPr/>
            </p:nvSpPr>
            <p:spPr>
              <a:xfrm>
                <a:off x="6397036" y="4394697"/>
                <a:ext cx="1776600" cy="17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分析不同時長的油炸結果</a:t>
                </a:r>
                <a:endParaRPr sz="240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29" name="Google Shape;429;p28"/>
              <p:cNvSpPr/>
              <p:nvPr/>
            </p:nvSpPr>
            <p:spPr>
              <a:xfrm>
                <a:off x="3781456" y="4825099"/>
                <a:ext cx="453000" cy="149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28"/>
              <p:cNvSpPr/>
              <p:nvPr/>
            </p:nvSpPr>
            <p:spPr>
              <a:xfrm>
                <a:off x="5892219" y="4825098"/>
                <a:ext cx="453000" cy="149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28"/>
              <p:cNvSpPr txBox="1"/>
              <p:nvPr/>
            </p:nvSpPr>
            <p:spPr>
              <a:xfrm>
                <a:off x="8888250" y="4447296"/>
                <a:ext cx="1846500" cy="13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確認最佳油炸時長為何</a:t>
                </a:r>
                <a:endParaRPr sz="240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32" name="Google Shape;432;p28"/>
              <p:cNvSpPr/>
              <p:nvPr/>
            </p:nvSpPr>
            <p:spPr>
              <a:xfrm>
                <a:off x="8331754" y="4825098"/>
                <a:ext cx="453000" cy="149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3" name="Google Shape;433;p28"/>
            <p:cNvSpPr/>
            <p:nvPr/>
          </p:nvSpPr>
          <p:spPr>
            <a:xfrm>
              <a:off x="1812607" y="2804568"/>
              <a:ext cx="453000" cy="1491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9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任務二：</a:t>
            </a:r>
            <a:endParaRPr/>
          </a:p>
        </p:txBody>
      </p:sp>
      <p:sp>
        <p:nvSpPr>
          <p:cNvPr id="440" name="Google Shape;440;p29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9"/>
          <p:cNvSpPr txBox="1"/>
          <p:nvPr/>
        </p:nvSpPr>
        <p:spPr>
          <a:xfrm>
            <a:off x="1600309" y="4312727"/>
            <a:ext cx="9399000" cy="12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lang="zh-TW" sz="2900" i="0" u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寫出該實驗中的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操縱</a:t>
            </a:r>
            <a:r>
              <a:rPr lang="zh-TW" sz="2900" i="0" u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變因，及應變變因，並與組員討論一個實驗例子，上台分享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，並上傳classroom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442" name="Google Shape;442;p29"/>
          <p:cNvGrpSpPr/>
          <p:nvPr/>
        </p:nvGrpSpPr>
        <p:grpSpPr>
          <a:xfrm>
            <a:off x="838199" y="1465341"/>
            <a:ext cx="10467686" cy="2339967"/>
            <a:chOff x="363940" y="2307555"/>
            <a:chExt cx="10467686" cy="2543719"/>
          </a:xfrm>
        </p:grpSpPr>
        <p:grpSp>
          <p:nvGrpSpPr>
            <p:cNvPr id="443" name="Google Shape;443;p29"/>
            <p:cNvGrpSpPr/>
            <p:nvPr/>
          </p:nvGrpSpPr>
          <p:grpSpPr>
            <a:xfrm>
              <a:off x="363940" y="2307555"/>
              <a:ext cx="10467686" cy="2543719"/>
              <a:chOff x="267064" y="4369164"/>
              <a:chExt cx="10467686" cy="2543719"/>
            </a:xfrm>
          </p:grpSpPr>
          <p:sp>
            <p:nvSpPr>
              <p:cNvPr id="444" name="Google Shape;444;p29"/>
              <p:cNvSpPr txBox="1"/>
              <p:nvPr/>
            </p:nvSpPr>
            <p:spPr>
              <a:xfrm>
                <a:off x="267064" y="4403083"/>
                <a:ext cx="1476300" cy="210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確定油溫降低可以改善焦黑問題</a:t>
                </a:r>
                <a:endParaRPr sz="200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45" name="Google Shape;445;p29"/>
              <p:cNvSpPr txBox="1"/>
              <p:nvPr/>
            </p:nvSpPr>
            <p:spPr>
              <a:xfrm>
                <a:off x="2157599" y="4403083"/>
                <a:ext cx="1635000" cy="250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油炸結果最佳的油溫下，炸多久最適合?</a:t>
                </a:r>
                <a:endParaRPr sz="240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46" name="Google Shape;446;p29"/>
              <p:cNvSpPr txBox="1"/>
              <p:nvPr/>
            </p:nvSpPr>
            <p:spPr>
              <a:xfrm>
                <a:off x="4404641" y="4369164"/>
                <a:ext cx="1635000" cy="17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以該油溫炸鹹酥雞，改變油炸時長</a:t>
                </a:r>
                <a:endParaRPr sz="2400">
                  <a:solidFill>
                    <a:schemeClr val="dk1"/>
                  </a:solidFill>
                </a:endParaRPr>
              </a:p>
            </p:txBody>
          </p:sp>
          <p:sp>
            <p:nvSpPr>
              <p:cNvPr id="447" name="Google Shape;447;p29"/>
              <p:cNvSpPr txBox="1"/>
              <p:nvPr/>
            </p:nvSpPr>
            <p:spPr>
              <a:xfrm>
                <a:off x="6397036" y="4394697"/>
                <a:ext cx="1776600" cy="17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分析不同時長的油炸結果</a:t>
                </a:r>
                <a:endParaRPr sz="240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48" name="Google Shape;448;p29"/>
              <p:cNvSpPr/>
              <p:nvPr/>
            </p:nvSpPr>
            <p:spPr>
              <a:xfrm>
                <a:off x="3781456" y="4825099"/>
                <a:ext cx="453000" cy="149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29"/>
              <p:cNvSpPr/>
              <p:nvPr/>
            </p:nvSpPr>
            <p:spPr>
              <a:xfrm>
                <a:off x="5892219" y="4825098"/>
                <a:ext cx="453000" cy="149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29"/>
              <p:cNvSpPr txBox="1"/>
              <p:nvPr/>
            </p:nvSpPr>
            <p:spPr>
              <a:xfrm>
                <a:off x="8888250" y="4447296"/>
                <a:ext cx="1846500" cy="13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確認最佳油炸時長為何</a:t>
                </a:r>
                <a:endParaRPr sz="240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51" name="Google Shape;451;p29"/>
              <p:cNvSpPr/>
              <p:nvPr/>
            </p:nvSpPr>
            <p:spPr>
              <a:xfrm>
                <a:off x="8331754" y="4825098"/>
                <a:ext cx="453000" cy="149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2" name="Google Shape;452;p29"/>
            <p:cNvSpPr/>
            <p:nvPr/>
          </p:nvSpPr>
          <p:spPr>
            <a:xfrm>
              <a:off x="1812607" y="2804568"/>
              <a:ext cx="453000" cy="1491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0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你可以獲得什麼？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59" name="Google Shape;459;p30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0" name="Google Shape;460;p30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0"/>
          <p:cNvSpPr txBox="1"/>
          <p:nvPr/>
        </p:nvSpPr>
        <p:spPr>
          <a:xfrm>
            <a:off x="1859280" y="1533091"/>
            <a:ext cx="4135120" cy="403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短期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學測成績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長期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基礎科學研究能力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報告撰寫功力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演講實力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提問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1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探究考題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68" name="Google Shape;468;p31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9" name="Google Shape;469;p3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1"/>
          <p:cNvSpPr/>
          <p:nvPr/>
        </p:nvSpPr>
        <p:spPr>
          <a:xfrm>
            <a:off x="1635760" y="1710993"/>
            <a:ext cx="9144000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繪圖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圖表判讀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由圖表或敘述解釋實驗結果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判斷實驗正確性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提出實驗缺漏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2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大考題型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77" name="Google Shape;477;p32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8" name="Google Shape;47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9038" y="1201138"/>
            <a:ext cx="6557825" cy="261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9050" y="4010375"/>
            <a:ext cx="6557800" cy="1493512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2"/>
          <p:cNvSpPr txBox="1"/>
          <p:nvPr/>
        </p:nvSpPr>
        <p:spPr>
          <a:xfrm>
            <a:off x="9116850" y="5822500"/>
            <a:ext cx="1448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/>
              <a:t>113學測</a:t>
            </a:r>
            <a:endParaRPr sz="25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3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大考題型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87" name="Google Shape;487;p33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8" name="Google Shape;488;p33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9" name="Google Shape;48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750" y="1348300"/>
            <a:ext cx="6733997" cy="4692776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3"/>
          <p:cNvSpPr txBox="1"/>
          <p:nvPr/>
        </p:nvSpPr>
        <p:spPr>
          <a:xfrm>
            <a:off x="9230025" y="5935650"/>
            <a:ext cx="1448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/>
              <a:t>113學測</a:t>
            </a:r>
            <a:endParaRPr sz="25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4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大考題型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97" name="Google Shape;497;p34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p34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9" name="Google Shape;49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550" y="1151563"/>
            <a:ext cx="6125553" cy="3238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4"/>
          <p:cNvPicPr preferRelativeResize="0"/>
          <p:nvPr/>
        </p:nvPicPr>
        <p:blipFill rotWithShape="1">
          <a:blip r:embed="rId4">
            <a:alphaModFix/>
          </a:blip>
          <a:srcRect t="55707" r="42726"/>
          <a:stretch/>
        </p:blipFill>
        <p:spPr>
          <a:xfrm>
            <a:off x="6931925" y="1534425"/>
            <a:ext cx="4990589" cy="189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4"/>
          <p:cNvPicPr preferRelativeResize="0"/>
          <p:nvPr/>
        </p:nvPicPr>
        <p:blipFill rotWithShape="1">
          <a:blip r:embed="rId4">
            <a:alphaModFix/>
          </a:blip>
          <a:srcRect b="44361"/>
          <a:stretch/>
        </p:blipFill>
        <p:spPr>
          <a:xfrm>
            <a:off x="365750" y="4546925"/>
            <a:ext cx="6936989" cy="189042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4"/>
          <p:cNvSpPr txBox="1"/>
          <p:nvPr/>
        </p:nvSpPr>
        <p:spPr>
          <a:xfrm>
            <a:off x="9230025" y="5935650"/>
            <a:ext cx="1448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/>
              <a:t>112分科</a:t>
            </a:r>
            <a:endParaRPr sz="2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5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大考題型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09" name="Google Shape;509;p35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0" name="Google Shape;510;p35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1" name="Google Shape;51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3850" y="1130562"/>
            <a:ext cx="7839125" cy="197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5725" y="3233163"/>
            <a:ext cx="7417250" cy="2272162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5"/>
          <p:cNvSpPr txBox="1"/>
          <p:nvPr/>
        </p:nvSpPr>
        <p:spPr>
          <a:xfrm>
            <a:off x="9230025" y="5935650"/>
            <a:ext cx="1448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/>
              <a:t>111學測</a:t>
            </a:r>
            <a:endParaRPr sz="25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6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大考題型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20" name="Google Shape;520;p36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1" name="Google Shape;521;p36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2" name="Google Shape;522;p36"/>
          <p:cNvPicPr preferRelativeResize="0"/>
          <p:nvPr/>
        </p:nvPicPr>
        <p:blipFill rotWithShape="1">
          <a:blip r:embed="rId3">
            <a:alphaModFix/>
          </a:blip>
          <a:srcRect r="47440"/>
          <a:stretch/>
        </p:blipFill>
        <p:spPr>
          <a:xfrm>
            <a:off x="400400" y="1111450"/>
            <a:ext cx="3898400" cy="227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3400" y="1237450"/>
            <a:ext cx="7197875" cy="44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36"/>
          <p:cNvPicPr preferRelativeResize="0"/>
          <p:nvPr/>
        </p:nvPicPr>
        <p:blipFill rotWithShape="1">
          <a:blip r:embed="rId3">
            <a:alphaModFix/>
          </a:blip>
          <a:srcRect l="52559"/>
          <a:stretch/>
        </p:blipFill>
        <p:spPr>
          <a:xfrm>
            <a:off x="779950" y="3491000"/>
            <a:ext cx="3518850" cy="227215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6"/>
          <p:cNvSpPr txBox="1"/>
          <p:nvPr/>
        </p:nvSpPr>
        <p:spPr>
          <a:xfrm>
            <a:off x="9230025" y="5935650"/>
            <a:ext cx="1448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/>
              <a:t>111學測</a:t>
            </a:r>
            <a:endParaRPr sz="25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7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2" name="Google Shape;532;p37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37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zh-TW" sz="44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 </a:t>
            </a:r>
            <a:endParaRPr sz="4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34" name="Google Shape;534;p37"/>
          <p:cNvSpPr txBox="1"/>
          <p:nvPr/>
        </p:nvSpPr>
        <p:spPr>
          <a:xfrm>
            <a:off x="838198" y="1665171"/>
            <a:ext cx="10515601" cy="2977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6604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為了節省整理資訊的時間、專注思考筆記內容，1950年代，美國康乃爾大學（Cornell University）教授華特‧波克（Walter Pauk）開發了一套在課堂、講座、閱讀時，記錄資訊的方法，稱為「康乃爾筆記法」。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8"/>
          <p:cNvSpPr txBox="1"/>
          <p:nvPr/>
        </p:nvSpPr>
        <p:spPr>
          <a:xfrm>
            <a:off x="991374" y="1865496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1" name="Google Shape;541;p38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8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zh-TW" sz="44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 </a:t>
            </a:r>
            <a:endParaRPr sz="4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43" name="Google Shape;543;p38"/>
          <p:cNvSpPr txBox="1"/>
          <p:nvPr/>
        </p:nvSpPr>
        <p:spPr>
          <a:xfrm>
            <a:off x="931675" y="1387325"/>
            <a:ext cx="5077800" cy="43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46100" marR="0" lvl="0" indent="-3556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oto Sans Symbols"/>
              <a:buChar char="⮚"/>
            </a:pPr>
            <a:r>
              <a:rPr lang="zh-TW" sz="2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筆記頁面劃分成「一大兩小」3個區塊。一大，指的是右邊的「筆記欄」；兩小，分別是左邊的「整理欄」和下方的「摘要欄」。每個區塊的大小並沒有硬性規定，唯有筆記欄需要大一點的空間。</a:t>
            </a:r>
            <a:endParaRPr sz="26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544" name="Google Shape;54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3800" y="1173100"/>
            <a:ext cx="3864926" cy="490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9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1" name="Google Shape;551;p39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9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zh-TW" sz="44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 </a:t>
            </a:r>
            <a:endParaRPr sz="4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53" name="Google Shape;553;p39"/>
          <p:cNvSpPr txBox="1"/>
          <p:nvPr/>
        </p:nvSpPr>
        <p:spPr>
          <a:xfrm>
            <a:off x="692761" y="1227131"/>
            <a:ext cx="4021477" cy="4955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461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zh-TW" sz="20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【基本用法】將筆記切成 3+1個區塊</a:t>
            </a:r>
            <a:endParaRPr sz="20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 Black"/>
              <a:buAutoNum type="arabicPeriod"/>
            </a:pPr>
            <a:r>
              <a:rPr lang="zh-TW" sz="2000" b="0" i="0">
                <a:solidFill>
                  <a:srgbClr val="212529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上方區塊「資訊區」：用來記錄筆記主題、日期、編號、頁碼等資訊。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 Black"/>
              <a:buAutoNum type="arabicPeriod"/>
            </a:pPr>
            <a:r>
              <a:rPr lang="zh-TW" sz="2000" b="0" i="0">
                <a:solidFill>
                  <a:srgbClr val="212529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右側大區塊是「記錄（筆記）區」（Notetaking column）：上課中使用，記錄上課內容筆記。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 Black"/>
              <a:buAutoNum type="arabicPeriod"/>
            </a:pPr>
            <a:r>
              <a:rPr lang="zh-TW" sz="2000" b="0" i="0">
                <a:solidFill>
                  <a:srgbClr val="212529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左側是「關鍵字區」（Cue column）：能喚起記憶的線索，寫下問題或關鍵字詞。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 Black"/>
              <a:buAutoNum type="arabicPeriod"/>
            </a:pPr>
            <a:r>
              <a:rPr lang="zh-TW" sz="2000" b="0" i="0">
                <a:solidFill>
                  <a:srgbClr val="212529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下方區塊是「複習（摘要）區」（Summary column）：下課後使用，摘要重點，有助於快速複習。</a:t>
            </a:r>
            <a:endParaRPr sz="20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554" name="Google Shape;554;p39"/>
          <p:cNvPicPr preferRelativeResize="0"/>
          <p:nvPr/>
        </p:nvPicPr>
        <p:blipFill rotWithShape="1">
          <a:blip r:embed="rId3">
            <a:alphaModFix/>
          </a:blip>
          <a:srcRect l="9440" r="5786"/>
          <a:stretch/>
        </p:blipFill>
        <p:spPr>
          <a:xfrm>
            <a:off x="8615679" y="1773772"/>
            <a:ext cx="3159761" cy="3862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39"/>
          <p:cNvPicPr preferRelativeResize="0"/>
          <p:nvPr/>
        </p:nvPicPr>
        <p:blipFill rotWithShape="1">
          <a:blip r:embed="rId4">
            <a:alphaModFix/>
          </a:blip>
          <a:srcRect l="11271" r="8159"/>
          <a:stretch/>
        </p:blipFill>
        <p:spPr>
          <a:xfrm>
            <a:off x="5135878" y="1773772"/>
            <a:ext cx="3058161" cy="372571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39"/>
          <p:cNvSpPr txBox="1"/>
          <p:nvPr/>
        </p:nvSpPr>
        <p:spPr>
          <a:xfrm>
            <a:off x="9067142" y="5823899"/>
            <a:ext cx="2479698" cy="46166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心得反思</a:t>
            </a:r>
            <a:endParaRPr/>
          </a:p>
        </p:txBody>
      </p:sp>
      <p:sp>
        <p:nvSpPr>
          <p:cNvPr id="557" name="Google Shape;557;p39"/>
          <p:cNvSpPr/>
          <p:nvPr/>
        </p:nvSpPr>
        <p:spPr>
          <a:xfrm>
            <a:off x="10182531" y="5192829"/>
            <a:ext cx="284480" cy="56896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0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4" name="Google Shape;564;p40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40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zh-TW" sz="44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 </a:t>
            </a:r>
            <a:endParaRPr sz="4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66" name="Google Shape;566;p40"/>
          <p:cNvSpPr txBox="1"/>
          <p:nvPr/>
        </p:nvSpPr>
        <p:spPr>
          <a:xfrm>
            <a:off x="692761" y="1227131"/>
            <a:ext cx="4021477" cy="438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461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zh-TW" sz="32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學長們的範例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567" name="Google Shape;567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2174" y="1888267"/>
            <a:ext cx="2831393" cy="4291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8065" y="1879948"/>
            <a:ext cx="2924584" cy="4297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55171" y="1819370"/>
            <a:ext cx="2831393" cy="43866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0" name="Google Shape;570;p40"/>
          <p:cNvCxnSpPr/>
          <p:nvPr/>
        </p:nvCxnSpPr>
        <p:spPr>
          <a:xfrm>
            <a:off x="2556625" y="-259125"/>
            <a:ext cx="1658400" cy="165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1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7" name="Google Shape;577;p41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41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zh-TW" sz="44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 </a:t>
            </a:r>
            <a:endParaRPr sz="4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79" name="Google Shape;579;p41"/>
          <p:cNvSpPr txBox="1"/>
          <p:nvPr/>
        </p:nvSpPr>
        <p:spPr>
          <a:xfrm>
            <a:off x="692761" y="1227131"/>
            <a:ext cx="40215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461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zh-TW" sz="32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學長們的範例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580" name="Google Shape;580;p41"/>
          <p:cNvCxnSpPr/>
          <p:nvPr/>
        </p:nvCxnSpPr>
        <p:spPr>
          <a:xfrm>
            <a:off x="2556625" y="-259125"/>
            <a:ext cx="1658400" cy="165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81" name="Google Shape;58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563" y="1800613"/>
            <a:ext cx="3495675" cy="465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4375" y="1800625"/>
            <a:ext cx="3387439" cy="465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2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lang="zh-TW" sz="44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 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89" name="Google Shape;589;p42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0" name="Google Shape;590;p42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42"/>
          <p:cNvSpPr txBox="1"/>
          <p:nvPr/>
        </p:nvSpPr>
        <p:spPr>
          <a:xfrm>
            <a:off x="1246484" y="1688230"/>
            <a:ext cx="6096000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zh-TW" sz="2000" b="0" i="0" u="none" strike="noStrike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科學筆記本：康乃爾筆記法 </a:t>
            </a:r>
            <a:endParaRPr sz="20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0" i="0" u="sng" strike="noStrike">
                <a:solidFill>
                  <a:srgbClr val="1155CC"/>
                </a:solidFill>
                <a:latin typeface="Golos Text"/>
                <a:ea typeface="Golos Text"/>
                <a:cs typeface="Golos Text"/>
                <a:sym typeface="Golos Tex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https://reurl.cc/y6y608</a:t>
            </a:r>
            <a:endParaRPr sz="20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br>
              <a:rPr lang="zh-TW" sz="2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zh-TW" sz="2000" b="0" i="0" u="none" strike="noStrike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康乃爾筆記法+ 5R筆記法</a:t>
            </a:r>
            <a:endParaRPr sz="20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0" i="0" u="sng" strike="noStrike">
                <a:solidFill>
                  <a:srgbClr val="1155CC"/>
                </a:solidFill>
                <a:latin typeface="Golos Text"/>
                <a:ea typeface="Golos Text"/>
                <a:cs typeface="Golos Text"/>
                <a:sym typeface="Golos Tex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https://vocus.cc/article/5e3c1ec2fd897800013ae05c</a:t>
            </a:r>
            <a:br>
              <a:rPr lang="zh-TW" sz="2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42"/>
          <p:cNvSpPr txBox="1"/>
          <p:nvPr/>
        </p:nvSpPr>
        <p:spPr>
          <a:xfrm>
            <a:off x="692761" y="1227131"/>
            <a:ext cx="4021477" cy="438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461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zh-TW" sz="32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參考資料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3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3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康乃爾筆記法-練習範例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99" name="Google Shape;599;p43"/>
          <p:cNvSpPr txBox="1"/>
          <p:nvPr/>
        </p:nvSpPr>
        <p:spPr>
          <a:xfrm>
            <a:off x="838200" y="2230399"/>
            <a:ext cx="10515600" cy="37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化理論有來自不同領域的支持。化石紀錄顯示物種會隨時間改變，並出現過渡形態。比較解剖學中，同源構造暗示不同物種可能有共同祖先，而趨同演化則說明不同物種因相似環境壓力而出現相似特徵。分子生物學的研究則顯示，DNA 與蛋白質序列的相似度可以反映物種間的親緣關係。生物地理分布，如島嶼特有種，也能解釋物種如何因地理隔離而分化。胚胎學觀察則發現，不同物種在胚胎早期的發育階段常有相似之處。</a:t>
            </a:r>
            <a:endParaRPr sz="3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54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None/>
            </a:pPr>
            <a:endParaRPr sz="3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00" name="Google Shape;600;p43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43"/>
          <p:cNvSpPr txBox="1"/>
          <p:nvPr/>
        </p:nvSpPr>
        <p:spPr>
          <a:xfrm>
            <a:off x="915425" y="1380238"/>
            <a:ext cx="6333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主題一：演化的證據</a:t>
            </a:r>
            <a:endParaRPr sz="3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4" descr="畫布"/>
          <p:cNvSpPr txBox="1"/>
          <p:nvPr/>
        </p:nvSpPr>
        <p:spPr>
          <a:xfrm>
            <a:off x="702100" y="98613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lang="zh-TW" sz="39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</a:t>
            </a:r>
            <a:r>
              <a:rPr lang="zh-TW" sz="3900">
                <a:latin typeface="Microsoft JhengHei"/>
                <a:ea typeface="Microsoft JhengHei"/>
                <a:cs typeface="Microsoft JhengHei"/>
                <a:sym typeface="Microsoft JhengHei"/>
              </a:rPr>
              <a:t>練習範例</a:t>
            </a:r>
            <a:r>
              <a:rPr lang="zh-TW" sz="39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 </a:t>
            </a:r>
            <a:endParaRPr sz="3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08" name="Google Shape;608;p44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9" name="Google Shape;609;p44"/>
          <p:cNvCxnSpPr/>
          <p:nvPr/>
        </p:nvCxnSpPr>
        <p:spPr>
          <a:xfrm>
            <a:off x="3823125" y="1405421"/>
            <a:ext cx="42900" cy="422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0" name="Google Shape;610;p44"/>
          <p:cNvSpPr txBox="1"/>
          <p:nvPr/>
        </p:nvSpPr>
        <p:spPr>
          <a:xfrm>
            <a:off x="915425" y="819762"/>
            <a:ext cx="6333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主題一：演化的證據</a:t>
            </a:r>
            <a:endParaRPr sz="3000"/>
          </a:p>
        </p:txBody>
      </p:sp>
      <p:grpSp>
        <p:nvGrpSpPr>
          <p:cNvPr id="611" name="Google Shape;611;p44"/>
          <p:cNvGrpSpPr/>
          <p:nvPr/>
        </p:nvGrpSpPr>
        <p:grpSpPr>
          <a:xfrm>
            <a:off x="915425" y="1475458"/>
            <a:ext cx="10438250" cy="4107317"/>
            <a:chOff x="915425" y="1677164"/>
            <a:chExt cx="10438250" cy="4107317"/>
          </a:xfrm>
        </p:grpSpPr>
        <p:sp>
          <p:nvSpPr>
            <p:cNvPr id="612" name="Google Shape;612;p44"/>
            <p:cNvSpPr txBox="1"/>
            <p:nvPr/>
          </p:nvSpPr>
          <p:spPr>
            <a:xfrm>
              <a:off x="915425" y="1715102"/>
              <a:ext cx="18024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化石紀錄</a:t>
              </a:r>
              <a:endParaRPr/>
            </a:p>
          </p:txBody>
        </p:sp>
        <p:sp>
          <p:nvSpPr>
            <p:cNvPr id="613" name="Google Shape;613;p44"/>
            <p:cNvSpPr txBox="1"/>
            <p:nvPr/>
          </p:nvSpPr>
          <p:spPr>
            <a:xfrm>
              <a:off x="915425" y="2473155"/>
              <a:ext cx="1644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解剖學</a:t>
              </a:r>
              <a:endParaRPr/>
            </a:p>
          </p:txBody>
        </p:sp>
        <p:sp>
          <p:nvSpPr>
            <p:cNvPr id="614" name="Google Shape;614;p44"/>
            <p:cNvSpPr txBox="1"/>
            <p:nvPr/>
          </p:nvSpPr>
          <p:spPr>
            <a:xfrm>
              <a:off x="4005775" y="2397264"/>
              <a:ext cx="7347900" cy="133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同源：可能有共同祖先</a:t>
              </a:r>
              <a:endParaRPr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趨同演化：不同物種，相似環境壓力</a:t>
              </a:r>
              <a:endParaRPr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15" name="Google Shape;615;p44"/>
            <p:cNvSpPr txBox="1"/>
            <p:nvPr/>
          </p:nvSpPr>
          <p:spPr>
            <a:xfrm>
              <a:off x="915425" y="3747414"/>
              <a:ext cx="2718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分子生物學</a:t>
              </a:r>
              <a:endParaRPr/>
            </a:p>
          </p:txBody>
        </p:sp>
        <p:sp>
          <p:nvSpPr>
            <p:cNvPr id="616" name="Google Shape;616;p44"/>
            <p:cNvSpPr txBox="1"/>
            <p:nvPr/>
          </p:nvSpPr>
          <p:spPr>
            <a:xfrm>
              <a:off x="4005775" y="3728664"/>
              <a:ext cx="6780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分析DNA 與蛋白質序列的相似度</a:t>
              </a:r>
              <a:endParaRPr/>
            </a:p>
          </p:txBody>
        </p:sp>
        <p:sp>
          <p:nvSpPr>
            <p:cNvPr id="617" name="Google Shape;617;p44"/>
            <p:cNvSpPr txBox="1"/>
            <p:nvPr/>
          </p:nvSpPr>
          <p:spPr>
            <a:xfrm>
              <a:off x="3990275" y="1677164"/>
              <a:ext cx="40806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物種會隨時間改變</a:t>
              </a:r>
              <a:endParaRPr/>
            </a:p>
          </p:txBody>
        </p:sp>
        <p:sp>
          <p:nvSpPr>
            <p:cNvPr id="618" name="Google Shape;618;p44"/>
            <p:cNvSpPr txBox="1"/>
            <p:nvPr/>
          </p:nvSpPr>
          <p:spPr>
            <a:xfrm>
              <a:off x="915425" y="4375152"/>
              <a:ext cx="3000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生物地理分布</a:t>
              </a:r>
              <a:endParaRPr/>
            </a:p>
          </p:txBody>
        </p:sp>
        <p:sp>
          <p:nvSpPr>
            <p:cNvPr id="619" name="Google Shape;619;p44"/>
            <p:cNvSpPr txBox="1"/>
            <p:nvPr/>
          </p:nvSpPr>
          <p:spPr>
            <a:xfrm>
              <a:off x="4055700" y="4433327"/>
              <a:ext cx="69786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解釋物種如何因地理隔離而分化</a:t>
              </a:r>
              <a:endParaRPr/>
            </a:p>
          </p:txBody>
        </p:sp>
        <p:sp>
          <p:nvSpPr>
            <p:cNvPr id="620" name="Google Shape;620;p44"/>
            <p:cNvSpPr txBox="1"/>
            <p:nvPr/>
          </p:nvSpPr>
          <p:spPr>
            <a:xfrm>
              <a:off x="915425" y="5038752"/>
              <a:ext cx="3000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胚胎學</a:t>
              </a:r>
              <a:endParaRPr/>
            </a:p>
          </p:txBody>
        </p:sp>
        <p:sp>
          <p:nvSpPr>
            <p:cNvPr id="621" name="Google Shape;621;p44"/>
            <p:cNvSpPr txBox="1"/>
            <p:nvPr/>
          </p:nvSpPr>
          <p:spPr>
            <a:xfrm>
              <a:off x="4055725" y="5137981"/>
              <a:ext cx="60384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不同物種胚胎早期相似</a:t>
              </a:r>
              <a:endParaRPr/>
            </a:p>
          </p:txBody>
        </p:sp>
      </p:grpSp>
      <p:sp>
        <p:nvSpPr>
          <p:cNvPr id="622" name="Google Shape;622;p44"/>
          <p:cNvSpPr txBox="1"/>
          <p:nvPr/>
        </p:nvSpPr>
        <p:spPr>
          <a:xfrm>
            <a:off x="866525" y="5633025"/>
            <a:ext cx="10328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演化證據來自化石、解剖、分子、生物地理與胚胎學，顯示物種具有共同祖先並隨環境改變。</a:t>
            </a:r>
            <a:endParaRPr/>
          </a:p>
        </p:txBody>
      </p:sp>
      <p:cxnSp>
        <p:nvCxnSpPr>
          <p:cNvPr id="623" name="Google Shape;623;p44"/>
          <p:cNvCxnSpPr/>
          <p:nvPr/>
        </p:nvCxnSpPr>
        <p:spPr>
          <a:xfrm rot="10800000" flipH="1">
            <a:off x="702100" y="1374525"/>
            <a:ext cx="103881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4" name="Google Shape;624;p44"/>
          <p:cNvCxnSpPr/>
          <p:nvPr/>
        </p:nvCxnSpPr>
        <p:spPr>
          <a:xfrm rot="10800000" flipH="1">
            <a:off x="836525" y="5591975"/>
            <a:ext cx="103881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5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3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康乃爾筆記法-練習範例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31" name="Google Shape;631;p45"/>
          <p:cNvSpPr txBox="1"/>
          <p:nvPr/>
        </p:nvSpPr>
        <p:spPr>
          <a:xfrm>
            <a:off x="838200" y="2230399"/>
            <a:ext cx="10515600" cy="37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演化理論有來自不同領域的支持。</a:t>
            </a:r>
            <a:r>
              <a:rPr lang="zh-TW" sz="30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|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化石紀錄顯示物種會隨時間改變，並出現過渡形態。</a:t>
            </a:r>
            <a:r>
              <a:rPr lang="zh-TW" sz="30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|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比較解剖學中，同源構造暗示不同物種可能有共同祖先，而趨同演化則說明不同物種因相似環境壓力而出現相似特徵。</a:t>
            </a:r>
            <a:r>
              <a:rPr lang="zh-TW" sz="30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|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分子生物學的研究則顯示，DNA 與蛋白質序列的相似度可以反映物種間的親緣關係。</a:t>
            </a:r>
            <a:r>
              <a:rPr lang="zh-TW" sz="30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|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生物地理分布，如島嶼特有種，也能解釋物種如何因地理隔離而分化。</a:t>
            </a:r>
            <a:r>
              <a:rPr lang="zh-TW" sz="30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|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胚胎學觀察則發現，不同物種在胚胎早期的發育階段常有相似之處。</a:t>
            </a:r>
            <a:r>
              <a:rPr lang="zh-TW" sz="30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|</a:t>
            </a:r>
            <a:endParaRPr sz="3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54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None/>
            </a:pPr>
            <a:endParaRPr sz="3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32" name="Google Shape;632;p45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45"/>
          <p:cNvSpPr txBox="1"/>
          <p:nvPr/>
        </p:nvSpPr>
        <p:spPr>
          <a:xfrm>
            <a:off x="915425" y="1380238"/>
            <a:ext cx="6333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主題一：演化的證據</a:t>
            </a:r>
            <a:endParaRPr sz="3600"/>
          </a:p>
        </p:txBody>
      </p:sp>
      <p:sp>
        <p:nvSpPr>
          <p:cNvPr id="634" name="Google Shape;634;p45"/>
          <p:cNvSpPr txBox="1"/>
          <p:nvPr/>
        </p:nvSpPr>
        <p:spPr>
          <a:xfrm>
            <a:off x="6782825" y="1380250"/>
            <a:ext cx="5210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逐句拆解(看句號)</a:t>
            </a:r>
            <a:endParaRPr sz="36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6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3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康乃爾筆記法-練習範例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41" name="Google Shape;641;p46"/>
          <p:cNvSpPr txBox="1"/>
          <p:nvPr/>
        </p:nvSpPr>
        <p:spPr>
          <a:xfrm>
            <a:off x="838200" y="1099165"/>
            <a:ext cx="10515600" cy="47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演化理論有來自不同領域的支持。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化石紀錄顯示物種會隨時間改變，並出現過渡形態。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比較解剖學中，同源構造暗示不同物種可能有共同祖先，而趨同演化則說明不同物種因相似環境壓力而出現相似特徵。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分子生物學的研究則顯示，DNA 與蛋白質序列的相似度可以反映物種間的親緣關係。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生物地理分布，如島嶼特有種，也能解釋物種如何因地理隔離而分化。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胚胎學觀察則發現，不同物種在胚胎早期的發育階段常有相似之處。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54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None/>
            </a:pP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42" name="Google Shape;642;p46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46"/>
          <p:cNvSpPr txBox="1"/>
          <p:nvPr/>
        </p:nvSpPr>
        <p:spPr>
          <a:xfrm>
            <a:off x="7106580" y="1004050"/>
            <a:ext cx="5210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逐句拆解(條列示)</a:t>
            </a:r>
            <a:endParaRPr sz="36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7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3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康乃爾筆記法-練習範例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50" name="Google Shape;650;p47"/>
          <p:cNvSpPr txBox="1"/>
          <p:nvPr/>
        </p:nvSpPr>
        <p:spPr>
          <a:xfrm>
            <a:off x="838200" y="1099150"/>
            <a:ext cx="10515600" cy="48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演化理論有來自不同領域的支持。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化石紀錄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顯示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物種會隨時間改變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，並出現過渡形態。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比較解剖學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中，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同源構造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暗示不同物種可能有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共同祖先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，而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趨同演化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則說明不同物種因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相似環境壓力而出現相似特徵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分子生物學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的研究則顯示，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DNA 與蛋白質序列的相似度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可以反映物種間的親緣關係。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生物地理分布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，如島嶼特有種，也能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解釋物種如何因地理隔離而分化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胚胎學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觀察則發現，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不同物種在胚胎早期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的發育階段常有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相似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之處。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54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None/>
            </a:pP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51" name="Google Shape;651;p47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47"/>
          <p:cNvSpPr txBox="1"/>
          <p:nvPr/>
        </p:nvSpPr>
        <p:spPr>
          <a:xfrm>
            <a:off x="7122200" y="1004050"/>
            <a:ext cx="5210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每句重點</a:t>
            </a:r>
            <a:endParaRPr sz="36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8" descr="畫布"/>
          <p:cNvSpPr txBox="1"/>
          <p:nvPr/>
        </p:nvSpPr>
        <p:spPr>
          <a:xfrm>
            <a:off x="702100" y="98613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lang="zh-TW" sz="39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</a:t>
            </a:r>
            <a:r>
              <a:rPr lang="zh-TW" sz="3900">
                <a:latin typeface="Microsoft JhengHei"/>
                <a:ea typeface="Microsoft JhengHei"/>
                <a:cs typeface="Microsoft JhengHei"/>
                <a:sym typeface="Microsoft JhengHei"/>
              </a:rPr>
              <a:t>練習範例</a:t>
            </a:r>
            <a:r>
              <a:rPr lang="zh-TW" sz="39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 </a:t>
            </a:r>
            <a:endParaRPr sz="3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59" name="Google Shape;659;p48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0" name="Google Shape;660;p48"/>
          <p:cNvCxnSpPr/>
          <p:nvPr/>
        </p:nvCxnSpPr>
        <p:spPr>
          <a:xfrm>
            <a:off x="3823125" y="1405421"/>
            <a:ext cx="42900" cy="422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1" name="Google Shape;661;p48"/>
          <p:cNvSpPr txBox="1"/>
          <p:nvPr/>
        </p:nvSpPr>
        <p:spPr>
          <a:xfrm>
            <a:off x="915425" y="819762"/>
            <a:ext cx="6333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主題一：演化的證據</a:t>
            </a:r>
            <a:endParaRPr sz="3000"/>
          </a:p>
        </p:txBody>
      </p:sp>
      <p:grpSp>
        <p:nvGrpSpPr>
          <p:cNvPr id="662" name="Google Shape;662;p48"/>
          <p:cNvGrpSpPr/>
          <p:nvPr/>
        </p:nvGrpSpPr>
        <p:grpSpPr>
          <a:xfrm>
            <a:off x="915425" y="1475458"/>
            <a:ext cx="10438250" cy="4107317"/>
            <a:chOff x="915425" y="1677164"/>
            <a:chExt cx="10438250" cy="4107317"/>
          </a:xfrm>
        </p:grpSpPr>
        <p:sp>
          <p:nvSpPr>
            <p:cNvPr id="663" name="Google Shape;663;p48"/>
            <p:cNvSpPr txBox="1"/>
            <p:nvPr/>
          </p:nvSpPr>
          <p:spPr>
            <a:xfrm>
              <a:off x="915425" y="1715102"/>
              <a:ext cx="18024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化石紀錄</a:t>
              </a:r>
              <a:endParaRPr/>
            </a:p>
          </p:txBody>
        </p:sp>
        <p:sp>
          <p:nvSpPr>
            <p:cNvPr id="664" name="Google Shape;664;p48"/>
            <p:cNvSpPr txBox="1"/>
            <p:nvPr/>
          </p:nvSpPr>
          <p:spPr>
            <a:xfrm>
              <a:off x="915425" y="2473155"/>
              <a:ext cx="1644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解剖學</a:t>
              </a:r>
              <a:endParaRPr/>
            </a:p>
          </p:txBody>
        </p:sp>
        <p:sp>
          <p:nvSpPr>
            <p:cNvPr id="665" name="Google Shape;665;p48"/>
            <p:cNvSpPr txBox="1"/>
            <p:nvPr/>
          </p:nvSpPr>
          <p:spPr>
            <a:xfrm>
              <a:off x="4005775" y="2397264"/>
              <a:ext cx="7347900" cy="133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同源：可能有共同祖先</a:t>
              </a:r>
              <a:endParaRPr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趨同演化：不同物種，相似環境壓力</a:t>
              </a:r>
              <a:endParaRPr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66" name="Google Shape;666;p48"/>
            <p:cNvSpPr txBox="1"/>
            <p:nvPr/>
          </p:nvSpPr>
          <p:spPr>
            <a:xfrm>
              <a:off x="915425" y="3747414"/>
              <a:ext cx="2718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分子生物學</a:t>
              </a:r>
              <a:endParaRPr/>
            </a:p>
          </p:txBody>
        </p:sp>
        <p:sp>
          <p:nvSpPr>
            <p:cNvPr id="667" name="Google Shape;667;p48"/>
            <p:cNvSpPr txBox="1"/>
            <p:nvPr/>
          </p:nvSpPr>
          <p:spPr>
            <a:xfrm>
              <a:off x="4005775" y="3728664"/>
              <a:ext cx="6780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分析DNA 與蛋白質序列的相似度</a:t>
              </a:r>
              <a:endParaRPr/>
            </a:p>
          </p:txBody>
        </p:sp>
        <p:sp>
          <p:nvSpPr>
            <p:cNvPr id="668" name="Google Shape;668;p48"/>
            <p:cNvSpPr txBox="1"/>
            <p:nvPr/>
          </p:nvSpPr>
          <p:spPr>
            <a:xfrm>
              <a:off x="3990275" y="1677164"/>
              <a:ext cx="40806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物種會隨時間改變</a:t>
              </a:r>
              <a:endParaRPr/>
            </a:p>
          </p:txBody>
        </p:sp>
        <p:sp>
          <p:nvSpPr>
            <p:cNvPr id="669" name="Google Shape;669;p48"/>
            <p:cNvSpPr txBox="1"/>
            <p:nvPr/>
          </p:nvSpPr>
          <p:spPr>
            <a:xfrm>
              <a:off x="915425" y="4375152"/>
              <a:ext cx="3000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生物地理分布</a:t>
              </a:r>
              <a:endParaRPr/>
            </a:p>
          </p:txBody>
        </p:sp>
        <p:sp>
          <p:nvSpPr>
            <p:cNvPr id="670" name="Google Shape;670;p48"/>
            <p:cNvSpPr txBox="1"/>
            <p:nvPr/>
          </p:nvSpPr>
          <p:spPr>
            <a:xfrm>
              <a:off x="4055700" y="4433327"/>
              <a:ext cx="69786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解釋物種如何因地理隔離而分化</a:t>
              </a:r>
              <a:endParaRPr/>
            </a:p>
          </p:txBody>
        </p:sp>
        <p:sp>
          <p:nvSpPr>
            <p:cNvPr id="671" name="Google Shape;671;p48"/>
            <p:cNvSpPr txBox="1"/>
            <p:nvPr/>
          </p:nvSpPr>
          <p:spPr>
            <a:xfrm>
              <a:off x="915425" y="5038752"/>
              <a:ext cx="3000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胚胎學</a:t>
              </a:r>
              <a:endParaRPr/>
            </a:p>
          </p:txBody>
        </p:sp>
        <p:sp>
          <p:nvSpPr>
            <p:cNvPr id="672" name="Google Shape;672;p48"/>
            <p:cNvSpPr txBox="1"/>
            <p:nvPr/>
          </p:nvSpPr>
          <p:spPr>
            <a:xfrm>
              <a:off x="4055725" y="5137981"/>
              <a:ext cx="60384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不同物種胚胎早期相似</a:t>
              </a:r>
              <a:endParaRPr/>
            </a:p>
          </p:txBody>
        </p:sp>
      </p:grpSp>
      <p:sp>
        <p:nvSpPr>
          <p:cNvPr id="673" name="Google Shape;673;p48"/>
          <p:cNvSpPr txBox="1"/>
          <p:nvPr/>
        </p:nvSpPr>
        <p:spPr>
          <a:xfrm>
            <a:off x="866525" y="5633025"/>
            <a:ext cx="10328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演化證據來自化石、解剖、</a:t>
            </a:r>
            <a:r>
              <a:rPr lang="zh-TW" sz="30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分生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、生物地理與胚胎學，顯示物種有共同祖先並</a:t>
            </a:r>
            <a:r>
              <a:rPr lang="zh-TW" sz="30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因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環境壓力，隨</a:t>
            </a:r>
            <a:r>
              <a:rPr lang="zh-TW" sz="30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時間而緩慢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改變。</a:t>
            </a:r>
            <a:endParaRPr/>
          </a:p>
        </p:txBody>
      </p:sp>
      <p:cxnSp>
        <p:nvCxnSpPr>
          <p:cNvPr id="674" name="Google Shape;674;p48"/>
          <p:cNvCxnSpPr/>
          <p:nvPr/>
        </p:nvCxnSpPr>
        <p:spPr>
          <a:xfrm rot="10800000" flipH="1">
            <a:off x="702100" y="1374525"/>
            <a:ext cx="103881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5" name="Google Shape;675;p48"/>
          <p:cNvCxnSpPr/>
          <p:nvPr/>
        </p:nvCxnSpPr>
        <p:spPr>
          <a:xfrm rot="10800000" flipH="1">
            <a:off x="836525" y="5591975"/>
            <a:ext cx="103881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6" name="Google Shape;676;p48"/>
          <p:cNvSpPr txBox="1"/>
          <p:nvPr/>
        </p:nvSpPr>
        <p:spPr>
          <a:xfrm>
            <a:off x="5744350" y="804450"/>
            <a:ext cx="5210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(每人總結 可能不同)</a:t>
            </a:r>
            <a:endParaRPr sz="32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9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lang="zh-TW" sz="44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</a:t>
            </a:r>
            <a:r>
              <a:rPr lang="zh-TW" sz="4400">
                <a:latin typeface="Microsoft JhengHei"/>
                <a:ea typeface="Microsoft JhengHei"/>
                <a:cs typeface="Microsoft JhengHei"/>
                <a:sym typeface="Microsoft JhengHei"/>
              </a:rPr>
              <a:t>練習</a:t>
            </a:r>
            <a:r>
              <a:rPr lang="zh-TW" sz="44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 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83" name="Google Shape;683;p49"/>
          <p:cNvSpPr txBox="1"/>
          <p:nvPr/>
        </p:nvSpPr>
        <p:spPr>
          <a:xfrm>
            <a:off x="748900" y="2141100"/>
            <a:ext cx="10817700" cy="37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5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水分子之間透過氫鍵作用，展現出許多與其他液體不同的特性。首先，水具有高比熱，能吸收或釋放大量熱能而使溫度變化緩慢，有助於穩定生物體與環境的溫度。其次，水的表面張力較高，使得某些昆蟲能在水面行走。水的凝聚性讓水分子彼此吸引，附著性則讓水分子與其他物質產生吸引力，兩者共同造成毛細現象。最後，水具有密度異常性：固態冰的密度比液態水小，因此冰會浮在水面上，為水生生物提供保護。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4" name="Google Shape;684;p49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49"/>
          <p:cNvSpPr txBox="1"/>
          <p:nvPr/>
        </p:nvSpPr>
        <p:spPr>
          <a:xfrm>
            <a:off x="915425" y="1364713"/>
            <a:ext cx="6333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主題二：水的性質</a:t>
            </a:r>
            <a:endParaRPr sz="36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50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lang="zh-TW" sz="44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</a:t>
            </a:r>
            <a:r>
              <a:rPr lang="zh-TW" sz="4400">
                <a:latin typeface="Microsoft JhengHei"/>
                <a:ea typeface="Microsoft JhengHei"/>
                <a:cs typeface="Microsoft JhengHei"/>
                <a:sym typeface="Microsoft JhengHei"/>
              </a:rPr>
              <a:t>練習</a:t>
            </a:r>
            <a:r>
              <a:rPr lang="zh-TW" sz="44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 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92" name="Google Shape;692;p50"/>
          <p:cNvSpPr txBox="1"/>
          <p:nvPr/>
        </p:nvSpPr>
        <p:spPr>
          <a:xfrm>
            <a:off x="106725" y="1832452"/>
            <a:ext cx="11846700" cy="41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5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None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能源是人類生活與工業發展不可或缺的基礎。依照來源與是否能再生，可分為可再生能源與非再生能源。非再生能源包括石油、煤和天然氣，雖然能量密度高且易於使用，但屬於有限資源，燃燒後會釋放二氧化碳，造成空氣污染與溫室效應。核能雖然不直接排放二氧化碳，且單位能量輸出高，但會產生放射性廢料，需要妥善處理。相對而言，可再生能源如太陽能、風能、水力、地熱與生質能，來源持續不斷，污染相對較少，但其效率與穩定性受自然條件影響，例如日照時間或風力大小。隨著氣候變遷問題加劇，各國積極推動能源轉型，以降低對化石燃料的依賴，發展更永續的能源系統。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3" name="Google Shape;693;p50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50"/>
          <p:cNvSpPr txBox="1"/>
          <p:nvPr/>
        </p:nvSpPr>
        <p:spPr>
          <a:xfrm>
            <a:off x="424300" y="1094213"/>
            <a:ext cx="6333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主題三：能源</a:t>
            </a:r>
            <a:endParaRPr sz="36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51" descr="畫布"/>
          <p:cNvSpPr txBox="1"/>
          <p:nvPr/>
        </p:nvSpPr>
        <p:spPr>
          <a:xfrm>
            <a:off x="620975" y="42128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lang="zh-TW" sz="4400">
                <a:latin typeface="Microsoft JhengHei"/>
                <a:ea typeface="Microsoft JhengHei"/>
                <a:cs typeface="Microsoft JhengHei"/>
                <a:sym typeface="Microsoft JhengHei"/>
              </a:rPr>
              <a:t>任務三：</a:t>
            </a: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康乃爾筆記法摘要練習 </a:t>
            </a:r>
            <a:endParaRPr sz="44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01" name="Google Shape;701;p51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51"/>
          <p:cNvSpPr txBox="1"/>
          <p:nvPr/>
        </p:nvSpPr>
        <p:spPr>
          <a:xfrm>
            <a:off x="527900" y="2094625"/>
            <a:ext cx="11266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202124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請將主題二及主題三分別作出摘要筆記，並拍照上傳</a:t>
            </a:r>
            <a:endParaRPr sz="36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359317" cy="6858000"/>
          </a:xfrm>
          <a:prstGeom prst="rect">
            <a:avLst/>
          </a:prstGeom>
          <a:solidFill>
            <a:srgbClr val="E0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2000" cy="1371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222253" y="607154"/>
            <a:ext cx="591183" cy="591183"/>
          </a:xfrm>
          <a:prstGeom prst="rect">
            <a:avLst/>
          </a:prstGeom>
          <a:solidFill>
            <a:srgbClr val="E0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9920" y="5257800"/>
            <a:ext cx="2326640" cy="457200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3052"/>
                </a:solidFill>
                <a:latin typeface="Times New Roman"/>
              </a:defRPr>
            </a:pPr>
            <a:r>
              <a:t>Inquiry &amp;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155CC"/>
                </a:solidFill>
                <a:latin typeface="Microsoft JhengHei"/>
              </a:defRPr>
            </a:pPr>
            <a:r>
              <a:t>國立嘉義高中 201 班 · 自然科學探究與實作短講</a:t>
            </a:r>
          </a:p>
          <a:p>
            <a:pPr>
              <a:spcAft>
                <a:spcPts val="1200"/>
              </a:spcAft>
              <a:defRPr sz="4600" b="1">
                <a:solidFill>
                  <a:srgbClr val="1C3052"/>
                </a:solidFill>
                <a:latin typeface="Microsoft JhengHei"/>
              </a:defRPr>
            </a:pPr>
            <a:r>
              <a:t>木頭耳機能召喚飛機嗎？</a:t>
            </a:r>
          </a:p>
          <a:p>
            <a:pPr>
              <a:spcAft>
                <a:spcPts val="3600"/>
              </a:spcAft>
              <a:defRPr sz="2500">
                <a:solidFill>
                  <a:srgbClr val="212121"/>
                </a:solidFill>
                <a:latin typeface="Microsoft JhengHei"/>
              </a:defRPr>
            </a:pPr>
            <a:r>
              <a:t>探索科學的邊界：從亞里斯多德、波普爾到費曼的「貨物崇拜」</a:t>
            </a:r>
          </a:p>
        </p:txBody>
      </p:sp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EA4335"/>
                </a:solidFill>
                <a:latin typeface="Microsoft JhengHei"/>
              </a:defRPr>
            </a:pPr>
            <a:r>
              <a:t>⚔️ 認知衝突</a:t>
            </a:r>
          </a:p>
          <a:p>
            <a:pPr>
              <a:defRPr sz="3600" b="1">
                <a:solidFill>
                  <a:srgbClr val="1C3052"/>
                </a:solidFill>
                <a:latin typeface="Microsoft JhengHei"/>
              </a:defRPr>
            </a:pPr>
            <a:r>
              <a:t>哪一個，才是真正的「科學」？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39319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400"/>
              </a:spcAft>
              <a:defRPr sz="2600" b="1">
                <a:solidFill>
                  <a:srgbClr val="C5221F"/>
                </a:solidFill>
                <a:latin typeface="Microsoft JhengHei"/>
              </a:defRPr>
            </a:pPr>
            <a:r>
              <a:t>候選者 A：量子共振手環</a:t>
            </a:r>
          </a:p>
          <a:p>
            <a:pPr>
              <a:spcAft>
                <a:spcPts val="800"/>
              </a:spcAft>
              <a:defRPr sz="2300">
                <a:solidFill>
                  <a:srgbClr val="212121"/>
                </a:solidFill>
                <a:latin typeface="Microsoft JhengHei"/>
              </a:defRPr>
            </a:pPr>
            <a:r>
              <a:t>• 宣稱導入「次微米諧振頻率」</a:t>
            </a:r>
          </a:p>
          <a:p>
            <a:pPr>
              <a:spcAft>
                <a:spcPts val="800"/>
              </a:spcAft>
              <a:defRPr sz="2300">
                <a:solidFill>
                  <a:srgbClr val="212121"/>
                </a:solidFill>
                <a:latin typeface="Microsoft JhengHei"/>
              </a:defRPr>
            </a:pPr>
            <a:r>
              <a:t>• 附專利磁場圖譜、國際認證</a:t>
            </a:r>
          </a:p>
          <a:p>
            <a:pPr>
              <a:spcAft>
                <a:spcPts val="800"/>
              </a:spcAft>
              <a:defRPr sz="2300">
                <a:solidFill>
                  <a:srgbClr val="212121"/>
                </a:solidFill>
                <a:latin typeface="Microsoft JhengHei"/>
              </a:defRPr>
            </a:pPr>
            <a:r>
              <a:t>• 售價高達 NT$ 3,990 元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500" b="1">
                <a:solidFill>
                  <a:srgbClr val="EA4335"/>
                </a:solidFill>
                <a:latin typeface="Microsoft JhengHei"/>
              </a:defRPr>
            </a:pPr>
            <a:r>
              <a:t>❌ 典型「偽科學」！</a:t>
            </a:r>
          </a:p>
          <a:p>
            <a:pPr>
              <a:defRPr sz="2200">
                <a:solidFill>
                  <a:srgbClr val="595959"/>
                </a:solidFill>
                <a:latin typeface="Microsoft JhengHei"/>
              </a:defRPr>
            </a:pPr>
            <a:r>
              <a:t>名詞高大上、永遠不可證偽。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120640" cy="393192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400"/>
              </a:spcAft>
              <a:defRPr sz="2600" b="1">
                <a:solidFill>
                  <a:srgbClr val="1C3052"/>
                </a:solidFill>
                <a:latin typeface="Microsoft JhengHei"/>
              </a:defRPr>
            </a:pPr>
            <a:r>
              <a:t>候選者 B：探究 A+ 滿分報告</a:t>
            </a:r>
          </a:p>
          <a:p>
            <a:pPr>
              <a:spcAft>
                <a:spcPts val="800"/>
              </a:spcAft>
              <a:defRPr sz="2300">
                <a:solidFill>
                  <a:srgbClr val="212121"/>
                </a:solidFill>
                <a:latin typeface="Microsoft JhengHei"/>
              </a:defRPr>
            </a:pPr>
            <a:r>
              <a:t>• 單擺週期與公式差了 0.4 秒</a:t>
            </a:r>
          </a:p>
          <a:p>
            <a:pPr>
              <a:spcAft>
                <a:spcPts val="800"/>
              </a:spcAft>
              <a:defRPr sz="2300">
                <a:solidFill>
                  <a:srgbClr val="212121"/>
                </a:solidFill>
                <a:latin typeface="Microsoft JhengHei"/>
              </a:defRPr>
            </a:pPr>
            <a:r>
              <a:t>• 怕被扣分，組員悄悄修改數據</a:t>
            </a:r>
          </a:p>
          <a:p>
            <a:pPr>
              <a:spcAft>
                <a:spcPts val="800"/>
              </a:spcAft>
              <a:defRPr sz="2300">
                <a:solidFill>
                  <a:srgbClr val="212121"/>
                </a:solidFill>
                <a:latin typeface="Microsoft JhengHei"/>
              </a:defRPr>
            </a:pPr>
            <a:r>
              <a:t>• 圖表超漂亮，拿下全班最高分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500" b="1">
                <a:solidFill>
                  <a:srgbClr val="EA4335"/>
                </a:solidFill>
                <a:latin typeface="Microsoft JhengHei"/>
              </a:defRPr>
            </a:pPr>
            <a:r>
              <a:t>❌ 典型「貨物崇拜」！</a:t>
            </a:r>
          </a:p>
          <a:p>
            <a:pPr>
              <a:defRPr sz="2200">
                <a:solidFill>
                  <a:srgbClr val="595959"/>
                </a:solidFill>
                <a:latin typeface="Microsoft JhengHei"/>
              </a:defRPr>
            </a:pPr>
            <a:r>
              <a:t>外表完美複製，但丟了誠實與靈魂。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r>
              <a:t>🧭 雙 GPS 定位</a:t>
            </a:r>
          </a:p>
          <a:p>
            <a:pPr>
              <a:defRPr sz="3600" b="1">
                <a:solidFill>
                  <a:srgbClr val="1C3052"/>
                </a:solidFill>
                <a:latin typeface="Microsoft JhengHei"/>
              </a:defRPr>
            </a:pPr>
            <a:r>
              <a:t>今天短講的四個探案關卡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182880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r>
              <a:t>第一站 · 字源考古</a:t>
            </a:r>
          </a:p>
          <a:p>
            <a:pPr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亞里斯多德 Episteme ➔ 羅馬 Scientia ➔ 1833 休厄爾 Scientist ➔ 西周分科之學。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120640" cy="182880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r>
              <a:t>第二站 · 波普爾之刀</a:t>
            </a:r>
          </a:p>
          <a:p>
            <a:pPr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分界問題：可證偽性（Falsifiability）。敢冒被推翻風險的才是真正科學！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03320"/>
            <a:ext cx="5120640" cy="18288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r>
              <a:t>第三站 · 費曼照妖鏡</a:t>
            </a:r>
          </a:p>
          <a:p>
            <a:pPr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貨物崇拜科學：荒島竹子跑道、密立根油滴爬樓梯、高二探究自欺痛點。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03320"/>
            <a:ext cx="5120640" cy="18288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1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8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r>
              <a:t>第四站 · 實戰雙稜鏡</a:t>
            </a:r>
          </a:p>
          <a:p>
            <a:pPr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課堂破案大擂台！交付隨身武器：波普爾之鏡照對手，費曼之鏡照自己。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r>
              <a:t>🏛️ 第一站：字源考古</a:t>
            </a:r>
          </a:p>
          <a:p>
            <a:pPr>
              <a:defRPr sz="3600" b="1">
                <a:solidFill>
                  <a:srgbClr val="1C3052"/>
                </a:solidFill>
                <a:latin typeface="Microsoft JhengHei"/>
              </a:defRPr>
            </a:pPr>
            <a:r>
              <a:t>「科學」不是天上掉下來的演進史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607040" cy="841248"/>
          </a:xfrm>
          <a:prstGeom prst="roundRect">
            <a:avLst/>
          </a:prstGeom>
          <a:solidFill>
            <a:srgbClr val="E0EFF6"/>
          </a:solidFill>
          <a:ln w="1524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2200" b="1">
                <a:solidFill>
                  <a:srgbClr val="1C3052"/>
                </a:solidFill>
                <a:latin typeface="Microsoft JhengHei"/>
              </a:defRPr>
            </a:pPr>
            <a:r>
              <a:t>【西元前 4 世紀 · 希臘】 </a:t>
            </a:r>
            <a:r>
              <a:rPr sz="2200" b="0">
                <a:solidFill>
                  <a:srgbClr val="212121"/>
                </a:solidFill>
                <a:latin typeface="Microsoft JhengHei"/>
              </a:rPr>
              <a:t>亞里斯多德 Episteme（有系統的真知） vs Doxa（憑感覺的主觀意見）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607040" cy="841248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11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2200" b="1">
                <a:solidFill>
                  <a:srgbClr val="1155CC"/>
                </a:solidFill>
                <a:latin typeface="Microsoft JhengHei"/>
              </a:defRPr>
            </a:pPr>
            <a:r>
              <a:t>【西元前 1 世紀 · 羅馬】 </a:t>
            </a:r>
            <a:r>
              <a:rPr sz="2200" b="0">
                <a:solidFill>
                  <a:srgbClr val="212121"/>
                </a:solidFill>
                <a:latin typeface="Microsoft JhengHei"/>
              </a:rPr>
              <a:t>西塞羅翻譯為 Scientia（字根 scire：去知道、探求），泛指一切學問與技術體系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11880"/>
            <a:ext cx="10607040" cy="841248"/>
          </a:xfrm>
          <a:prstGeom prst="roundRect">
            <a:avLst/>
          </a:prstGeom>
          <a:solidFill>
            <a:srgbClr val="E1EFD8"/>
          </a:solidFill>
          <a:ln w="15240">
            <a:solidFill>
              <a:srgbClr val="1E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2200" b="1">
                <a:solidFill>
                  <a:srgbClr val="1E7E34"/>
                </a:solidFill>
                <a:latin typeface="Microsoft JhengHei"/>
              </a:defRPr>
            </a:pPr>
            <a:r>
              <a:t>【1833 年 · 英國】 </a:t>
            </a:r>
            <a:r>
              <a:rPr sz="2200" b="0">
                <a:solidFill>
                  <a:srgbClr val="212121"/>
                </a:solidFill>
                <a:latin typeface="Microsoft JhengHei"/>
              </a:rPr>
              <a:t>休厄爾首創 "Scientist"（科學家），科學正式專指實證的自然科學領域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07040" cy="841248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2200" b="1">
                <a:solidFill>
                  <a:srgbClr val="FFD966"/>
                </a:solidFill>
                <a:latin typeface="Microsoft JhengHei"/>
              </a:defRPr>
            </a:pPr>
            <a:r>
              <a:t>【1874 年 · 東亞】 </a:t>
            </a:r>
            <a:r>
              <a:rPr sz="2200" b="0">
                <a:solidFill>
                  <a:srgbClr val="212121"/>
                </a:solidFill>
                <a:latin typeface="Microsoft JhengHei"/>
              </a:rPr>
              <a:t>日本西周翻譯為「科學」（分科之學），梁啟超引入成為五四運動的「賽先生」</a:t>
            </a:r>
          </a:p>
        </p:txBody>
      </p:sp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r>
              <a:t>⚖️ 第二站：分界問題</a:t>
            </a:r>
          </a:p>
          <a:p>
            <a:pPr>
              <a:defRPr sz="3600" b="1">
                <a:solidFill>
                  <a:srgbClr val="1C3052"/>
                </a:solidFill>
                <a:latin typeface="Microsoft JhengHei"/>
              </a:defRPr>
            </a:pPr>
            <a:r>
              <a:t>波普爾之刀：科學 vs 非科學 vs 偽科學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383280" cy="393192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400"/>
              </a:spcAft>
              <a:defRPr sz="2500" b="1">
                <a:solidFill>
                  <a:srgbClr val="1E7E34"/>
                </a:solidFill>
                <a:latin typeface="Microsoft JhengHei"/>
              </a:defRPr>
            </a:pPr>
            <a:r>
              <a:t>科學 (Science)</a:t>
            </a:r>
          </a:p>
          <a:p>
            <a:pPr>
              <a:spcAft>
                <a:spcPts val="1400"/>
              </a:spcAft>
              <a:defRPr sz="1900" b="1">
                <a:solidFill>
                  <a:srgbClr val="1C3052"/>
                </a:solidFill>
                <a:latin typeface="Microsoft JhengHei"/>
              </a:defRPr>
            </a:pPr>
            <a:r>
              <a:t>可證偽性 (Falsifiability)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• 敢於冒著被證明是錯的風險！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• 愛因斯坦：日全蝕光線若未彎曲，我認輸！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• 隨時準備接受客觀檢驗與推翻。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91640"/>
            <a:ext cx="3383280" cy="39319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400"/>
              </a:spcAft>
              <a:defRPr sz="2500" b="1">
                <a:solidFill>
                  <a:srgbClr val="595959"/>
                </a:solidFill>
                <a:latin typeface="Microsoft JhengHei"/>
              </a:defRPr>
            </a:pPr>
            <a:r>
              <a:t>非科學 (Non-science)</a:t>
            </a:r>
          </a:p>
          <a:p>
            <a:pPr>
              <a:spcAft>
                <a:spcPts val="1400"/>
              </a:spcAft>
              <a:defRPr sz="1900" b="1">
                <a:solidFill>
                  <a:srgbClr val="1C3052"/>
                </a:solidFill>
                <a:latin typeface="Microsoft JhengHei"/>
              </a:defRPr>
            </a:pPr>
            <a:r>
              <a:t>無意偽裝的領域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• 文學、藝術、哲學、宗教信仰。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• 無法做實驗證明「這首詩美不美」。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• 具備無可替代的人文價值，不需強求符合科學。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91640"/>
            <a:ext cx="3383280" cy="39319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400"/>
              </a:spcAft>
              <a:defRPr sz="2500" b="1">
                <a:solidFill>
                  <a:srgbClr val="C5221F"/>
                </a:solidFill>
                <a:latin typeface="Microsoft JhengHei"/>
              </a:defRPr>
            </a:pPr>
            <a:r>
              <a:t>偽科學 (Pseudoscience)</a:t>
            </a:r>
          </a:p>
          <a:p>
            <a:pPr>
              <a:spcAft>
                <a:spcPts val="1400"/>
              </a:spcAft>
              <a:defRPr sz="1900" b="1">
                <a:solidFill>
                  <a:srgbClr val="1C3052"/>
                </a:solidFill>
                <a:latin typeface="Microsoft JhengHei"/>
              </a:defRPr>
            </a:pPr>
            <a:r>
              <a:t>披著羊皮的狼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• 明明不可證偽，卻宣稱符合最新科學！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• 算命占星：準了是大師神，不準是水逆干擾。</a:t>
            </a:r>
          </a:p>
          <a:p>
            <a:pPr>
              <a:spcAft>
                <a:spcPts val="800"/>
              </a:spcAft>
              <a:defRPr sz="2000">
                <a:solidFill>
                  <a:srgbClr val="212121"/>
                </a:solidFill>
                <a:latin typeface="Microsoft JhengHei"/>
              </a:defRPr>
            </a:pPr>
            <a:r>
              <a:t>• 永遠立於不敗之地 ＝ 永遠不是科學！</a:t>
            </a:r>
          </a:p>
        </p:txBody>
      </p:sp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r>
              <a:t>🦢 關鍵思維實驗</a:t>
            </a:r>
          </a:p>
          <a:p>
            <a:pPr>
              <a:defRPr sz="3600" b="1">
                <a:solidFill>
                  <a:srgbClr val="1C3052"/>
                </a:solidFill>
                <a:latin typeface="Microsoft JhengHei"/>
              </a:defRPr>
            </a:pPr>
            <a:r>
              <a:t>一萬隻白天鵝，能證明「全天下天鵝皆白」嗎？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607040" cy="246888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200"/>
              </a:spcAft>
              <a:defRPr sz="2600" b="1">
                <a:solidFill>
                  <a:srgbClr val="1C3052"/>
                </a:solidFill>
                <a:latin typeface="Microsoft JhengHei"/>
              </a:defRPr>
            </a:pPr>
            <a:r>
              <a:t>💥 歸納法的致命死穴與一擊必殺</a:t>
            </a:r>
          </a:p>
          <a:p>
            <a:pPr>
              <a:defRPr sz="2300">
                <a:solidFill>
                  <a:srgbClr val="212121"/>
                </a:solidFill>
                <a:latin typeface="Microsoft JhengHei"/>
              </a:defRPr>
            </a:pPr>
            <a:r>
              <a:t>• 你在歐洲觀測了 1,000 隻、10,000 隻、1,000,000 隻白天鵝...</a:t>
            </a:r>
          </a:p>
          <a:p>
            <a:pPr>
              <a:spcAft>
                <a:spcPts val="800"/>
              </a:spcAft>
              <a:defRPr sz="2200">
                <a:solidFill>
                  <a:srgbClr val="595959"/>
                </a:solidFill>
                <a:latin typeface="Microsoft JhengHei"/>
              </a:defRPr>
            </a:pPr>
            <a:r>
              <a:t>   ➔ 你只能說「目前為止都是白的」，但永遠無法證明「世界上沒有其他顏色」。</a:t>
            </a:r>
          </a:p>
          <a:p>
            <a:pPr>
              <a:defRPr sz="2300" b="1">
                <a:solidFill>
                  <a:srgbClr val="EA4335"/>
                </a:solidFill>
                <a:latin typeface="Microsoft JhengHei"/>
              </a:defRPr>
            </a:pPr>
            <a:r>
              <a:t>• 然而，只要在澳洲發現【1 隻黑天鵝】——</a:t>
            </a:r>
          </a:p>
          <a:p>
            <a:pPr>
              <a:defRPr sz="2200" b="1">
                <a:solidFill>
                  <a:srgbClr val="C5221F"/>
                </a:solidFill>
                <a:latin typeface="Microsoft JhengHei"/>
              </a:defRPr>
            </a:pPr>
            <a:r>
              <a:t>   ➔ 累積千百年的美麗假說，在 0.1 秒內瞬間粉碎！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43400"/>
            <a:ext cx="10607040" cy="128016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4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r>
              <a:t>💡 波普爾洞見：</a:t>
            </a:r>
          </a:p>
          <a:p>
            <a:pPr>
              <a:defRPr sz="2500" b="1">
                <a:solidFill>
                  <a:srgbClr val="C5221F"/>
                </a:solidFill>
                <a:latin typeface="Microsoft JhengHei"/>
              </a:defRPr>
            </a:pPr>
            <a:r>
              <a:t>科學理論永遠不可能被「完全證實」，它只能被「暫時未被推翻」！</a:t>
            </a:r>
          </a:p>
        </p:txBody>
      </p:sp>
    </p:spTree>
    <p:custDataLst>
      <p:tags r:id="rId1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r>
              <a:t>✈️ 第三站：費曼照妖鏡</a:t>
            </a:r>
          </a:p>
          <a:p>
            <a:pPr>
              <a:defRPr sz="3600" b="1">
                <a:solidFill>
                  <a:srgbClr val="1C3052"/>
                </a:solidFill>
                <a:latin typeface="Microsoft JhengHei"/>
              </a:defRPr>
            </a:pPr>
            <a:r>
              <a:t>費曼 1974 傳奇演說：貨物崇拜科學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393192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200"/>
              </a:spcAft>
              <a:defRPr sz="2600" b="1">
                <a:solidFill>
                  <a:srgbClr val="1C3052"/>
                </a:solidFill>
                <a:latin typeface="Microsoft JhengHei"/>
              </a:defRPr>
            </a:pPr>
            <a:r>
              <a:t>🏝️ 南太平洋荒島儀式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• 二戰美軍降落小島帶來大量物資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• 戰後美軍離開，物資徹底中斷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• 島民用泥土開闢跑道、生起篝火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• 用竹子蓋塔台、戴原木雕刻耳機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• 虔誠祈禱，深信飛機會再次降落</a:t>
            </a:r>
          </a:p>
          <a:p>
            <a:pPr>
              <a:spcBef>
                <a:spcPts val="800"/>
              </a:spcBef>
              <a:defRPr sz="2400" b="1">
                <a:solidFill>
                  <a:srgbClr val="EA4335"/>
                </a:solidFill>
                <a:latin typeface="Microsoft JhengHei"/>
              </a:defRPr>
            </a:pPr>
            <a:r>
              <a:t>👉 結果：飛機永遠沒有再來！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242560" cy="39319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2600" b="1">
                <a:solidFill>
                  <a:srgbClr val="C5221F"/>
                </a:solidFill>
                <a:latin typeface="Microsoft JhengHei"/>
              </a:defRPr>
            </a:pPr>
            <a:r>
              <a:rPr dirty="0"/>
              <a:t>🪵 </a:t>
            </a:r>
            <a:r>
              <a:rPr dirty="0" err="1"/>
              <a:t>費曼的辛辣批判</a:t>
            </a:r>
            <a:endParaRPr dirty="0"/>
          </a:p>
          <a:p>
            <a:pPr>
              <a:spcAft>
                <a:spcPts val="1000"/>
              </a:spcAft>
              <a:defRPr sz="2200" b="1">
                <a:solidFill>
                  <a:srgbClr val="1C3052"/>
                </a:solidFill>
                <a:latin typeface="Microsoft JhengHei"/>
              </a:defRPr>
            </a:pPr>
            <a:r>
              <a:rPr dirty="0" err="1"/>
              <a:t>許多實驗報告與專案，就像那副木頭耳機</a:t>
            </a:r>
            <a:r>
              <a:rPr dirty="0"/>
              <a:t>！</a:t>
            </a:r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實驗步驟很完整、統計圖表很炫砲</a:t>
            </a:r>
            <a:endParaRPr dirty="0"/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引用大量權威論文與高深專有名詞</a:t>
            </a:r>
            <a:endParaRPr dirty="0"/>
          </a:p>
          <a:p>
            <a:pPr>
              <a:spcAft>
                <a:spcPts val="6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表面外觀形式做足了</a:t>
            </a:r>
            <a:r>
              <a:rPr dirty="0"/>
              <a:t> 100 分</a:t>
            </a:r>
            <a:endParaRPr lang="en-US" dirty="0"/>
          </a:p>
          <a:p>
            <a:pPr>
              <a:spcBef>
                <a:spcPts val="1000"/>
              </a:spcBef>
              <a:defRPr sz="2400" b="1">
                <a:solidFill>
                  <a:srgbClr val="C5221F"/>
                </a:solidFill>
                <a:latin typeface="Microsoft JhengHei"/>
              </a:defRPr>
            </a:pPr>
            <a:r>
              <a:rPr lang="zh-TW" altLang="en-US" dirty="0">
                <a:solidFill>
                  <a:srgbClr val="FFF2CC"/>
                </a:solidFill>
              </a:rPr>
              <a:t>底層卻徹底喪失了</a:t>
            </a:r>
            <a:r>
              <a:rPr lang="en-US" altLang="zh-TW" dirty="0">
                <a:solidFill>
                  <a:srgbClr val="FFF2CC"/>
                </a:solidFill>
              </a:rPr>
              <a:t>【</a:t>
            </a:r>
            <a:r>
              <a:rPr lang="zh-TW" altLang="en-US" dirty="0">
                <a:solidFill>
                  <a:srgbClr val="FFF2CC"/>
                </a:solidFill>
              </a:rPr>
              <a:t>科學誠實</a:t>
            </a:r>
            <a:r>
              <a:rPr lang="en-US" altLang="zh-TW" dirty="0">
                <a:solidFill>
                  <a:srgbClr val="FFF2CC"/>
                </a:solidFill>
              </a:rPr>
              <a:t>】</a:t>
            </a:r>
            <a:r>
              <a:rPr lang="zh-TW" altLang="en-US" dirty="0">
                <a:solidFill>
                  <a:srgbClr val="FFF2CC"/>
                </a:solidFill>
              </a:rPr>
              <a:t>！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4875678-6513-6D6A-63C5-1B54E07470E7}"/>
              </a:ext>
            </a:extLst>
          </p:cNvPr>
          <p:cNvSpPr txBox="1"/>
          <p:nvPr/>
        </p:nvSpPr>
        <p:spPr>
          <a:xfrm>
            <a:off x="6316243" y="4704695"/>
            <a:ext cx="6145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400" b="1">
                <a:solidFill>
                  <a:srgbClr val="C5221F"/>
                </a:solidFill>
                <a:latin typeface="Microsoft JhengHei"/>
              </a:defRPr>
            </a:pPr>
            <a:r>
              <a:rPr lang="zh-TW" altLang="en-US" dirty="0"/>
              <a:t>⚠️ 底層卻徹底喪失了</a:t>
            </a:r>
            <a:r>
              <a:rPr lang="en-US" altLang="zh-TW" dirty="0"/>
              <a:t>【</a:t>
            </a:r>
            <a:r>
              <a:rPr lang="zh-TW" altLang="en-US" dirty="0"/>
              <a:t>科學誠實</a:t>
            </a:r>
            <a:r>
              <a:rPr lang="en-US" altLang="zh-TW" dirty="0"/>
              <a:t>】</a:t>
            </a:r>
            <a:r>
              <a:rPr lang="zh-TW" altLang="en-US" dirty="0"/>
              <a:t>！</a:t>
            </a:r>
          </a:p>
        </p:txBody>
      </p:sp>
    </p:spTree>
    <p:custDataLst>
      <p:tags r:id="rId1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r>
              <a:t>📉 科學史最酸故事</a:t>
            </a:r>
          </a:p>
          <a:p>
            <a:pPr>
              <a:defRPr sz="3600" b="1">
                <a:solidFill>
                  <a:srgbClr val="1C3052"/>
                </a:solidFill>
                <a:latin typeface="Microsoft JhengHei"/>
              </a:defRPr>
            </a:pPr>
            <a:r>
              <a:t>密立根油滴實驗：連大科學家都會集體自欺！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607040" cy="25603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000"/>
              </a:spcAft>
              <a:defRPr sz="2600" b="1">
                <a:solidFill>
                  <a:srgbClr val="1C3052"/>
                </a:solidFill>
                <a:latin typeface="Microsoft JhengHei"/>
              </a:defRPr>
            </a:pPr>
            <a:r>
              <a:t>長達 25 年的「爬樓梯」集體自我欺騙</a:t>
            </a:r>
          </a:p>
          <a:p>
            <a:pPr>
              <a:spcAft>
                <a:spcPts val="4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• 密立根測量電子電荷 e，因空氣黏滯係數基準偏低，數值稍微偏小。</a:t>
            </a:r>
          </a:p>
          <a:p>
            <a:pPr>
              <a:defRPr sz="2200" b="1">
                <a:solidFill>
                  <a:srgbClr val="1C3052"/>
                </a:solidFill>
                <a:latin typeface="Microsoft JhengHei"/>
              </a:defRPr>
            </a:pPr>
            <a:r>
              <a:t>• 後續科學家重複實驗：</a:t>
            </a:r>
          </a:p>
          <a:p>
            <a:pPr>
              <a:defRPr sz="2100">
                <a:solidFill>
                  <a:srgbClr val="EA4335"/>
                </a:solidFill>
                <a:latin typeface="Microsoft JhengHei"/>
              </a:defRPr>
            </a:pPr>
            <a:r>
              <a:t>   - 測出太高？➔「密立根是大師，肯定是我儀器量錯！」➔ 找藉口把數據修低。</a:t>
            </a:r>
          </a:p>
          <a:p>
            <a:pPr>
              <a:defRPr sz="2100">
                <a:solidFill>
                  <a:srgbClr val="1E7E34"/>
                </a:solidFill>
                <a:latin typeface="Microsoft JhengHei"/>
              </a:defRPr>
            </a:pPr>
            <a:r>
              <a:t>   - 測出相近？➔「太棒了，我做對了！」➔ 滿意發表。</a:t>
            </a:r>
          </a:p>
          <a:p>
            <a:pPr>
              <a:spcBef>
                <a:spcPts val="400"/>
              </a:spcBef>
              <a:defRPr sz="2200" b="1">
                <a:solidFill>
                  <a:srgbClr val="212121"/>
                </a:solidFill>
                <a:latin typeface="Microsoft JhengHei"/>
              </a:defRPr>
            </a:pPr>
            <a:r>
              <a:t>• 結果：數值花了整整 25 年，才一點一滴「爬」到現代真實值！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434840"/>
            <a:ext cx="10607040" cy="123444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400"/>
              </a:spcAft>
              <a:defRPr sz="2300" b="1">
                <a:solidFill>
                  <a:srgbClr val="1E7E34"/>
                </a:solidFill>
                <a:latin typeface="Microsoft JhengHei"/>
              </a:defRPr>
            </a:pPr>
            <a:r>
              <a:t>🔥 費曼第一原則 (Feynman's First Principle)：</a:t>
            </a:r>
          </a:p>
          <a:p>
            <a:pPr>
              <a:defRPr sz="2500" b="1">
                <a:solidFill>
                  <a:srgbClr val="1C3052"/>
                </a:solidFill>
                <a:latin typeface="Microsoft JhengHei"/>
              </a:defRPr>
            </a:pPr>
            <a:r>
              <a:t>「第一原則是你絕不能欺騙自己，而你自己就是最容易被欺騙的人！」</a:t>
            </a:r>
          </a:p>
        </p:txBody>
      </p:sp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EA4335"/>
                </a:solidFill>
                <a:latin typeface="Microsoft JhengHei"/>
              </a:defRPr>
            </a:pPr>
            <a:r>
              <a:t>🎯 痛擊探究現場</a:t>
            </a:r>
          </a:p>
          <a:p>
            <a:pPr>
              <a:defRPr sz="3600" b="1">
                <a:solidFill>
                  <a:srgbClr val="1C3052"/>
                </a:solidFill>
                <a:latin typeface="Microsoft JhengHei"/>
              </a:defRPr>
            </a:pPr>
            <a:r>
              <a:t>嘉中 201 探究實作自檢：你戴上木頭耳機了嗎？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39319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400"/>
              </a:spcAft>
              <a:defRPr sz="2600" b="1">
                <a:solidFill>
                  <a:srgbClr val="C5221F"/>
                </a:solidFill>
                <a:latin typeface="Microsoft JhengHei"/>
              </a:defRPr>
            </a:pPr>
            <a:r>
              <a:t>❌ 貨物崇拜（假科學惡習）</a:t>
            </a:r>
          </a:p>
          <a:p>
            <a:pPr>
              <a:spcAft>
                <a:spcPts val="10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• 偷刪離群值：數據不漂亮直接 Delete</a:t>
            </a:r>
          </a:p>
          <a:p>
            <a:pPr>
              <a:spcAft>
                <a:spcPts val="10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• 先射箭再畫靶：硬湊課本公式結論</a:t>
            </a:r>
          </a:p>
          <a:p>
            <a:pPr>
              <a:spcAft>
                <a:spcPts val="10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• 隱匿失敗：只放成功的 2 次，隱瞞失敗的 8 次</a:t>
            </a:r>
          </a:p>
          <a:p>
            <a:pPr>
              <a:spcAft>
                <a:spcPts val="10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• 把排版當科學：圖表美觀但物理意義空白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120640" cy="393192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400"/>
              </a:spcAft>
              <a:defRPr sz="2600" b="1">
                <a:solidFill>
                  <a:srgbClr val="1E7E34"/>
                </a:solidFill>
                <a:latin typeface="Microsoft JhengHei"/>
              </a:defRPr>
            </a:pPr>
            <a:r>
              <a:rPr dirty="0" err="1">
                <a:solidFill>
                  <a:srgbClr val="E1EFD8"/>
                </a:solidFill>
              </a:rPr>
              <a:t>正統探究（科學誠實姿態</a:t>
            </a:r>
            <a:r>
              <a:rPr dirty="0">
                <a:solidFill>
                  <a:srgbClr val="E1EFD8"/>
                </a:solidFill>
              </a:rPr>
              <a:t>）</a:t>
            </a:r>
            <a:r>
              <a:rPr lang="en-US" altLang="zh-TW" dirty="0">
                <a:solidFill>
                  <a:srgbClr val="E1EFD8"/>
                </a:solidFill>
              </a:rPr>
              <a:t>))</a:t>
            </a:r>
            <a:endParaRPr dirty="0">
              <a:solidFill>
                <a:srgbClr val="E1EFD8"/>
              </a:solidFill>
            </a:endParaRPr>
          </a:p>
          <a:p>
            <a:pPr>
              <a:spcAft>
                <a:spcPts val="10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保留異常：離群點往往隱藏未控制的關鍵變因</a:t>
            </a:r>
            <a:r>
              <a:rPr dirty="0"/>
              <a:t>！</a:t>
            </a:r>
          </a:p>
          <a:p>
            <a:pPr>
              <a:spcAft>
                <a:spcPts val="10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誠實面對假說破產：證明此路不通也是大貢獻</a:t>
            </a:r>
            <a:endParaRPr dirty="0"/>
          </a:p>
          <a:p>
            <a:pPr>
              <a:spcAft>
                <a:spcPts val="10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公開限制：主動把儀器誤差與局限攤在陽光下</a:t>
            </a:r>
            <a:endParaRPr dirty="0"/>
          </a:p>
          <a:p>
            <a:pPr>
              <a:spcAft>
                <a:spcPts val="1000"/>
              </a:spcAft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rPr dirty="0"/>
              <a:t>• </a:t>
            </a:r>
            <a:r>
              <a:rPr dirty="0" err="1"/>
              <a:t>絕不自欺：寧交有瑕疵的真數據，不交美化贗品</a:t>
            </a:r>
            <a:endParaRPr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230AC1F-732B-F6B6-82E6-E6141A233A74}"/>
              </a:ext>
            </a:extLst>
          </p:cNvPr>
          <p:cNvSpPr txBox="1"/>
          <p:nvPr/>
        </p:nvSpPr>
        <p:spPr>
          <a:xfrm>
            <a:off x="5705660" y="1791509"/>
            <a:ext cx="61451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2600" b="1">
                <a:solidFill>
                  <a:srgbClr val="1E7E34"/>
                </a:solidFill>
                <a:latin typeface="Microsoft JhengHei"/>
              </a:defRPr>
            </a:pPr>
            <a:r>
              <a:rPr lang="zh-TW" altLang="en-US" dirty="0"/>
              <a:t>✅ 正統探究（科學誠實姿態）</a:t>
            </a:r>
          </a:p>
        </p:txBody>
      </p:sp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r>
              <a:t>🌈 第四站：科學光譜</a:t>
            </a:r>
          </a:p>
          <a:p>
            <a:pPr>
              <a:defRPr sz="3600" b="1">
                <a:solidFill>
                  <a:srgbClr val="1C3052"/>
                </a:solidFill>
                <a:latin typeface="Microsoft JhengHei"/>
              </a:defRPr>
            </a:pPr>
            <a:r>
              <a:t>科學光譜五重奏：你在哪一個頻段？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2011680" cy="3931920"/>
          </a:xfrm>
          <a:prstGeom prst="roundRect">
            <a:avLst/>
          </a:prstGeom>
          <a:solidFill>
            <a:srgbClr val="FDE8E8"/>
          </a:solidFill>
          <a:ln w="15240">
            <a:solidFill>
              <a:srgbClr val="F2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600"/>
              </a:spcAft>
              <a:defRPr sz="2100" b="1">
                <a:solidFill>
                  <a:srgbClr val="C5221F"/>
                </a:solidFill>
                <a:latin typeface="Microsoft JhengHei"/>
              </a:defRPr>
            </a:pPr>
            <a:r>
              <a:t>反科學</a:t>
            </a:r>
            <a:br/>
            <a:r>
              <a:t>(Anti-science)</a:t>
            </a:r>
          </a:p>
          <a:p>
            <a:pPr>
              <a:spcAft>
                <a:spcPts val="1000"/>
              </a:spcAft>
              <a:defRPr sz="1700" b="1">
                <a:solidFill>
                  <a:srgbClr val="1C3052"/>
                </a:solidFill>
                <a:latin typeface="Microsoft JhengHei"/>
              </a:defRPr>
            </a:pPr>
            <a:r>
              <a:t>公開反對科學共識</a:t>
            </a:r>
          </a:p>
          <a:p>
            <a:pPr>
              <a:defRPr sz="1800">
                <a:solidFill>
                  <a:srgbClr val="212121"/>
                </a:solidFill>
                <a:latin typeface="Microsoft JhengHei"/>
              </a:defRPr>
            </a:pPr>
            <a:r>
              <a:t>如地平說、反疫苗。</a:t>
            </a:r>
            <a:br/>
            <a:r>
              <a:t>出於意識形態或利益，拒絕理性對話。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9504" y="1691640"/>
            <a:ext cx="2011680" cy="3931920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600"/>
              </a:spcAft>
              <a:defRPr sz="2100" b="1">
                <a:solidFill>
                  <a:srgbClr val="EA4335"/>
                </a:solidFill>
                <a:latin typeface="Microsoft JhengHei"/>
              </a:defRPr>
            </a:pPr>
            <a:r>
              <a:rPr dirty="0" err="1"/>
              <a:t>偽科學</a:t>
            </a:r>
            <a:br>
              <a:rPr dirty="0"/>
            </a:br>
            <a:r>
              <a:rPr dirty="0"/>
              <a:t>(Pseudo-)</a:t>
            </a:r>
          </a:p>
          <a:p>
            <a:pPr>
              <a:spcAft>
                <a:spcPts val="1000"/>
              </a:spcAft>
              <a:defRPr sz="1700" b="1">
                <a:solidFill>
                  <a:srgbClr val="1C3052"/>
                </a:solidFill>
                <a:latin typeface="Microsoft JhengHei"/>
              </a:defRPr>
            </a:pPr>
            <a:r>
              <a:rPr dirty="0" err="1"/>
              <a:t>模仿名詞，不可證偽</a:t>
            </a:r>
            <a:endParaRPr dirty="0"/>
          </a:p>
          <a:p>
            <a:pPr>
              <a:defRPr sz="1800">
                <a:solidFill>
                  <a:srgbClr val="212121"/>
                </a:solidFill>
                <a:latin typeface="Microsoft JhengHei"/>
              </a:defRPr>
            </a:pPr>
            <a:r>
              <a:rPr dirty="0" err="1"/>
              <a:t>如量子手環、占星</a:t>
            </a:r>
            <a:r>
              <a:rPr dirty="0"/>
              <a:t>。</a:t>
            </a:r>
            <a:br>
              <a:rPr dirty="0"/>
            </a:br>
            <a:r>
              <a:rPr dirty="0" err="1"/>
              <a:t>永遠立於不敗之地，絕不認錯</a:t>
            </a:r>
            <a:r>
              <a:rPr dirty="0"/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47488" y="1691640"/>
            <a:ext cx="2011680" cy="3931920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F6B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600"/>
              </a:spcAft>
              <a:defRPr sz="2100" b="1">
                <a:solidFill>
                  <a:srgbClr val="E37400"/>
                </a:solidFill>
                <a:latin typeface="Microsoft JhengHei"/>
              </a:defRPr>
            </a:pPr>
            <a:r>
              <a:rPr dirty="0" err="1"/>
              <a:t>貨物崇拜</a:t>
            </a:r>
            <a:br>
              <a:rPr dirty="0"/>
            </a:br>
            <a:r>
              <a:rPr dirty="0"/>
              <a:t>(Cargo Cult)</a:t>
            </a:r>
          </a:p>
          <a:p>
            <a:pPr>
              <a:spcAft>
                <a:spcPts val="1000"/>
              </a:spcAft>
              <a:defRPr sz="1700" b="1">
                <a:solidFill>
                  <a:srgbClr val="1C3052"/>
                </a:solidFill>
                <a:latin typeface="Microsoft JhengHei"/>
              </a:defRPr>
            </a:pPr>
            <a:r>
              <a:rPr dirty="0" err="1"/>
              <a:t>具備外殼，缺乏誠實</a:t>
            </a:r>
            <a:endParaRPr dirty="0"/>
          </a:p>
          <a:p>
            <a:pPr>
              <a:defRPr sz="1800">
                <a:solidFill>
                  <a:srgbClr val="212121"/>
                </a:solidFill>
                <a:latin typeface="Microsoft JhengHei"/>
              </a:defRPr>
            </a:pPr>
            <a:r>
              <a:rPr dirty="0" err="1"/>
              <a:t>如探究偷改數據、先射箭再畫靶</a:t>
            </a:r>
            <a:r>
              <a:rPr dirty="0"/>
              <a:t>。</a:t>
            </a:r>
            <a:br>
              <a:rPr dirty="0"/>
            </a:br>
            <a:r>
              <a:rPr dirty="0" err="1"/>
              <a:t>形式滿分、靈魂缺席</a:t>
            </a:r>
            <a:r>
              <a:rPr dirty="0"/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5472" y="1691640"/>
            <a:ext cx="2011680" cy="3931920"/>
          </a:xfrm>
          <a:prstGeom prst="roundRect">
            <a:avLst/>
          </a:prstGeom>
          <a:solidFill>
            <a:srgbClr val="E0EFF6"/>
          </a:solidFill>
          <a:ln w="1524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600"/>
              </a:spcAft>
              <a:defRPr sz="2100" b="1">
                <a:solidFill>
                  <a:srgbClr val="1155CC"/>
                </a:solidFill>
                <a:latin typeface="Microsoft JhengHei"/>
              </a:defRPr>
            </a:pPr>
            <a:r>
              <a:t>邊緣科學</a:t>
            </a:r>
            <a:br/>
            <a:r>
              <a:t>(Proto-)</a:t>
            </a:r>
          </a:p>
          <a:p>
            <a:pPr>
              <a:spcAft>
                <a:spcPts val="1000"/>
              </a:spcAft>
              <a:defRPr sz="1700" b="1">
                <a:solidFill>
                  <a:srgbClr val="1C3052"/>
                </a:solidFill>
                <a:latin typeface="Microsoft JhengHei"/>
              </a:defRPr>
            </a:pPr>
            <a:r>
              <a:t>非主流，但接受檢驗</a:t>
            </a:r>
          </a:p>
          <a:p>
            <a:pPr>
              <a:defRPr sz="1800">
                <a:solidFill>
                  <a:srgbClr val="212121"/>
                </a:solidFill>
                <a:latin typeface="Microsoft JhengHei"/>
              </a:defRPr>
            </a:pPr>
            <a:r>
              <a:t>如魏格納大陸漂移說。</a:t>
            </a:r>
            <a:br/>
            <a:r>
              <a:t>雖被嘲笑但尊重證據，有潛力升格。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63456" y="1691640"/>
            <a:ext cx="2011680" cy="3931920"/>
          </a:xfrm>
          <a:prstGeom prst="roundRect">
            <a:avLst/>
          </a:prstGeom>
          <a:solidFill>
            <a:srgbClr val="E1EFD8"/>
          </a:solidFill>
          <a:ln w="1524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600"/>
              </a:spcAft>
              <a:defRPr sz="2100" b="1">
                <a:solidFill>
                  <a:srgbClr val="1E7E34"/>
                </a:solidFill>
                <a:latin typeface="Microsoft JhengHei"/>
              </a:defRPr>
            </a:pPr>
            <a:r>
              <a:rPr dirty="0" err="1"/>
              <a:t>正統科學</a:t>
            </a:r>
            <a:br>
              <a:rPr dirty="0"/>
            </a:br>
            <a:r>
              <a:rPr dirty="0"/>
              <a:t>(Orthodox)</a:t>
            </a:r>
          </a:p>
          <a:p>
            <a:pPr>
              <a:spcAft>
                <a:spcPts val="1000"/>
              </a:spcAft>
              <a:defRPr sz="1700" b="1">
                <a:solidFill>
                  <a:srgbClr val="1C3052"/>
                </a:solidFill>
                <a:latin typeface="Microsoft JhengHei"/>
              </a:defRPr>
            </a:pPr>
            <a:r>
              <a:rPr dirty="0" err="1"/>
              <a:t>可證偽、重複檢驗</a:t>
            </a:r>
            <a:endParaRPr dirty="0"/>
          </a:p>
          <a:p>
            <a:pPr>
              <a:defRPr sz="1800">
                <a:solidFill>
                  <a:srgbClr val="212121"/>
                </a:solidFill>
                <a:latin typeface="Microsoft JhengHei"/>
              </a:defRPr>
            </a:pPr>
            <a:r>
              <a:rPr dirty="0" err="1"/>
              <a:t>如量子力學、相對論</a:t>
            </a:r>
            <a:r>
              <a:rPr dirty="0"/>
              <a:t>。</a:t>
            </a:r>
            <a:br>
              <a:rPr dirty="0"/>
            </a:br>
            <a:r>
              <a:rPr dirty="0" err="1"/>
              <a:t>歡迎全世界拿數據來打臉修正</a:t>
            </a:r>
            <a:r>
              <a:rPr dirty="0"/>
              <a:t>！</a:t>
            </a:r>
          </a:p>
        </p:txBody>
      </p:sp>
    </p:spTree>
    <p:custDataLst>
      <p:tags r:id="rId1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EA4335"/>
                </a:solidFill>
                <a:latin typeface="Microsoft JhengHei"/>
              </a:defRPr>
            </a:pPr>
            <a:r>
              <a:t>⚔️ 實戰大擂台</a:t>
            </a:r>
          </a:p>
          <a:p>
            <a:pPr>
              <a:defRPr sz="3600" b="1">
                <a:solidFill>
                  <a:srgbClr val="1C3052"/>
                </a:solidFill>
                <a:latin typeface="Microsoft JhengHei"/>
              </a:defRPr>
            </a:pPr>
            <a:r>
              <a:t>嘉中 201 破案挑戰賽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607040" cy="841248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2100" b="0">
                <a:solidFill>
                  <a:srgbClr val="212121"/>
                </a:solidFill>
                <a:latin typeface="Microsoft JhengHei"/>
              </a:defRPr>
            </a:pPr>
            <a:r>
              <a:t>情境 1：占星大師說水逆讓你倒楣，若順利是你心存善念抵銷了。  </a:t>
            </a:r>
            <a:r>
              <a:rPr sz="2200" b="1">
                <a:solidFill>
                  <a:srgbClr val="EA4335"/>
                </a:solidFill>
                <a:latin typeface="Microsoft JhengHei"/>
              </a:rPr>
              <a:t>👉 【偽科學】（永遠能圓場，不可證偽）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607040" cy="841248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E3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2100" b="0">
                <a:solidFill>
                  <a:srgbClr val="212121"/>
                </a:solidFill>
                <a:latin typeface="Microsoft JhengHei"/>
              </a:defRPr>
            </a:pPr>
            <a:r>
              <a:t>情境 2：高二某組單擺週期差 0.3 秒，組長偷偷改數據做出線性圖。  </a:t>
            </a:r>
            <a:r>
              <a:rPr sz="2200" b="1">
                <a:solidFill>
                  <a:srgbClr val="E37400"/>
                </a:solidFill>
                <a:latin typeface="Microsoft JhengHei"/>
              </a:rPr>
              <a:t>👉 【貨物崇拜科學】（外殼完美，欺騙自己）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11880"/>
            <a:ext cx="10607040" cy="841248"/>
          </a:xfrm>
          <a:prstGeom prst="roundRect">
            <a:avLst/>
          </a:prstGeom>
          <a:solidFill>
            <a:srgbClr val="E0EFF6"/>
          </a:solidFill>
          <a:ln w="15240">
            <a:solidFill>
              <a:srgbClr val="11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2100" b="0">
                <a:solidFill>
                  <a:srgbClr val="212121"/>
                </a:solidFill>
                <a:latin typeface="Microsoft JhengHei"/>
              </a:defRPr>
            </a:pPr>
            <a:r>
              <a:t>情境 3：1912 年魏格納提出大陸漂移說，當時被主流地質界笑是瘋子。  </a:t>
            </a:r>
            <a:r>
              <a:rPr sz="2200" b="1">
                <a:solidFill>
                  <a:srgbClr val="1155CC"/>
                </a:solidFill>
                <a:latin typeface="Microsoft JhengHei"/>
              </a:rPr>
              <a:t>👉 【邊緣科學】（提出證據並勇於接受檢驗）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07040" cy="841248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defRPr sz="2100" b="0">
                <a:solidFill>
                  <a:srgbClr val="212121"/>
                </a:solidFill>
                <a:latin typeface="Microsoft JhengHei"/>
              </a:defRPr>
            </a:pPr>
            <a:r>
              <a:t>情境 4：國文老師寫了一首探討 AI 與孤獨的新詩，感動無數人。  </a:t>
            </a:r>
            <a:r>
              <a:rPr sz="2200" b="1">
                <a:solidFill>
                  <a:srgbClr val="595959"/>
                </a:solidFill>
                <a:latin typeface="Microsoft JhengHei"/>
              </a:rPr>
              <a:t>👉 【非科學】（文學創作，深具價值但不需證偽）</a:t>
            </a:r>
          </a:p>
        </p:txBody>
      </p:sp>
    </p:spTree>
    <p:custDataLst>
      <p:tags r:id="rId1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r>
              <a:t>🛡️ 終局裝備交付</a:t>
            </a:r>
          </a:p>
          <a:p>
            <a:pPr>
              <a:defRPr sz="3600" b="1">
                <a:solidFill>
                  <a:srgbClr val="1C3052"/>
                </a:solidFill>
                <a:latin typeface="Microsoft JhengHei"/>
              </a:defRPr>
            </a:pPr>
            <a:r>
              <a:t>帶出教室的防身武器：科學偵測雙稜鏡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393192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1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400"/>
              </a:spcAft>
              <a:defRPr sz="2500" b="1">
                <a:solidFill>
                  <a:srgbClr val="1155CC"/>
                </a:solidFill>
                <a:latin typeface="Microsoft JhengHei"/>
              </a:defRPr>
            </a:pPr>
            <a:r>
              <a:t>🔍 第一稜鏡 · 波普爾之鏡（照對手）</a:t>
            </a:r>
          </a:p>
          <a:p>
            <a:pPr>
              <a:spcAft>
                <a:spcPts val="600"/>
              </a:spcAft>
              <a:defRPr sz="2200" b="1">
                <a:solidFill>
                  <a:srgbClr val="1C3052"/>
                </a:solidFill>
                <a:latin typeface="Microsoft JhengHei"/>
              </a:defRPr>
            </a:pPr>
            <a:r>
              <a:t>靈魂提問句：</a:t>
            </a:r>
          </a:p>
          <a:p>
            <a:pPr>
              <a:spcAft>
                <a:spcPts val="1400"/>
              </a:spcAft>
              <a:defRPr sz="2400" b="1">
                <a:solidFill>
                  <a:srgbClr val="C5221F"/>
                </a:solidFill>
                <a:latin typeface="Microsoft JhengHei"/>
              </a:defRPr>
            </a:pPr>
            <a:r>
              <a:t>「請問在什麼具體條件下，你會承認你的主張是錯的？」</a:t>
            </a:r>
          </a:p>
          <a:p>
            <a:pPr>
              <a:defRPr sz="2100" b="1">
                <a:solidFill>
                  <a:srgbClr val="1C3052"/>
                </a:solidFill>
                <a:latin typeface="Microsoft JhengHei"/>
              </a:defRPr>
            </a:pPr>
            <a:r>
              <a:t>👉 判定原則：</a:t>
            </a:r>
          </a:p>
          <a:p>
            <a:pPr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答不出來或永遠有藉口圓場者，立刻判定為【偽科學】！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120640" cy="393192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1E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400"/>
              </a:spcAft>
              <a:defRPr sz="2500" b="1">
                <a:solidFill>
                  <a:srgbClr val="1E7E34"/>
                </a:solidFill>
                <a:latin typeface="Microsoft JhengHei"/>
              </a:defRPr>
            </a:pPr>
            <a:r>
              <a:t>🛡️ 第二稜鏡 · 費曼之鏡（照自己）</a:t>
            </a:r>
          </a:p>
          <a:p>
            <a:pPr>
              <a:spcAft>
                <a:spcPts val="600"/>
              </a:spcAft>
              <a:defRPr sz="2200" b="1">
                <a:solidFill>
                  <a:srgbClr val="1C3052"/>
                </a:solidFill>
                <a:latin typeface="Microsoft JhengHei"/>
              </a:defRPr>
            </a:pPr>
            <a:r>
              <a:t>靈魂提問句：</a:t>
            </a:r>
          </a:p>
          <a:p>
            <a:pPr>
              <a:spcAft>
                <a:spcPts val="1400"/>
              </a:spcAft>
              <a:defRPr sz="2400" b="1">
                <a:solidFill>
                  <a:srgbClr val="1E7E34"/>
                </a:solidFill>
                <a:latin typeface="Microsoft JhengHei"/>
              </a:defRPr>
            </a:pPr>
            <a:r>
              <a:t>「我有沒有把可能推翻我假設的一切疑點，老實交代清楚？」</a:t>
            </a:r>
          </a:p>
          <a:p>
            <a:pPr>
              <a:defRPr sz="2100" b="1">
                <a:solidFill>
                  <a:srgbClr val="1C3052"/>
                </a:solidFill>
                <a:latin typeface="Microsoft JhengHei"/>
              </a:defRPr>
            </a:pPr>
            <a:r>
              <a:t>👉 判定原則：</a:t>
            </a:r>
          </a:p>
          <a:p>
            <a:pPr>
              <a:defRPr sz="2200">
                <a:solidFill>
                  <a:srgbClr val="212121"/>
                </a:solidFill>
                <a:latin typeface="Microsoft JhengHei"/>
              </a:defRPr>
            </a:pPr>
            <a:r>
              <a:t>寫探究報告時主動公開限制與異常，是【最高貴的科學品格】！</a:t>
            </a:r>
          </a:p>
        </p:txBody>
      </p:sp>
    </p:spTree>
    <p:custDataLst>
      <p:tags r:id="rId1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1C3052"/>
                </a:solidFill>
                <a:latin typeface="Microsoft JhengHei"/>
              </a:defRPr>
            </a:pPr>
            <a:r>
              <a:t>敬！敢於承認自己錯了的勇者</a:t>
            </a:r>
          </a:p>
          <a:p>
            <a:pPr>
              <a:defRPr sz="2800" b="1">
                <a:solidFill>
                  <a:srgbClr val="1155CC"/>
                </a:solidFill>
                <a:latin typeface="Microsoft JhengHei"/>
              </a:defRPr>
            </a:pPr>
            <a:r>
              <a:t>科學不是標準答案，而是一套勇敢修正自己的思考工具！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0607040" cy="292608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 algn="ctr">
              <a:spcAft>
                <a:spcPts val="1200"/>
              </a:spcAft>
              <a:defRPr sz="2800" b="1">
                <a:solidFill>
                  <a:srgbClr val="1C3052"/>
                </a:solidFill>
                <a:latin typeface="Microsoft JhengHei"/>
              </a:defRPr>
            </a:pPr>
            <a:r>
              <a:t>「摘下那副木頭耳機，不要再為虛假的飛機祈禱。</a:t>
            </a:r>
          </a:p>
          <a:p>
            <a:pPr>
              <a:spcAft>
                <a:spcPts val="1200"/>
              </a:spcAft>
              <a:defRPr sz="2800" b="1">
                <a:solidFill>
                  <a:srgbClr val="1C3052"/>
                </a:solidFill>
                <a:latin typeface="Microsoft JhengHei"/>
              </a:defRPr>
            </a:pPr>
            <a:r>
              <a:t> 當嘉中 201 的每位同學都敢誠實面對數據的瑕疵，</a:t>
            </a:r>
          </a:p>
          <a:p>
            <a:pPr>
              <a:spcAft>
                <a:spcPts val="2000"/>
              </a:spcAft>
              <a:defRPr sz="2800" b="1">
                <a:solidFill>
                  <a:srgbClr val="C5221F"/>
                </a:solidFill>
                <a:latin typeface="Microsoft JhengHei"/>
              </a:defRPr>
            </a:pPr>
            <a:r>
              <a:t> 真正的科學發現，就在那裡誕生。」</a:t>
            </a:r>
          </a:p>
          <a:p>
            <a:pPr>
              <a:defRPr sz="2400" b="1">
                <a:solidFill>
                  <a:srgbClr val="595959"/>
                </a:solidFill>
                <a:latin typeface="Microsoft JhengHei"/>
              </a:defRPr>
            </a:pPr>
            <a:r>
              <a:t>祝全班自然科學探究與實作順利 · Q &amp; A 討論時間</a:t>
            </a:r>
          </a:p>
        </p:txBody>
      </p:sp>
    </p:spTree>
    <p:custDataLst>
      <p:tags r:id="rId1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2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什麼是偽科學？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09" name="Google Shape;709;p52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0" name="Google Shape;710;p52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52"/>
          <p:cNvSpPr txBox="1"/>
          <p:nvPr/>
        </p:nvSpPr>
        <p:spPr>
          <a:xfrm>
            <a:off x="1564640" y="1709762"/>
            <a:ext cx="95910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偽科學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（Pseudoscience）是一種聲稱具有科學基礎或方法的信仰或理論，但實際上不符合科學方法的基本原則。偽科學通常</a:t>
            </a: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缺乏可檢驗的假設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沒有經過嚴格的實驗驗證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或者結果無法被重複驗證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。此外，偽科學往往忽視反證、缺乏透明性，並依賴於模糊或不可驗證的證據。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3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什麼是偽科學？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18" name="Google Shape;718;p53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9" name="Google Shape;719;p53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53"/>
          <p:cNvSpPr txBox="1"/>
          <p:nvPr/>
        </p:nvSpPr>
        <p:spPr>
          <a:xfrm>
            <a:off x="538480" y="5648523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 i="0" dirty="0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偽科學醫療資訊氾濫 別自己當醫師 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dirty="0">
                <a:solidFill>
                  <a:schemeClr val="dk1"/>
                </a:solidFill>
              </a:rPr>
              <a:t>https://www.youtube.com/watch?v=iG1PeCZAqs4</a:t>
            </a:r>
            <a:endParaRPr dirty="0"/>
          </a:p>
        </p:txBody>
      </p:sp>
      <p:pic>
        <p:nvPicPr>
          <p:cNvPr id="721" name="Google Shape;721;p5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96975" y="1849904"/>
            <a:ext cx="4514850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3"/>
          <p:cNvSpPr txBox="1"/>
          <p:nvPr/>
        </p:nvSpPr>
        <p:spPr>
          <a:xfrm>
            <a:off x="6853599" y="4340950"/>
            <a:ext cx="4083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 b="1">
                <a:latin typeface="Microsoft JhengHei"/>
                <a:ea typeface="Microsoft JhengHei"/>
                <a:cs typeface="Microsoft JhengHei"/>
                <a:sym typeface="Microsoft JhengHei"/>
              </a:rPr>
              <a:t>你覺得有可能嗎？Why？</a:t>
            </a:r>
            <a:endParaRPr sz="2700" b="1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23" name="Google Shape;723;p53"/>
          <p:cNvSpPr txBox="1"/>
          <p:nvPr/>
        </p:nvSpPr>
        <p:spPr>
          <a:xfrm>
            <a:off x="6523357" y="1849904"/>
            <a:ext cx="4744083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0" i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愛莉莎莎在這支影片中，嘗試進行印度的自然療法</a:t>
            </a:r>
            <a:r>
              <a:rPr lang="zh-TW" sz="18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「肝膽排石法」</a:t>
            </a:r>
            <a:r>
              <a:rPr lang="zh-TW" sz="1800" b="0" i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，並特地買相關書籍研究，並解說自己將在</a:t>
            </a:r>
            <a:r>
              <a:rPr lang="zh-TW" sz="1800" b="1" i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斷食的7天內只吃蔬菜與水果</a:t>
            </a:r>
            <a:r>
              <a:rPr lang="zh-TW" sz="1800" b="0" i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，等到了排石當天會先吃瀉鹽，她表示「吃這個要你的膽管變大好幾倍，到時會比較容易將結石排出」，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4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什麼是偽科學？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30" name="Google Shape;730;p54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1" name="Google Shape;731;p54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54"/>
          <p:cNvSpPr txBox="1"/>
          <p:nvPr/>
        </p:nvSpPr>
        <p:spPr>
          <a:xfrm>
            <a:off x="538480" y="5648523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 i="0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偽科學醫療資訊氾濫 別自己當醫師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https://www.youtube.com/watch?v=iG1PeCZAqs4</a:t>
            </a:r>
            <a:endParaRPr/>
          </a:p>
        </p:txBody>
      </p:sp>
      <p:pic>
        <p:nvPicPr>
          <p:cNvPr id="733" name="Google Shape;733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6975" y="1849904"/>
            <a:ext cx="4514850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54"/>
          <p:cNvSpPr txBox="1"/>
          <p:nvPr/>
        </p:nvSpPr>
        <p:spPr>
          <a:xfrm>
            <a:off x="6523357" y="3698537"/>
            <a:ext cx="47442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0" i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愛莉莎莎影片中「排出綠色膽石」，其實只是大量的橄欖油和葡萄柚汁在體內皂化反應形成的「皂化石」，跟膽結石的清除一點關係都沒有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35" name="Google Shape;735;p54"/>
          <p:cNvSpPr txBox="1"/>
          <p:nvPr/>
        </p:nvSpPr>
        <p:spPr>
          <a:xfrm>
            <a:off x="6523357" y="1849904"/>
            <a:ext cx="47442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0" i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愛莉莎莎在這支影片中，嘗試進行印度的自然療法</a:t>
            </a:r>
            <a:r>
              <a:rPr lang="zh-TW" sz="18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「肝膽排石法」</a:t>
            </a:r>
            <a:r>
              <a:rPr lang="zh-TW" sz="1800" b="0" i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，並特地買相關書籍研究，並解說自己將在</a:t>
            </a:r>
            <a:r>
              <a:rPr lang="zh-TW" sz="1800" b="1" i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斷食的7天內只吃蔬菜與水果</a:t>
            </a:r>
            <a:r>
              <a:rPr lang="zh-TW" sz="1800" b="0" i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，等到了排石當天會先吃瀉鹽，她表示「吃這個要你的膽管變大好幾倍，到時會比較容易將結石排出」，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36" name="Google Shape;736;p54"/>
          <p:cNvSpPr txBox="1"/>
          <p:nvPr/>
        </p:nvSpPr>
        <p:spPr>
          <a:xfrm>
            <a:off x="6634475" y="4899125"/>
            <a:ext cx="4329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dirty="0">
                <a:solidFill>
                  <a:schemeClr val="dk1"/>
                </a:solidFill>
              </a:rPr>
              <a:t>https://www.youtube.com/watch?v=ZV2Ss724vC0</a:t>
            </a:r>
            <a:endParaRPr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55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什麼是偽科學？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43" name="Google Shape;743;p55"/>
          <p:cNvSpPr txBox="1"/>
          <p:nvPr/>
        </p:nvSpPr>
        <p:spPr>
          <a:xfrm>
            <a:off x="7614925" y="1346275"/>
            <a:ext cx="29571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zh-TW" sz="3450" b="1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量子共振分色</a:t>
            </a:r>
            <a:endParaRPr sz="3450" b="1">
              <a:solidFill>
                <a:srgbClr val="0F0F0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p55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5" name="Google Shape;74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575" y="2013024"/>
            <a:ext cx="5173799" cy="29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55"/>
          <p:cNvSpPr txBox="1"/>
          <p:nvPr/>
        </p:nvSpPr>
        <p:spPr>
          <a:xfrm>
            <a:off x="6506575" y="5816165"/>
            <a:ext cx="5056160" cy="1154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 u="sng" dirty="0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4"/>
              </a:rPr>
              <a:t>https://www.youtube.com/watch?v=aoPhMd9JuQk</a:t>
            </a:r>
            <a:endParaRPr sz="21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47" name="Google Shape;747;p55"/>
          <p:cNvSpPr txBox="1"/>
          <p:nvPr/>
        </p:nvSpPr>
        <p:spPr>
          <a:xfrm>
            <a:off x="1012475" y="4829521"/>
            <a:ext cx="4933957" cy="954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200" dirty="0">
                <a:solidFill>
                  <a:schemeClr val="dk1"/>
                </a:solidFill>
                <a:hlinkClick r:id="rId5"/>
              </a:rPr>
              <a:t>https://www.youtube.com/watch?v=35YwR2az9nk</a:t>
            </a:r>
            <a:endParaRPr lang="en-US" altLang="zh-TW" sz="2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 dirty="0"/>
          </a:p>
        </p:txBody>
      </p:sp>
      <p:pic>
        <p:nvPicPr>
          <p:cNvPr id="748" name="Google Shape;748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2475" y="2043963"/>
            <a:ext cx="4933957" cy="2824538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55"/>
          <p:cNvSpPr txBox="1"/>
          <p:nvPr/>
        </p:nvSpPr>
        <p:spPr>
          <a:xfrm>
            <a:off x="1733975" y="1263350"/>
            <a:ext cx="3750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 b="1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MARIO Marble Music</a:t>
            </a:r>
            <a:endParaRPr sz="2800" b="1">
              <a:solidFill>
                <a:srgbClr val="0F0F0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0" name="Google Shape;750;p55"/>
          <p:cNvSpPr txBox="1"/>
          <p:nvPr/>
        </p:nvSpPr>
        <p:spPr>
          <a:xfrm>
            <a:off x="6506575" y="4969321"/>
            <a:ext cx="5173799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 u="sng" dirty="0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7"/>
              </a:rPr>
              <a:t>https://www.youtube.com/watch?v=dTrPShwe8fI</a:t>
            </a:r>
            <a:endParaRPr sz="2100" dirty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56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什麼是偽科學？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57" name="Google Shape;757;p56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8" name="Google Shape;758;p56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56"/>
          <p:cNvSpPr txBox="1"/>
          <p:nvPr/>
        </p:nvSpPr>
        <p:spPr>
          <a:xfrm>
            <a:off x="832491" y="1123048"/>
            <a:ext cx="4574540" cy="461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排毒療法（Detox Therapies）</a:t>
            </a:r>
            <a:endParaRPr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概述</a:t>
            </a: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排毒療法聲稱通過特定的飲食、補充劑或其他方法可以排除體內的「毒素」，從而改善健康。</a:t>
            </a:r>
            <a:endParaRPr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科學方法解釋</a:t>
            </a: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人體的肝臟、腎臟、皮膚等器官本身就具有自然排毒功能，健康的身體不需要額外的「排毒」干預。所謂「毒素」通常未具體定義，許多排毒療法的效果沒有科學證據支持，並且未經控制的療法可能會造成健康風險。因此，排毒療法多數被視為偽科學。</a:t>
            </a:r>
            <a:endParaRPr/>
          </a:p>
        </p:txBody>
      </p:sp>
      <p:sp>
        <p:nvSpPr>
          <p:cNvPr id="760" name="Google Shape;760;p56"/>
          <p:cNvSpPr txBox="1"/>
          <p:nvPr/>
        </p:nvSpPr>
        <p:spPr>
          <a:xfrm>
            <a:off x="6629402" y="1123048"/>
            <a:ext cx="4427218" cy="461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氫氣治療（Hydrogen Therapy）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概述</a:t>
            </a: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氫氣治療聲稱吸入或飲用氫氣能夠治療多種疾病，如癌症、糖尿病、心血管疾病等。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科學方法解釋</a:t>
            </a: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雖然氫氣在細胞中可能有抗氧化作用，但目前的研究多是初步和動物實驗，尚未有足夠的人體臨床試驗證明氫氣能夠有效治療上述疾病。此外，商業推廣的許多氫氣產品和療法往往夸大了氫氣的作用，沒有嚴格的科學支持，故多數氫氣療法被視為偽科學。</a:t>
            </a:r>
            <a:endParaRPr/>
          </a:p>
        </p:txBody>
      </p:sp>
      <p:sp>
        <p:nvSpPr>
          <p:cNvPr id="761" name="Google Shape;761;p56"/>
          <p:cNvSpPr txBox="1"/>
          <p:nvPr/>
        </p:nvSpPr>
        <p:spPr>
          <a:xfrm>
            <a:off x="6973584" y="5884575"/>
            <a:ext cx="475950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1" i="0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氫氣治憂鬱? 王群光被爆違法!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https://www.youtube.com/watch?v=DLdaJYAHTT0</a:t>
            </a:r>
            <a:endParaRPr/>
          </a:p>
        </p:txBody>
      </p:sp>
      <p:sp>
        <p:nvSpPr>
          <p:cNvPr id="762" name="Google Shape;762;p56"/>
          <p:cNvSpPr txBox="1"/>
          <p:nvPr/>
        </p:nvSpPr>
        <p:spPr>
          <a:xfrm>
            <a:off x="1045395" y="5833300"/>
            <a:ext cx="609771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 i="0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3天清水斷食比168更有效 自然醫學博士:可排毒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https://www.youtube.com/watch?v=b1_RBOIfYug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57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任務四：定義偽科學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69" name="Google Shape;769;p57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0" name="Google Shape;770;p57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57"/>
          <p:cNvSpPr txBox="1"/>
          <p:nvPr/>
        </p:nvSpPr>
        <p:spPr>
          <a:xfrm>
            <a:off x="1161306" y="1330215"/>
            <a:ext cx="3555474" cy="4105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請每組找出一篇偽科學的報導，並從科學的角度解釋為何不可信？與班上同學分享，並上傳至作業區。</a:t>
            </a:r>
            <a:endParaRPr sz="2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508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72" name="Google Shape;772;p57"/>
          <p:cNvSpPr txBox="1"/>
          <p:nvPr/>
        </p:nvSpPr>
        <p:spPr>
          <a:xfrm>
            <a:off x="5521960" y="1149561"/>
            <a:ext cx="5831700" cy="49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組別：姓名座號/姓名座號</a:t>
            </a:r>
            <a:endParaRPr sz="1800" b="1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舉例：</a:t>
            </a:r>
            <a:endParaRPr sz="1800" b="1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人類智力測量的顱相學（Phrenology）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概述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：顱相學主張可以根據頭骨的形狀和凸起來測量和判斷一個人的智力、性格和精神特質的。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科學方法解釋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顱相學基於一個錯誤的假設，即大腦的不同區域對應特定的性格特質，並且這些區域的大小會影響頭骨的形狀。現代神經科學證明，頭骨形狀與腦功能和個性特質之間沒有直接關聯。顱相學缺乏實驗證據支持，結果也無法重複驗證，因而被視為偽科學。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參考來源： https://pansci.asia/archives/112846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58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科學搜索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79" name="Google Shape;779;p58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58"/>
          <p:cNvSpPr txBox="1"/>
          <p:nvPr/>
        </p:nvSpPr>
        <p:spPr>
          <a:xfrm>
            <a:off x="998550" y="865875"/>
            <a:ext cx="10040100" cy="45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73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icrosoft JhengHei"/>
              <a:buChar char="●"/>
            </a:pP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小論文：中學生網站</a:t>
            </a:r>
            <a:endParaRPr sz="2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icrosoft JhengHei"/>
              <a:buChar char="●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https://www.shs.edu.tw/Customer/Winning/EssayIndex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icrosoft JhengHei"/>
              <a:buChar char="●"/>
            </a:pP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科展：國立台灣科教館</a:t>
            </a:r>
            <a:endParaRPr sz="2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icrosoft JhengHei"/>
              <a:buChar char="●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https://twsf.ntsec.gov.tw/Article.aspx?a=41&amp;lang=1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icrosoft JhengHei"/>
              <a:buChar char="●"/>
            </a:pP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期刊論文：NCBI-PubMed</a:t>
            </a:r>
            <a:endParaRPr sz="2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rosoft JhengHei"/>
              <a:buChar char="●"/>
            </a:pPr>
            <a:r>
              <a:rPr lang="zh-TW" sz="2000" u="sng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</a:t>
            </a:r>
            <a:endParaRPr sz="2000" u="sng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icrosoft JhengHei"/>
              <a:buChar char="●"/>
            </a:pP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期刊論文：APS</a:t>
            </a:r>
            <a:endParaRPr sz="2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rosoft JhengHei"/>
              <a:buChar char="●"/>
            </a:pPr>
            <a:r>
              <a:rPr lang="zh-TW" sz="2000" u="sng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https://journals.aps.org/</a:t>
            </a:r>
            <a:endParaRPr sz="2000" u="sng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icrosoft JhengHei"/>
              <a:buChar char="●"/>
            </a:pP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臺灣博碩士論文知識加值系統 - 國家圖書館</a:t>
            </a:r>
            <a:endParaRPr sz="2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rosoft JhengHei"/>
              <a:buChar char="●"/>
            </a:pPr>
            <a:r>
              <a:rPr lang="zh-TW" sz="20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5"/>
              </a:rPr>
              <a:t>https://reurl.cc/qvrr7N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icrosoft JhengHei"/>
              <a:buChar char="●"/>
            </a:pP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google學術</a:t>
            </a:r>
            <a:endParaRPr sz="2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59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87" name="Google Shape;787;p59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8" name="Google Shape;788;p59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59"/>
          <p:cNvSpPr txBox="1"/>
          <p:nvPr/>
        </p:nvSpPr>
        <p:spPr>
          <a:xfrm>
            <a:off x="1911114" y="1243977"/>
            <a:ext cx="7030768" cy="68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zh-TW" sz="28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小論文：中學生網站</a:t>
            </a:r>
            <a:endParaRPr sz="20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790" name="Google Shape;790;p59"/>
          <p:cNvPicPr preferRelativeResize="0"/>
          <p:nvPr/>
        </p:nvPicPr>
        <p:blipFill rotWithShape="1">
          <a:blip r:embed="rId3">
            <a:alphaModFix/>
          </a:blip>
          <a:srcRect r="13147"/>
          <a:stretch/>
        </p:blipFill>
        <p:spPr>
          <a:xfrm>
            <a:off x="1911114" y="2290270"/>
            <a:ext cx="9015303" cy="3292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60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97" name="Google Shape;797;p60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8" name="Google Shape;798;p60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60"/>
          <p:cNvSpPr txBox="1"/>
          <p:nvPr/>
        </p:nvSpPr>
        <p:spPr>
          <a:xfrm>
            <a:off x="2536562" y="975584"/>
            <a:ext cx="7030768" cy="68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zh-TW" sz="28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科展：國立台灣科教館</a:t>
            </a:r>
            <a:endParaRPr sz="28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800" name="Google Shape;800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2314" y="2381499"/>
            <a:ext cx="5791200" cy="2846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08295" y="1665171"/>
            <a:ext cx="5943101" cy="4528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61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08" name="Google Shape;808;p61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9" name="Google Shape;809;p6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0" name="Google Shape;810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06012" y="1909430"/>
            <a:ext cx="7125217" cy="399973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1"/>
          <p:cNvSpPr txBox="1"/>
          <p:nvPr/>
        </p:nvSpPr>
        <p:spPr>
          <a:xfrm>
            <a:off x="2394322" y="1112913"/>
            <a:ext cx="7030768" cy="68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zh-TW" sz="28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期刊：NCBI-PubMed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62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18" name="Google Shape;818;p62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9" name="Google Shape;819;p62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62"/>
          <p:cNvSpPr txBox="1"/>
          <p:nvPr/>
        </p:nvSpPr>
        <p:spPr>
          <a:xfrm>
            <a:off x="2394322" y="1112913"/>
            <a:ext cx="70308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zh-TW" sz="28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期刊：</a:t>
            </a:r>
            <a:r>
              <a:rPr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APS（涵括多種物理期刊）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1" name="Google Shape;82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6000" y="2156110"/>
            <a:ext cx="7125225" cy="2950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63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28" name="Google Shape;828;p63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9" name="Google Shape;829;p63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0" name="Google Shape;83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8625" y="1004050"/>
            <a:ext cx="7498974" cy="526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64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37" name="Google Shape;837;p64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8" name="Google Shape;838;p64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9" name="Google Shape;83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7400" y="1205575"/>
            <a:ext cx="8285999" cy="543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65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46" name="Google Shape;846;p65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7" name="Google Shape;847;p65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8" name="Google Shape;84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2275" y="1163887"/>
            <a:ext cx="7267449" cy="527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66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55" name="Google Shape;855;p66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6" name="Google Shape;856;p66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7" name="Google Shape;85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0" y="1346650"/>
            <a:ext cx="10447119" cy="45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67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64" name="Google Shape;864;p67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5" name="Google Shape;865;p67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6" name="Google Shape;86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800" y="1004050"/>
            <a:ext cx="7615800" cy="5178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48713" y="2705100"/>
            <a:ext cx="1857375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68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74" name="Google Shape;874;p68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5" name="Google Shape;875;p68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6" name="Google Shape;8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8213" y="2466975"/>
            <a:ext cx="11153775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69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83" name="Google Shape;883;p69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4" name="Google Shape;884;p69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5" name="Google Shape;88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2775" y="1358950"/>
            <a:ext cx="9036049" cy="47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70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92" name="Google Shape;892;p70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3" name="Google Shape;893;p70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4" name="Google Shape;89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4825" y="1344436"/>
            <a:ext cx="8522357" cy="490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1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1" name="Google Shape;901;p71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71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任務四：科學搜索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903" name="Google Shape;90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025" y="1004050"/>
            <a:ext cx="8131524" cy="557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2222" y="3509800"/>
            <a:ext cx="1411275" cy="10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72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72"/>
          <p:cNvSpPr txBox="1"/>
          <p:nvPr/>
        </p:nvSpPr>
        <p:spPr>
          <a:xfrm>
            <a:off x="1172250" y="1256125"/>
            <a:ext cx="90831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</a:pPr>
            <a:r>
              <a:rPr lang="zh-TW" sz="3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至臺灣博碩士論文知識加值系統 - 國家圖書館“搜尋論文並繳交(研究主題、學校、研究生、指導教授)</a:t>
            </a:r>
            <a:endParaRPr sz="3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3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3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12" name="Google Shape;912;p72"/>
          <p:cNvSpPr txBox="1"/>
          <p:nvPr/>
        </p:nvSpPr>
        <p:spPr>
          <a:xfrm>
            <a:off x="1214850" y="2997225"/>
            <a:ext cx="89979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Char char="•"/>
            </a:pPr>
            <a:r>
              <a:rPr lang="zh-TW" sz="3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至科展網站搜尋作品並繳交(第幾屆、參賽組別、作品名、作者、指導老師)</a:t>
            </a:r>
            <a:endParaRPr sz="3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3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3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13" name="Google Shape;913;p72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任務五：科學搜索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14" name="Google Shape;914;p72"/>
          <p:cNvSpPr txBox="1"/>
          <p:nvPr/>
        </p:nvSpPr>
        <p:spPr>
          <a:xfrm>
            <a:off x="1214850" y="4526425"/>
            <a:ext cx="103365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Char char="•"/>
            </a:pPr>
            <a:r>
              <a:rPr lang="zh-TW" sz="3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至期刊論文網站，搜尋一篇文獻並繳交(需打上篇名、期刊出處、期刊impact facter(IF)、第一作者、發表年分、是否為review paper)</a:t>
            </a:r>
            <a:endParaRPr sz="3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73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73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任務五：科學搜索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22" name="Google Shape;922;p73"/>
          <p:cNvSpPr txBox="1"/>
          <p:nvPr/>
        </p:nvSpPr>
        <p:spPr>
          <a:xfrm>
            <a:off x="1077794" y="1323200"/>
            <a:ext cx="6978600" cy="22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例如：</a:t>
            </a:r>
            <a:endParaRPr sz="2000" b="0" i="0" u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第幾屆：</a:t>
            </a:r>
            <a:r>
              <a:rPr lang="zh-TW" sz="20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中華民國第 63 屆中小學科學展覽會</a:t>
            </a:r>
            <a:endParaRPr sz="2000" b="0" i="0" u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組別：</a:t>
            </a:r>
            <a:r>
              <a:rPr lang="zh-TW" sz="20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高中組/數學科/第一名</a:t>
            </a:r>
            <a:endParaRPr sz="2000" b="0" i="0" u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作品名：</a:t>
            </a:r>
            <a:r>
              <a:rPr lang="zh-TW" sz="20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比例和的圓舞曲：當內切錐線遇上截線比例和</a:t>
            </a:r>
            <a:endParaRPr sz="2000" b="0" i="0" u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作者：</a:t>
            </a:r>
            <a:r>
              <a:rPr lang="zh-TW" sz="20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臺中市立臺中第一高級中等學校</a:t>
            </a:r>
            <a:endParaRPr sz="2000" b="0" i="0" u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  高二 詹淯翔 高二 范思緯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指導老師： 黃家瑋</a:t>
            </a:r>
            <a:endParaRPr sz="2000" b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23" name="Google Shape;923;p73"/>
          <p:cNvSpPr txBox="1"/>
          <p:nvPr/>
        </p:nvSpPr>
        <p:spPr>
          <a:xfrm>
            <a:off x="7131050" y="5073650"/>
            <a:ext cx="7239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Google Shape;924;p73"/>
          <p:cNvSpPr txBox="1"/>
          <p:nvPr/>
        </p:nvSpPr>
        <p:spPr>
          <a:xfrm>
            <a:off x="1145886" y="3804622"/>
            <a:ext cx="45339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例如：</a:t>
            </a:r>
            <a:endParaRPr sz="20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篇名：Insulin-Like Growth Factor 1 (IGF-1) Signaling in Glucose Metabolism in Colorectal Cancer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期刊出處：molecular science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rgbClr val="212121"/>
                </a:solidFill>
                <a:highlight>
                  <a:srgbClr val="FFFFFF"/>
                </a:highlight>
              </a:rPr>
              <a:t>第一作者：Maria E. Mycielska</a:t>
            </a:r>
            <a:endParaRPr sz="20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rgbClr val="212121"/>
                </a:solidFill>
                <a:highlight>
                  <a:srgbClr val="FFFFFF"/>
                </a:highlight>
              </a:rPr>
              <a:t>IF：5.7</a:t>
            </a:r>
            <a:endParaRPr sz="20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rgbClr val="212121"/>
                </a:solidFill>
                <a:highlight>
                  <a:srgbClr val="FFFFFF"/>
                </a:highlight>
              </a:rPr>
              <a:t>發表日期：2021 Jun</a:t>
            </a:r>
            <a:endParaRPr sz="20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endParaRPr sz="2000" b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74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74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任務五：科學搜索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32" name="Google Shape;932;p74"/>
          <p:cNvSpPr txBox="1"/>
          <p:nvPr/>
        </p:nvSpPr>
        <p:spPr>
          <a:xfrm>
            <a:off x="7131050" y="5073650"/>
            <a:ext cx="7239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74"/>
          <p:cNvSpPr txBox="1"/>
          <p:nvPr/>
        </p:nvSpPr>
        <p:spPr>
          <a:xfrm>
            <a:off x="838197" y="2418826"/>
            <a:ext cx="58704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篇名：Insulin-Like Growth Factor 1 (IGF-1) Signaling in Glucose Metabolism in Colorectal Cancer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期刊出處：molecular science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rgbClr val="212121"/>
                </a:solidFill>
                <a:highlight>
                  <a:srgbClr val="FFFFFF"/>
                </a:highlight>
              </a:rPr>
              <a:t>第一作者：Maria E. Mycielska</a:t>
            </a:r>
            <a:endParaRPr sz="20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rgbClr val="212121"/>
                </a:solidFill>
                <a:highlight>
                  <a:srgbClr val="FFFFFF"/>
                </a:highlight>
              </a:rPr>
              <a:t>IF：5.7</a:t>
            </a:r>
            <a:endParaRPr sz="20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rgbClr val="212121"/>
                </a:solidFill>
                <a:highlight>
                  <a:srgbClr val="FFFFFF"/>
                </a:highlight>
              </a:rPr>
              <a:t>發表年分：2021 </a:t>
            </a:r>
            <a:endParaRPr sz="20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rgbClr val="212121"/>
                </a:solidFill>
                <a:highlight>
                  <a:srgbClr val="FFFFFF"/>
                </a:highlight>
              </a:rPr>
              <a:t>不是review paper</a:t>
            </a:r>
            <a:endParaRPr sz="20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endParaRPr sz="2000" b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934" name="Google Shape;93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3047" y="2067888"/>
            <a:ext cx="5109178" cy="2830458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74"/>
          <p:cNvSpPr txBox="1"/>
          <p:nvPr/>
        </p:nvSpPr>
        <p:spPr>
          <a:xfrm>
            <a:off x="838200" y="1490288"/>
            <a:ext cx="30000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7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期刊</a:t>
            </a:r>
            <a:endParaRPr sz="21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1" name="Google Shape;941;p75"/>
          <p:cNvGrpSpPr/>
          <p:nvPr/>
        </p:nvGrpSpPr>
        <p:grpSpPr>
          <a:xfrm>
            <a:off x="1166796" y="1962149"/>
            <a:ext cx="4100107" cy="2244301"/>
            <a:chOff x="5729693" y="1352697"/>
            <a:chExt cx="5059808" cy="3044254"/>
          </a:xfrm>
        </p:grpSpPr>
        <p:pic>
          <p:nvPicPr>
            <p:cNvPr id="942" name="Google Shape;942;p75" descr="C:\Users\Administrator\Desktop\ppt展示模板-8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29693" y="1352697"/>
              <a:ext cx="5059808" cy="30442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3" name="Google Shape;943;p75"/>
            <p:cNvSpPr/>
            <p:nvPr/>
          </p:nvSpPr>
          <p:spPr>
            <a:xfrm>
              <a:off x="6422687" y="1728837"/>
              <a:ext cx="3665189" cy="211288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4" name="Google Shape;944;p75" descr="畫布"/>
          <p:cNvSpPr txBox="1"/>
          <p:nvPr/>
        </p:nvSpPr>
        <p:spPr>
          <a:xfrm>
            <a:off x="838200" y="352956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QA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45" name="Google Shape;945;p75" descr="畫布"/>
          <p:cNvSpPr txBox="1"/>
          <p:nvPr/>
        </p:nvSpPr>
        <p:spPr>
          <a:xfrm>
            <a:off x="5559777" y="2602775"/>
            <a:ext cx="4637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Any question？</a:t>
            </a:r>
            <a:endParaRPr/>
          </a:p>
        </p:txBody>
      </p:sp>
      <p:sp>
        <p:nvSpPr>
          <p:cNvPr id="946" name="Google Shape;946;p75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6342</Words>
  <Application>Microsoft Office PowerPoint</Application>
  <PresentationFormat>寬螢幕</PresentationFormat>
  <Paragraphs>646</Paragraphs>
  <Slides>82</Slides>
  <Notes>82</Notes>
  <HiddenSlides>2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82</vt:i4>
      </vt:variant>
    </vt:vector>
  </HeadingPairs>
  <TitlesOfParts>
    <vt:vector size="92" baseType="lpstr">
      <vt:lpstr>Microsoft JhengHei</vt:lpstr>
      <vt:lpstr>Arial Black</vt:lpstr>
      <vt:lpstr>Noto Sans TC</vt:lpstr>
      <vt:lpstr>Times New Roman</vt:lpstr>
      <vt:lpstr>Noto Sans Symbols</vt:lpstr>
      <vt:lpstr>DFKai-SB</vt:lpstr>
      <vt:lpstr>Roboto</vt:lpstr>
      <vt:lpstr>Golos Text</vt:lpstr>
      <vt:lpstr>Arial</vt:lpstr>
      <vt:lpstr>Office 主题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Chih_Wen Fan</cp:lastModifiedBy>
  <cp:revision>2</cp:revision>
  <dcterms:modified xsi:type="dcterms:W3CDTF">2026-09-17T19:04:25Z</dcterms:modified>
</cp:coreProperties>
</file>