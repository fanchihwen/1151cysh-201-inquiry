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docProps/core.xml" Id="rId3" /><Relationship Type="http://schemas.openxmlformats.org/package/2006/relationships/metadata/thumbnail" Target="docProps/thumbnail.jpeg" Id="rId2" /><Relationship Type="http://schemas.openxmlformats.org/officeDocument/2006/relationships/officeDocument" Target="ppt/presentation.xml" Id="rId1" /><Relationship Type="http://schemas.openxmlformats.org/officeDocument/2006/relationships/extended-properties" Target="docProps/app.xml" Id="rId4" /><Relationship Type="http://schemas.openxmlformats.org/officeDocument/2006/relationships/custom-properties" Target="/docProps/custom.xml" Id="Ra07039f1c41c4cdc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1" r:id="rId4"/>
    <p:sldId id="260" r:id="rId5"/>
    <p:sldId id="262" r:id="rId6"/>
    <p:sldId id="264" r:id="rId7"/>
    <p:sldId id="267" r:id="rId8"/>
    <p:sldId id="266" r:id="rId9"/>
    <p:sldId id="268" r:id="rId10"/>
    <p:sldId id="258" r:id="rId11"/>
    <p:sldId id="259" r:id="rId12"/>
    <p:sldId id="263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EFD8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4060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【A </a:t>
            </a:r>
            <a:r>
              <a:rPr lang="zh-TW" altLang="en-US"/>
              <a:t>版：十分鐘精簡步驟版｜來源原第 </a:t>
            </a:r>
            <a:r>
              <a:rPr lang="en-US" altLang="zh-TW"/>
              <a:t>1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20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問：有圖表、有數據，就能算科學嗎？這十分鐘只練習兩件事：檢查主張，以及檢查自己怎麼處理資料。</a:t>
            </a:r>
          </a:p>
          <a:p>
            <a:endParaRPr lang="zh-TW" altLang="en-US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：用 </a:t>
            </a:r>
            <a:r>
              <a:rPr lang="en-US" altLang="zh-TW"/>
              <a:t>20 </a:t>
            </a:r>
            <a:r>
              <a:rPr lang="zh-TW" altLang="en-US"/>
              <a:t>秒承接主簡報，不另作長篇自我介紹。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【A </a:t>
            </a:r>
            <a:r>
              <a:rPr lang="zh-TW" altLang="en-US"/>
              <a:t>版：十分鐘精簡步驟版｜來源原第 </a:t>
            </a:r>
            <a:r>
              <a:rPr lang="en-US" altLang="zh-TW"/>
              <a:t>2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55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兩個案例均為課堂模擬。先想 </a:t>
            </a:r>
            <a:r>
              <a:rPr lang="en-US" altLang="zh-TW"/>
              <a:t>8 </a:t>
            </a:r>
            <a:r>
              <a:rPr lang="zh-TW" altLang="en-US"/>
              <a:t>秒，再說一項你需要追問的資料。先不急著貼標籤。</a:t>
            </a:r>
          </a:p>
          <a:p>
            <a:endParaRPr lang="zh-TW" altLang="en-US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</a:t>
            </a:r>
            <a:r>
              <a:rPr lang="en-US" altLang="zh-TW"/>
              <a:t>A</a:t>
            </a:r>
            <a:r>
              <a:rPr lang="zh-TW" altLang="en-US"/>
              <a:t>、</a:t>
            </a:r>
            <a:r>
              <a:rPr lang="en-US" altLang="zh-TW"/>
              <a:t>B </a:t>
            </a:r>
            <a:r>
              <a:rPr lang="zh-TW" altLang="en-US"/>
              <a:t>題幹完整可見，兩個判讀尚未顯示。</a:t>
            </a:r>
          </a:p>
          <a:p>
            <a:r>
              <a:rPr lang="zh-TW" altLang="en-US"/>
              <a:t>等待 </a:t>
            </a:r>
            <a:r>
              <a:rPr lang="en-US" altLang="zh-TW"/>
              <a:t>8 </a:t>
            </a:r>
            <a:r>
              <a:rPr lang="zh-TW" altLang="en-US"/>
              <a:t>秒，請一位學生說明判斷。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</a:t>
            </a:r>
            <a:r>
              <a:rPr lang="en-US" altLang="zh-TW"/>
              <a:t>A </a:t>
            </a:r>
            <a:r>
              <a:rPr lang="zh-TW" altLang="en-US"/>
              <a:t>的證據問題。</a:t>
            </a:r>
          </a:p>
          <a:p>
            <a:r>
              <a:rPr lang="zh-TW" altLang="en-US"/>
              <a:t>點擊 </a:t>
            </a:r>
            <a:r>
              <a:rPr lang="en-US" altLang="zh-TW"/>
              <a:t>2</a:t>
            </a:r>
            <a:r>
              <a:rPr lang="zh-TW" altLang="en-US"/>
              <a:t>：</a:t>
            </a:r>
            <a:r>
              <a:rPr lang="en-US" altLang="zh-TW"/>
              <a:t>B </a:t>
            </a:r>
            <a:r>
              <a:rPr lang="zh-TW" altLang="en-US"/>
              <a:t>的資料誠實問題。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【A </a:t>
            </a:r>
            <a:r>
              <a:rPr lang="zh-TW" altLang="en-US"/>
              <a:t>版：十分鐘精簡步驟版｜來源原第 </a:t>
            </a:r>
            <a:r>
              <a:rPr lang="en-US" altLang="zh-TW"/>
              <a:t>6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65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先讓學生說出一萬次觀察能支持到什麼程度。黑天鵝是全稱命題的邏輯反例；真實實驗中的異常仍要查核測量、條件與其他解釋。原稿「</a:t>
            </a:r>
            <a:r>
              <a:rPr lang="en-US" altLang="zh-TW"/>
              <a:t>0.1 </a:t>
            </a:r>
            <a:r>
              <a:rPr lang="zh-TW" altLang="en-US"/>
              <a:t>秒粉碎」為修辭，改成精確的邏輯敘述。來源：</a:t>
            </a:r>
            <a:r>
              <a:rPr lang="en-US" altLang="zh-TW"/>
              <a:t>https://plato.stanford.edu/archives/spr2013/entries/popper/</a:t>
            </a:r>
          </a:p>
          <a:p>
            <a:endParaRPr lang="en-US" altLang="zh-TW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：主張與已知觀察。</a:t>
            </a:r>
          </a:p>
          <a:p>
            <a:r>
              <a:rPr lang="zh-TW" altLang="en-US"/>
              <a:t>想 </a:t>
            </a:r>
            <a:r>
              <a:rPr lang="en-US" altLang="zh-TW"/>
              <a:t>5–8 </a:t>
            </a:r>
            <a:r>
              <a:rPr lang="zh-TW" altLang="en-US"/>
              <a:t>秒，請一人說理由。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：確認的反例。</a:t>
            </a:r>
          </a:p>
          <a:p>
            <a:r>
              <a:rPr lang="zh-TW" altLang="en-US"/>
              <a:t>點擊 </a:t>
            </a:r>
            <a:r>
              <a:rPr lang="en-US" altLang="zh-TW"/>
              <a:t>2</a:t>
            </a:r>
            <a:r>
              <a:rPr lang="zh-TW" altLang="en-US"/>
              <a:t>：支持範圍與量測查核。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【A </a:t>
            </a:r>
            <a:r>
              <a:rPr lang="zh-TW" altLang="en-US"/>
              <a:t>版：十分鐘精簡步驟版｜來源原第 </a:t>
            </a:r>
            <a:r>
              <a:rPr lang="en-US" altLang="zh-TW"/>
              <a:t>5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70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可證偽性是波普爾的重要想法，但不等於單一充分判準。非科學欄指問題類型，並非禁止以科學研究藝術、宗教等人類現象。相對論例子是教學摘要，不冒充愛因斯坦原話。來源：</a:t>
            </a:r>
            <a:r>
              <a:rPr lang="en-US" altLang="zh-TW"/>
              <a:t>https://plato.stanford.edu/entries/pseudo-science/</a:t>
            </a:r>
          </a:p>
          <a:p>
            <a:endParaRPr lang="en-US" altLang="zh-TW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：先說可證偽性。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：科學例子。</a:t>
            </a:r>
          </a:p>
          <a:p>
            <a:r>
              <a:rPr lang="zh-TW" altLang="en-US"/>
              <a:t>點擊 </a:t>
            </a:r>
            <a:r>
              <a:rPr lang="en-US" altLang="zh-TW"/>
              <a:t>2</a:t>
            </a:r>
            <a:r>
              <a:rPr lang="zh-TW" altLang="en-US"/>
              <a:t>：非科學問題。</a:t>
            </a:r>
          </a:p>
          <a:p>
            <a:r>
              <a:rPr lang="zh-TW" altLang="en-US"/>
              <a:t>點擊 </a:t>
            </a:r>
            <a:r>
              <a:rPr lang="en-US" altLang="zh-TW"/>
              <a:t>3</a:t>
            </a:r>
            <a:r>
              <a:rPr lang="zh-TW" altLang="en-US"/>
              <a:t>：偽科學警訊。</a:t>
            </a:r>
          </a:p>
          <a:p>
            <a:r>
              <a:rPr lang="zh-TW" altLang="en-US"/>
              <a:t>學生說出「研究結果錯誤」與「逃避證據」有何不同。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【A </a:t>
            </a:r>
            <a:r>
              <a:rPr lang="zh-TW" altLang="en-US"/>
              <a:t>版：十分鐘精簡步驟版｜來源原第 </a:t>
            </a:r>
            <a:r>
              <a:rPr lang="en-US" altLang="zh-TW"/>
              <a:t>7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65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保留原稿的物資、跑道、火光、塔台、耳機與盼望飛機故事，並標明這是費曼的演說比喻，不當成完整民族誌。把嘲笑的對象轉向研究作風：不是只說別人笨，而是檢查自己。來源：</a:t>
            </a:r>
            <a:r>
              <a:rPr lang="en-US" altLang="zh-TW"/>
              <a:t>https://calteches.library.caltech.edu/51/2/CargoCult.htm</a:t>
            </a:r>
          </a:p>
          <a:p>
            <a:endParaRPr lang="en-US" altLang="zh-TW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：先講比喻。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：結果。</a:t>
            </a:r>
          </a:p>
          <a:p>
            <a:r>
              <a:rPr lang="zh-TW" altLang="en-US"/>
              <a:t>點擊 </a:t>
            </a:r>
            <a:r>
              <a:rPr lang="en-US" altLang="zh-TW"/>
              <a:t>2</a:t>
            </a:r>
            <a:r>
              <a:rPr lang="zh-TW" altLang="en-US"/>
              <a:t>：研究外觀，問還少了什麼，等 </a:t>
            </a:r>
            <a:r>
              <a:rPr lang="en-US" altLang="zh-TW"/>
              <a:t>5 </a:t>
            </a:r>
            <a:r>
              <a:rPr lang="zh-TW" altLang="en-US"/>
              <a:t>秒。</a:t>
            </a:r>
          </a:p>
          <a:p>
            <a:r>
              <a:rPr lang="zh-TW" altLang="en-US"/>
              <a:t>點擊 </a:t>
            </a:r>
            <a:r>
              <a:rPr lang="en-US" altLang="zh-TW"/>
              <a:t>3</a:t>
            </a:r>
            <a:r>
              <a:rPr lang="zh-TW" altLang="en-US"/>
              <a:t>：科學誠實的具體內容。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【A </a:t>
            </a:r>
            <a:r>
              <a:rPr lang="zh-TW" altLang="en-US"/>
              <a:t>版：十分鐘精簡步驟版｜來源原第 </a:t>
            </a:r>
            <a:r>
              <a:rPr lang="en-US" altLang="zh-TW"/>
              <a:t>9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90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左欄保留原稿四種行為，右欄保留四個改善方向。異常值不一定是新發現；有明確測量錯誤時可以更正或排除於分析之外，但要保留原始紀錄並說明依據。來源：</a:t>
            </a:r>
            <a:r>
              <a:rPr lang="en-US" altLang="zh-TW"/>
              <a:t>https://www.itl.nist.gov/div898/handbook/eda/section3/eda35h.htm</a:t>
            </a:r>
          </a:p>
          <a:p>
            <a:endParaRPr lang="en-US" altLang="zh-TW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：三個資料問題。</a:t>
            </a:r>
          </a:p>
          <a:p>
            <a:r>
              <a:rPr lang="zh-TW" altLang="en-US"/>
              <a:t>個人想 </a:t>
            </a:r>
            <a:r>
              <a:rPr lang="en-US" altLang="zh-TW"/>
              <a:t>10 </a:t>
            </a:r>
            <a:r>
              <a:rPr lang="zh-TW" altLang="en-US"/>
              <a:t>秒，同桌交換 </a:t>
            </a:r>
            <a:r>
              <a:rPr lang="en-US" altLang="zh-TW"/>
              <a:t>15 </a:t>
            </a:r>
            <a:r>
              <a:rPr lang="zh-TW" altLang="en-US"/>
              <a:t>秒。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：保留原始資料。</a:t>
            </a:r>
          </a:p>
          <a:p>
            <a:r>
              <a:rPr lang="zh-TW" altLang="en-US"/>
              <a:t>點擊 </a:t>
            </a:r>
            <a:r>
              <a:rPr lang="en-US" altLang="zh-TW"/>
              <a:t>2</a:t>
            </a:r>
            <a:r>
              <a:rPr lang="zh-TW" altLang="en-US"/>
              <a:t>：查核與紀錄。</a:t>
            </a:r>
          </a:p>
          <a:p>
            <a:r>
              <a:rPr lang="zh-TW" altLang="en-US"/>
              <a:t>點擊 </a:t>
            </a:r>
            <a:r>
              <a:rPr lang="en-US" altLang="zh-TW"/>
              <a:t>3</a:t>
            </a:r>
            <a:r>
              <a:rPr lang="zh-TW" altLang="en-US"/>
              <a:t>：交代依據與影響。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【A </a:t>
            </a:r>
            <a:r>
              <a:rPr lang="zh-TW" altLang="en-US"/>
              <a:t>版：十分鐘精簡步驟版｜來源原第 </a:t>
            </a:r>
            <a:r>
              <a:rPr lang="en-US" altLang="zh-TW"/>
              <a:t>12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55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保留波普爾之鏡與費曼之鏡的工具，將「照對手」潤飾為也能檢查自己的提問。修正「答不出來立刻判為偽科學」的過度推論；兩問是追查的起點。來源：</a:t>
            </a:r>
            <a:r>
              <a:rPr lang="en-US" altLang="zh-TW"/>
              <a:t>https://plato.stanford.edu/entries/pseudo-science/</a:t>
            </a:r>
            <a:r>
              <a:rPr lang="zh-TW" altLang="en-US"/>
              <a:t>；</a:t>
            </a:r>
            <a:r>
              <a:rPr lang="en-US" altLang="zh-TW"/>
              <a:t>https://calteches.library.caltech.edu/51/2/CargoCult.htm</a:t>
            </a:r>
          </a:p>
          <a:p>
            <a:endParaRPr lang="en-US" altLang="zh-TW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：檢查主張。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：如何追問。</a:t>
            </a:r>
          </a:p>
          <a:p>
            <a:r>
              <a:rPr lang="zh-TW" altLang="en-US"/>
              <a:t>點擊 </a:t>
            </a:r>
            <a:r>
              <a:rPr lang="en-US" altLang="zh-TW"/>
              <a:t>2</a:t>
            </a:r>
            <a:r>
              <a:rPr lang="zh-TW" altLang="en-US"/>
              <a:t>：檢查資料。</a:t>
            </a:r>
          </a:p>
          <a:p>
            <a:r>
              <a:rPr lang="zh-TW" altLang="en-US"/>
              <a:t>點擊 </a:t>
            </a:r>
            <a:r>
              <a:rPr lang="en-US" altLang="zh-TW"/>
              <a:t>3</a:t>
            </a:r>
            <a:r>
              <a:rPr lang="zh-TW" altLang="en-US"/>
              <a:t>：如何交代。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【A </a:t>
            </a:r>
            <a:r>
              <a:rPr lang="zh-TW" altLang="en-US"/>
              <a:t>版：十分鐘精簡步驟版｜來源原第 </a:t>
            </a:r>
            <a:r>
              <a:rPr lang="en-US" altLang="zh-TW"/>
              <a:t>11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100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這是兩個新情境的近遷移。每題先各自寫一句理由，之後才揭示回饋。</a:t>
            </a:r>
            <a:r>
              <a:rPr lang="en-US" altLang="zh-TW"/>
              <a:t>A </a:t>
            </a:r>
            <a:r>
              <a:rPr lang="zh-TW" altLang="en-US"/>
              <a:t>不能因結果錯誤而定為偽科學；</a:t>
            </a:r>
            <a:r>
              <a:rPr lang="en-US" altLang="zh-TW"/>
              <a:t>B </a:t>
            </a:r>
            <a:r>
              <a:rPr lang="zh-TW" altLang="en-US"/>
              <a:t>須要求原始資料、排除依據與影響。兩題各約 </a:t>
            </a:r>
            <a:r>
              <a:rPr lang="en-US" altLang="zh-TW"/>
              <a:t>45 </a:t>
            </a:r>
            <a:r>
              <a:rPr lang="zh-TW" altLang="en-US"/>
              <a:t>秒，另 </a:t>
            </a:r>
            <a:r>
              <a:rPr lang="en-US" altLang="zh-TW"/>
              <a:t>10 </a:t>
            </a:r>
            <a:r>
              <a:rPr lang="zh-TW" altLang="en-US"/>
              <a:t>秒收束。</a:t>
            </a:r>
          </a:p>
          <a:p>
            <a:endParaRPr lang="zh-TW" altLang="en-US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</a:t>
            </a:r>
            <a:r>
              <a:rPr lang="en-US" altLang="zh-TW"/>
              <a:t>A </a:t>
            </a:r>
            <a:r>
              <a:rPr lang="zh-TW" altLang="en-US"/>
              <a:t>題，先寫理由約 </a:t>
            </a:r>
            <a:r>
              <a:rPr lang="en-US" altLang="zh-TW"/>
              <a:t>15 </a:t>
            </a:r>
            <a:r>
              <a:rPr lang="zh-TW" altLang="en-US"/>
              <a:t>秒。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</a:t>
            </a:r>
            <a:r>
              <a:rPr lang="en-US" altLang="zh-TW"/>
              <a:t>A </a:t>
            </a:r>
            <a:r>
              <a:rPr lang="zh-TW" altLang="en-US"/>
              <a:t>回饋與訂正。</a:t>
            </a:r>
          </a:p>
          <a:p>
            <a:r>
              <a:rPr lang="zh-TW" altLang="en-US"/>
              <a:t>點擊 </a:t>
            </a:r>
            <a:r>
              <a:rPr lang="en-US" altLang="zh-TW"/>
              <a:t>2</a:t>
            </a:r>
            <a:r>
              <a:rPr lang="zh-TW" altLang="en-US"/>
              <a:t>：</a:t>
            </a:r>
            <a:r>
              <a:rPr lang="en-US" altLang="zh-TW"/>
              <a:t>B </a:t>
            </a:r>
            <a:r>
              <a:rPr lang="zh-TW" altLang="en-US"/>
              <a:t>題，先答約 </a:t>
            </a:r>
            <a:r>
              <a:rPr lang="en-US" altLang="zh-TW"/>
              <a:t>15 </a:t>
            </a:r>
            <a:r>
              <a:rPr lang="zh-TW" altLang="en-US"/>
              <a:t>秒。</a:t>
            </a:r>
          </a:p>
          <a:p>
            <a:r>
              <a:rPr lang="zh-TW" altLang="en-US"/>
              <a:t>點擊 </a:t>
            </a:r>
            <a:r>
              <a:rPr lang="en-US" altLang="zh-TW"/>
              <a:t>3</a:t>
            </a:r>
            <a:r>
              <a:rPr lang="zh-TW" altLang="en-US"/>
              <a:t>：</a:t>
            </a:r>
            <a:r>
              <a:rPr lang="en-US" altLang="zh-TW"/>
              <a:t>B </a:t>
            </a:r>
            <a:r>
              <a:rPr lang="zh-TW" altLang="en-US"/>
              <a:t>回饋與訂正。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【A </a:t>
            </a:r>
            <a:r>
              <a:rPr lang="zh-TW" altLang="en-US"/>
              <a:t>版：十分鐘精簡步驟版｜來源原第 </a:t>
            </a:r>
            <a:r>
              <a:rPr lang="en-US" altLang="zh-TW"/>
              <a:t>13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50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留 </a:t>
            </a:r>
            <a:r>
              <a:rPr lang="en-US" altLang="zh-TW"/>
              <a:t>25–30 </a:t>
            </a:r>
            <a:r>
              <a:rPr lang="zh-TW" altLang="en-US"/>
              <a:t>秒寫一句話，聽一個答案，再接回主簡報原第 </a:t>
            </a:r>
            <a:r>
              <a:rPr lang="en-US" altLang="zh-TW"/>
              <a:t>47 </a:t>
            </a:r>
            <a:r>
              <a:rPr lang="zh-TW" altLang="en-US"/>
              <a:t>頁的案例。這裡不安排整場謝幕或自由 </a:t>
            </a:r>
            <a:r>
              <a:rPr lang="en-US" altLang="zh-TW"/>
              <a:t>Q&amp;A</a:t>
            </a:r>
            <a:r>
              <a:rPr lang="zh-TW" altLang="en-US"/>
              <a:t>。</a:t>
            </a:r>
          </a:p>
          <a:p>
            <a:endParaRPr lang="zh-TW" altLang="en-US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：兩句填答，寫 </a:t>
            </a:r>
            <a:r>
              <a:rPr lang="en-US" altLang="zh-TW"/>
              <a:t>25–30 </a:t>
            </a:r>
            <a:r>
              <a:rPr lang="zh-TW" altLang="en-US"/>
              <a:t>秒。</a:t>
            </a:r>
          </a:p>
          <a:p>
            <a:r>
              <a:rPr lang="zh-TW" altLang="en-US"/>
              <a:t>聽一位學生回答後，點擊 </a:t>
            </a:r>
            <a:r>
              <a:rPr lang="en-US" altLang="zh-TW"/>
              <a:t>1</a:t>
            </a:r>
            <a:r>
              <a:rPr lang="zh-TW" altLang="en-US"/>
              <a:t>：銜接下一案例。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</a:t>
            </a:r>
            <a:r>
              <a:rPr lang="zh-TW" altLang="en-US"/>
              <a:t>備用頁：預設隱藏，不計入十分鐘主線</a:t>
            </a:r>
            <a:r>
              <a:rPr lang="en-US" altLang="zh-TW"/>
              <a:t>】</a:t>
            </a:r>
          </a:p>
          <a:p>
            <a:r>
              <a:rPr lang="en-US" altLang="zh-TW"/>
              <a:t>【A </a:t>
            </a:r>
            <a:r>
              <a:rPr lang="zh-TW" altLang="en-US"/>
              <a:t>版：十分鐘精簡步驟版｜來源原第 </a:t>
            </a:r>
            <a:r>
              <a:rPr lang="en-US" altLang="zh-TW"/>
              <a:t>3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60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本頁只作導航，不先解釋每個名詞。學習終點是能提出查核問題，並誠實交代資料。</a:t>
            </a:r>
          </a:p>
          <a:p>
            <a:endParaRPr lang="zh-TW" altLang="en-US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：第一站。</a:t>
            </a:r>
          </a:p>
          <a:p>
            <a:r>
              <a:rPr lang="zh-TW" altLang="en-US"/>
              <a:t>點擊 </a:t>
            </a:r>
            <a:r>
              <a:rPr lang="en-US" altLang="zh-TW"/>
              <a:t>1–3</a:t>
            </a:r>
            <a:r>
              <a:rPr lang="zh-TW" altLang="en-US"/>
              <a:t>：依序揭示其餘三站；每站只說一句。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</a:t>
            </a:r>
            <a:r>
              <a:rPr lang="zh-TW" altLang="en-US"/>
              <a:t>備用頁：預設隱藏，不計入十分鐘主線</a:t>
            </a:r>
            <a:r>
              <a:rPr lang="en-US" altLang="zh-TW"/>
              <a:t>】</a:t>
            </a:r>
          </a:p>
          <a:p>
            <a:r>
              <a:rPr lang="en-US" altLang="zh-TW"/>
              <a:t>【A </a:t>
            </a:r>
            <a:r>
              <a:rPr lang="zh-TW" altLang="en-US"/>
              <a:t>版：十分鐘精簡步驟版｜來源原第 </a:t>
            </a:r>
            <a:r>
              <a:rPr lang="en-US" altLang="zh-TW"/>
              <a:t>4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120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保留原稿四段歷史與人物，但不再把 </a:t>
            </a:r>
            <a:r>
              <a:rPr lang="en-US" altLang="zh-TW"/>
              <a:t>Scientia </a:t>
            </a:r>
            <a:r>
              <a:rPr lang="zh-TW" altLang="en-US"/>
              <a:t>說成西塞羅獨創，也不把 </a:t>
            </a:r>
            <a:r>
              <a:rPr lang="en-US" altLang="zh-TW"/>
              <a:t>Scientist </a:t>
            </a:r>
            <a:r>
              <a:rPr lang="zh-TW" altLang="en-US"/>
              <a:t>的命名說成科學領域在某一年正式定型。東亞詞語史比單一發明者更複雜；</a:t>
            </a:r>
            <a:r>
              <a:rPr lang="en-US" altLang="zh-TW"/>
              <a:t>1874 </a:t>
            </a:r>
            <a:r>
              <a:rPr lang="zh-TW" altLang="en-US"/>
              <a:t>為原稿歷史錨點，不宣稱首次出現。西周、梁啟超與五四的傳播不應壓成同一事件。來源：</a:t>
            </a:r>
            <a:r>
              <a:rPr lang="en-US" altLang="zh-TW"/>
              <a:t>https://plato.stanford.edu/entries/whewell/</a:t>
            </a:r>
            <a:r>
              <a:rPr lang="zh-TW" altLang="en-US"/>
              <a:t>；科學詞語史研究：</a:t>
            </a:r>
            <a:r>
              <a:rPr lang="en-US" altLang="zh-TW"/>
              <a:t>https://ir.library.osaka-u.ac.jp/repo/ouka/all/56924/mgsl056_123.pdf</a:t>
            </a:r>
          </a:p>
          <a:p>
            <a:endParaRPr lang="en-US" altLang="zh-TW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：希臘。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：羅馬。</a:t>
            </a:r>
          </a:p>
          <a:p>
            <a:r>
              <a:rPr lang="zh-TW" altLang="en-US"/>
              <a:t>點擊 </a:t>
            </a:r>
            <a:r>
              <a:rPr lang="en-US" altLang="zh-TW"/>
              <a:t>2</a:t>
            </a:r>
            <a:r>
              <a:rPr lang="zh-TW" altLang="en-US"/>
              <a:t>：英國。</a:t>
            </a:r>
          </a:p>
          <a:p>
            <a:r>
              <a:rPr lang="zh-TW" altLang="en-US"/>
              <a:t>點擊 </a:t>
            </a:r>
            <a:r>
              <a:rPr lang="en-US" altLang="zh-TW"/>
              <a:t>3</a:t>
            </a:r>
            <a:r>
              <a:rPr lang="zh-TW" altLang="en-US"/>
              <a:t>：東亞；提醒名稱、方法及制度的演變不同步。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</a:t>
            </a:r>
            <a:r>
              <a:rPr lang="zh-TW" altLang="en-US"/>
              <a:t>備用頁：預設隱藏，不計入十分鐘主線</a:t>
            </a:r>
            <a:r>
              <a:rPr lang="en-US" altLang="zh-TW"/>
              <a:t>】</a:t>
            </a:r>
          </a:p>
          <a:p>
            <a:r>
              <a:rPr lang="en-US" altLang="zh-TW"/>
              <a:t>【A </a:t>
            </a:r>
            <a:r>
              <a:rPr lang="zh-TW" altLang="en-US"/>
              <a:t>版：十分鐘精簡步驟版｜來源原第 </a:t>
            </a:r>
            <a:r>
              <a:rPr lang="en-US" altLang="zh-TW"/>
              <a:t>8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120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費曼敘述的是對不合預期與符合預期的數據採取不同查錯標準，以及選擇性排除，不等於證實所有研究者蓄意修改原始數字。保留原稿「</a:t>
            </a:r>
            <a:r>
              <a:rPr lang="en-US" altLang="zh-TW"/>
              <a:t>25 </a:t>
            </a:r>
            <a:r>
              <a:rPr lang="zh-TW" altLang="en-US"/>
              <a:t>年」數字但在畫面明示待查證，不能當確定史實教學。所謂後來的接受值仍有測量不確定度。來源：</a:t>
            </a:r>
            <a:r>
              <a:rPr lang="en-US" altLang="zh-TW"/>
              <a:t>https://calteches.library.caltech.edu/51/2/CargoCult.htm</a:t>
            </a:r>
          </a:p>
          <a:p>
            <a:endParaRPr lang="en-US" altLang="zh-TW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：測量偏差的背景。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：偏高結果受到更嚴格檢查。</a:t>
            </a:r>
          </a:p>
          <a:p>
            <a:r>
              <a:rPr lang="zh-TW" altLang="en-US"/>
              <a:t>點擊 </a:t>
            </a:r>
            <a:r>
              <a:rPr lang="en-US" altLang="zh-TW"/>
              <a:t>2</a:t>
            </a:r>
            <a:r>
              <a:rPr lang="zh-TW" altLang="en-US"/>
              <a:t>：相近結果受到較少檢查。</a:t>
            </a:r>
          </a:p>
          <a:p>
            <a:r>
              <a:rPr lang="zh-TW" altLang="en-US"/>
              <a:t>點擊 </a:t>
            </a:r>
            <a:r>
              <a:rPr lang="en-US" altLang="zh-TW"/>
              <a:t>3</a:t>
            </a:r>
            <a:r>
              <a:rPr lang="zh-TW" altLang="en-US"/>
              <a:t>：逐步上移及年數限制。</a:t>
            </a:r>
          </a:p>
          <a:p>
            <a:r>
              <a:rPr lang="zh-TW" altLang="en-US"/>
              <a:t>請學生比較兩種查錯態度，再點擊 </a:t>
            </a:r>
            <a:r>
              <a:rPr lang="en-US" altLang="zh-TW"/>
              <a:t>4</a:t>
            </a:r>
            <a:r>
              <a:rPr lang="zh-TW" altLang="en-US"/>
              <a:t>：不自欺。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</a:t>
            </a:r>
            <a:r>
              <a:rPr lang="zh-TW" altLang="en-US"/>
              <a:t>備用頁：預設隱藏，不計入十分鐘主線</a:t>
            </a:r>
            <a:r>
              <a:rPr lang="en-US" altLang="zh-TW"/>
              <a:t>】</a:t>
            </a:r>
          </a:p>
          <a:p>
            <a:r>
              <a:rPr lang="en-US" altLang="zh-TW"/>
              <a:t>【A </a:t>
            </a:r>
            <a:r>
              <a:rPr lang="zh-TW" altLang="en-US"/>
              <a:t>版：十分鐘精簡步驟版｜來源原第 </a:t>
            </a:r>
            <a:r>
              <a:rPr lang="en-US" altLang="zh-TW"/>
              <a:t>10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90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五張卡保留原稿五類與例子，但不排列成進化或價值高低階梯。類別可能重疊。修正原稿把 </a:t>
            </a:r>
            <a:r>
              <a:rPr lang="en-US" altLang="zh-TW"/>
              <a:t>Proto- </a:t>
            </a:r>
            <a:r>
              <a:rPr lang="zh-TW" altLang="en-US"/>
              <a:t>配成邊緣科學的用法：</a:t>
            </a:r>
            <a:r>
              <a:rPr lang="en-US" altLang="zh-TW"/>
              <a:t>protoscience </a:t>
            </a:r>
            <a:r>
              <a:rPr lang="zh-TW" altLang="en-US"/>
              <a:t>通常譯原科學／雛形科學；本卡所談非主流研究使用 </a:t>
            </a:r>
            <a:r>
              <a:rPr lang="en-US" altLang="zh-TW"/>
              <a:t>fringe science</a:t>
            </a:r>
            <a:r>
              <a:rPr lang="zh-TW" altLang="en-US"/>
              <a:t>。反對一項政策或提出疑問本身不等於反科學，須看面對方法與證據的態度。大陸漂移的歷史只是回顧例子，非主流不保證將來正確。來源：</a:t>
            </a:r>
            <a:r>
              <a:rPr lang="en-US" altLang="zh-TW"/>
              <a:t>https://plato.stanford.edu/entries/pseudo-science/</a:t>
            </a:r>
          </a:p>
          <a:p>
            <a:endParaRPr lang="en-US" altLang="zh-TW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：反科學名稱與檢查面向。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：第一張的例子。</a:t>
            </a:r>
          </a:p>
          <a:p>
            <a:r>
              <a:rPr lang="zh-TW" altLang="en-US"/>
              <a:t>點擊 </a:t>
            </a:r>
            <a:r>
              <a:rPr lang="en-US" altLang="zh-TW"/>
              <a:t>2–5</a:t>
            </a:r>
            <a:r>
              <a:rPr lang="zh-TW" altLang="en-US"/>
              <a:t>：逐張加入其餘四類。</a:t>
            </a:r>
          </a:p>
          <a:p>
            <a:r>
              <a:rPr lang="zh-TW" altLang="en-US"/>
              <a:t>完成時指出：不同面向可能重疊，不能據此排一條升級階梯。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359317" cy="6858000"/>
          </a:xfrm>
          <a:prstGeom prst="rect">
            <a:avLst/>
          </a:prstGeom>
          <a:solidFill>
            <a:srgbClr val="E0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92000" cy="1371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222253" y="607154"/>
            <a:ext cx="591183" cy="591183"/>
          </a:xfrm>
          <a:prstGeom prst="rect">
            <a:avLst/>
          </a:prstGeom>
          <a:solidFill>
            <a:srgbClr val="E0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9920" y="5257800"/>
            <a:ext cx="2326640" cy="457200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3052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</a:rPr>
              <a:t>Inquiry &amp;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698480" cy="3474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7" name="K01-C6-B1">
            <a:extLst>
              <a:ext uri="{FF2B5EF4-FFF2-40B4-BE49-F238E27FC236}">
                <a16:creationId xmlns:a16="http://schemas.microsoft.com/office/drawing/2014/main" id="{4EA33798-4B46-3C56-BB41-69306456733B}"/>
              </a:ext>
            </a:extLst>
          </p:cNvPr>
          <p:cNvSpPr txBox="1"/>
          <p:nvPr/>
        </p:nvSpPr>
        <p:spPr>
          <a:xfrm>
            <a:off x="820420" y="1869440"/>
            <a:ext cx="1052068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200" b="1" dirty="0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國立嘉義</a:t>
            </a:r>
            <a:r>
              <a:rPr lang="zh-TW" altLang="en-US" sz="2200" b="1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高中 </a:t>
            </a:r>
            <a:r>
              <a:rPr lang="en-US" altLang="zh-TW" sz="2200" b="1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201 </a:t>
            </a:r>
            <a:r>
              <a:rPr lang="zh-TW" altLang="en-US" sz="2200" b="1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班 </a:t>
            </a:r>
            <a:r>
              <a:rPr lang="en-US" altLang="zh-TW" sz="2200" b="1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2200" b="1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自然科學</a:t>
            </a:r>
            <a:r>
              <a:rPr lang="zh-TW" altLang="en-US" sz="2200" b="1" dirty="0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探究與實作</a:t>
            </a:r>
            <a:r>
              <a:rPr lang="zh-TW" altLang="en-US" sz="2200" b="1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短講</a:t>
            </a:r>
            <a:endParaRPr lang="zh-TW" altLang="en-US" sz="2200" b="1" dirty="0">
              <a:solidFill>
                <a:srgbClr val="1155CC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K01-C6-B2">
            <a:extLst>
              <a:ext uri="{FF2B5EF4-FFF2-40B4-BE49-F238E27FC236}">
                <a16:creationId xmlns:a16="http://schemas.microsoft.com/office/drawing/2014/main" id="{0FA54B93-ECB4-CDB1-84DF-92E06923EDEA}"/>
              </a:ext>
            </a:extLst>
          </p:cNvPr>
          <p:cNvSpPr txBox="1"/>
          <p:nvPr/>
        </p:nvSpPr>
        <p:spPr>
          <a:xfrm>
            <a:off x="820420" y="2288540"/>
            <a:ext cx="10520680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4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木頭耳機能召喚飛機</a:t>
            </a:r>
            <a:r>
              <a:rPr lang="zh-TW" altLang="en-US" sz="4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嗎？</a:t>
            </a:r>
            <a:endParaRPr lang="zh-TW" altLang="en-US" sz="4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01-C6-B3">
            <a:extLst>
              <a:ext uri="{FF2B5EF4-FFF2-40B4-BE49-F238E27FC236}">
                <a16:creationId xmlns:a16="http://schemas.microsoft.com/office/drawing/2014/main" id="{19A6273F-09AF-9991-ECED-72149C5A8E14}"/>
              </a:ext>
            </a:extLst>
          </p:cNvPr>
          <p:cNvSpPr txBox="1"/>
          <p:nvPr/>
        </p:nvSpPr>
        <p:spPr>
          <a:xfrm>
            <a:off x="820420" y="3164840"/>
            <a:ext cx="1052068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8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檢查科學主張與探究資料的兩</a:t>
            </a:r>
            <a:r>
              <a:rPr lang="zh-TW" altLang="en-US" sz="28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個問題</a:t>
            </a:r>
            <a:endParaRPr lang="zh-TW" altLang="en-US" sz="28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EA4335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39319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400"/>
              </a:spcAft>
              <a:defRPr sz="2600" b="1">
                <a:solidFill>
                  <a:srgbClr val="C5221F"/>
                </a:solidFill>
                <a:latin typeface="Microsoft JhengHei"/>
              </a:defRPr>
            </a:pP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7920" y="1691640"/>
            <a:ext cx="5120640" cy="3931920"/>
          </a:xfrm>
          <a:prstGeom prst="roundRect">
            <a:avLst/>
          </a:prstGeom>
          <a:solidFill>
            <a:srgbClr val="E0EFF6"/>
          </a:solidFill>
          <a:ln w="1905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400"/>
              </a:spcAft>
              <a:defRPr sz="26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6" name="K-header-label">
            <a:extLst>
              <a:ext uri="{FF2B5EF4-FFF2-40B4-BE49-F238E27FC236}">
                <a16:creationId xmlns:a16="http://schemas.microsoft.com/office/drawing/2014/main" id="{D66FBA4E-AA30-F8CE-EBFF-8563143BB076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 dirty="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⚔ 認知</a:t>
            </a:r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衝突 </a:t>
            </a:r>
            <a:r>
              <a:rPr lang="en-US" altLang="zh-TW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課堂模擬情境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K-header-title">
            <a:extLst>
              <a:ext uri="{FF2B5EF4-FFF2-40B4-BE49-F238E27FC236}">
                <a16:creationId xmlns:a16="http://schemas.microsoft.com/office/drawing/2014/main" id="{96C122B5-F562-C524-D1CE-FB8C9A7397CF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判斷之前，你還想追問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什麼？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K02-C4-B1">
            <a:extLst>
              <a:ext uri="{FF2B5EF4-FFF2-40B4-BE49-F238E27FC236}">
                <a16:creationId xmlns:a16="http://schemas.microsoft.com/office/drawing/2014/main" id="{ACA05AD1-1630-283B-D659-81630037816E}"/>
              </a:ext>
            </a:extLst>
          </p:cNvPr>
          <p:cNvSpPr txBox="1"/>
          <p:nvPr/>
        </p:nvSpPr>
        <p:spPr>
          <a:xfrm>
            <a:off x="998220" y="2504440"/>
            <a:ext cx="45872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TW" sz="26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</a:t>
            </a:r>
            <a:r>
              <a:rPr lang="zh-TW" altLang="en-US" sz="26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  <a:r>
              <a:rPr lang="zh-TW" altLang="en-US" sz="26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宣稱能提升記憶的</a:t>
            </a:r>
            <a:r>
              <a:rPr lang="zh-TW" altLang="en-US" sz="26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手環</a:t>
            </a:r>
            <a:endParaRPr lang="zh-TW" altLang="en-US" sz="2600" b="1" dirty="0">
              <a:solidFill>
                <a:srgbClr val="FF4B3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02-C4-B2">
            <a:extLst>
              <a:ext uri="{FF2B5EF4-FFF2-40B4-BE49-F238E27FC236}">
                <a16:creationId xmlns:a16="http://schemas.microsoft.com/office/drawing/2014/main" id="{7FA38ACD-CBED-4003-8E4E-8A3AEDC3B7A6}"/>
              </a:ext>
            </a:extLst>
          </p:cNvPr>
          <p:cNvSpPr txBox="1"/>
          <p:nvPr/>
        </p:nvSpPr>
        <p:spPr>
          <a:xfrm>
            <a:off x="998220" y="3025140"/>
            <a:ext cx="458724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8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若沒有效果，就說：</a:t>
            </a:r>
          </a:p>
          <a:p>
            <a:r>
              <a:rPr lang="zh-TW" altLang="en-US" sz="28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「使用者的信念不足</a:t>
            </a:r>
            <a:r>
              <a:rPr lang="zh-TW" altLang="en-US" sz="28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。」</a:t>
            </a:r>
            <a:endParaRPr lang="zh-TW" altLang="en-US" sz="28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02-C4-B3">
            <a:extLst>
              <a:ext uri="{FF2B5EF4-FFF2-40B4-BE49-F238E27FC236}">
                <a16:creationId xmlns:a16="http://schemas.microsoft.com/office/drawing/2014/main" id="{01241B82-D334-098E-80A2-F0A75066721C}"/>
              </a:ext>
            </a:extLst>
          </p:cNvPr>
          <p:cNvSpPr txBox="1"/>
          <p:nvPr/>
        </p:nvSpPr>
        <p:spPr>
          <a:xfrm>
            <a:off x="998220" y="3964940"/>
            <a:ext cx="458724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7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效果如何測量？</a:t>
            </a:r>
          </a:p>
          <a:p>
            <a:r>
              <a:rPr lang="zh-TW" altLang="en-US" sz="27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什麼結果會讓它修正</a:t>
            </a:r>
            <a:r>
              <a:rPr lang="zh-TW" altLang="en-US" sz="27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宣稱？</a:t>
            </a:r>
            <a:endParaRPr lang="zh-TW" altLang="en-US" sz="2700" b="1" dirty="0">
              <a:solidFill>
                <a:srgbClr val="FF4B3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02-C5-B1">
            <a:extLst>
              <a:ext uri="{FF2B5EF4-FFF2-40B4-BE49-F238E27FC236}">
                <a16:creationId xmlns:a16="http://schemas.microsoft.com/office/drawing/2014/main" id="{C17D0F59-18A6-364B-E3C6-D020B902AF6E}"/>
              </a:ext>
            </a:extLst>
          </p:cNvPr>
          <p:cNvSpPr txBox="1"/>
          <p:nvPr/>
        </p:nvSpPr>
        <p:spPr>
          <a:xfrm>
            <a:off x="6484620" y="2504440"/>
            <a:ext cx="45872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TW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  <a:r>
              <a:rPr lang="zh-TW" altLang="en-US" sz="2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圖表漂亮的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探究報告</a:t>
            </a:r>
            <a:endParaRPr lang="zh-TW" altLang="en-US" sz="2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02-C5-B2">
            <a:extLst>
              <a:ext uri="{FF2B5EF4-FFF2-40B4-BE49-F238E27FC236}">
                <a16:creationId xmlns:a16="http://schemas.microsoft.com/office/drawing/2014/main" id="{F9C36337-D620-76DE-5B6B-CF6AB7982EDB}"/>
              </a:ext>
            </a:extLst>
          </p:cNvPr>
          <p:cNvSpPr txBox="1"/>
          <p:nvPr/>
        </p:nvSpPr>
        <p:spPr>
          <a:xfrm>
            <a:off x="6484620" y="3025140"/>
            <a:ext cx="458724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8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測量不合預測，便改成想要的</a:t>
            </a:r>
            <a:r>
              <a:rPr lang="zh-TW" altLang="en-US" sz="28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數字。</a:t>
            </a:r>
            <a:endParaRPr lang="zh-TW" altLang="en-US" sz="28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02-C5-B3">
            <a:extLst>
              <a:ext uri="{FF2B5EF4-FFF2-40B4-BE49-F238E27FC236}">
                <a16:creationId xmlns:a16="http://schemas.microsoft.com/office/drawing/2014/main" id="{EF636A77-7403-A03E-14F4-411734AC8CBA}"/>
              </a:ext>
            </a:extLst>
          </p:cNvPr>
          <p:cNvSpPr txBox="1"/>
          <p:nvPr/>
        </p:nvSpPr>
        <p:spPr>
          <a:xfrm>
            <a:off x="6484620" y="3964940"/>
            <a:ext cx="458724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7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原始資料在哪裡？</a:t>
            </a:r>
          </a:p>
          <a:p>
            <a:r>
              <a:rPr lang="zh-TW" altLang="en-US" sz="27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改動的依據是</a:t>
            </a:r>
            <a:r>
              <a:rPr lang="zh-TW" altLang="en-US" sz="27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什麼？</a:t>
            </a:r>
            <a:endParaRPr lang="zh-TW" altLang="en-US" sz="2700" b="1" dirty="0">
              <a:solidFill>
                <a:srgbClr val="FF4B3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1"/>
    </p:bldLst>
  </p:timing>
</p:sld>
</file>

<file path=ppt/slides/slide3.xml><?xml version="1.0" encoding="utf-8"?>
<p:sld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0607040" cy="2468880"/>
          </a:xfrm>
          <a:prstGeom prst="roundRect">
            <a:avLst/>
          </a:prstGeom>
          <a:solidFill>
            <a:srgbClr val="E0EFF6"/>
          </a:solidFill>
          <a:ln w="1905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200"/>
              </a:spcAft>
              <a:defRPr sz="26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4343400"/>
            <a:ext cx="10607040" cy="128016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6" name="K-header-label">
            <a:extLst>
              <a:ext uri="{FF2B5EF4-FFF2-40B4-BE49-F238E27FC236}">
                <a16:creationId xmlns:a16="http://schemas.microsoft.com/office/drawing/2014/main" id="{0CD192E2-C912-B578-32F0-978A08E4DC81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 dirty="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🦢 關鍵</a:t>
            </a:r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思維實驗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K-header-title">
            <a:extLst>
              <a:ext uri="{FF2B5EF4-FFF2-40B4-BE49-F238E27FC236}">
                <a16:creationId xmlns:a16="http://schemas.microsoft.com/office/drawing/2014/main" id="{5D9BCC63-0A07-8C7A-3B36-F5510EC2E990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白天鵝再多，能證明所有天鵝皆白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嗎？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K06-C4-B1">
            <a:extLst>
              <a:ext uri="{FF2B5EF4-FFF2-40B4-BE49-F238E27FC236}">
                <a16:creationId xmlns:a16="http://schemas.microsoft.com/office/drawing/2014/main" id="{A0139F58-01BC-2DFB-BAC8-085F4FF4E225}"/>
              </a:ext>
            </a:extLst>
          </p:cNvPr>
          <p:cNvSpPr txBox="1"/>
          <p:nvPr/>
        </p:nvSpPr>
        <p:spPr>
          <a:xfrm>
            <a:off x="960120" y="2186940"/>
            <a:ext cx="101498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主張：所有天鵝都是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白色。</a:t>
            </a:r>
            <a:endParaRPr lang="zh-TW" altLang="en-US" sz="2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06-C4-B2">
            <a:extLst>
              <a:ext uri="{FF2B5EF4-FFF2-40B4-BE49-F238E27FC236}">
                <a16:creationId xmlns:a16="http://schemas.microsoft.com/office/drawing/2014/main" id="{0806E23B-BF02-6FA7-1EB5-9C39E07689CA}"/>
              </a:ext>
            </a:extLst>
          </p:cNvPr>
          <p:cNvSpPr txBox="1"/>
          <p:nvPr/>
        </p:nvSpPr>
        <p:spPr>
          <a:xfrm>
            <a:off x="960120" y="2707640"/>
            <a:ext cx="1014984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8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已看見一萬隻白天鵝，足夠了</a:t>
            </a:r>
            <a:r>
              <a:rPr lang="zh-TW" altLang="en-US" sz="28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嗎？</a:t>
            </a:r>
            <a:endParaRPr lang="zh-TW" altLang="en-US" sz="28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06-C4-B3">
            <a:extLst>
              <a:ext uri="{FF2B5EF4-FFF2-40B4-BE49-F238E27FC236}">
                <a16:creationId xmlns:a16="http://schemas.microsoft.com/office/drawing/2014/main" id="{D7B38062-D9D6-4A4E-CFA0-12FA411BB96F}"/>
              </a:ext>
            </a:extLst>
          </p:cNvPr>
          <p:cNvSpPr txBox="1"/>
          <p:nvPr/>
        </p:nvSpPr>
        <p:spPr>
          <a:xfrm>
            <a:off x="960120" y="3215640"/>
            <a:ext cx="1014984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8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經確認的一隻黑天鵝，足以反駁這個「所有」的</a:t>
            </a:r>
            <a:r>
              <a:rPr lang="zh-TW" altLang="en-US" sz="28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主張。</a:t>
            </a:r>
            <a:endParaRPr lang="zh-TW" altLang="en-US" sz="2800" b="1" dirty="0">
              <a:solidFill>
                <a:srgbClr val="FF4B3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06-C5-B1">
            <a:extLst>
              <a:ext uri="{FF2B5EF4-FFF2-40B4-BE49-F238E27FC236}">
                <a16:creationId xmlns:a16="http://schemas.microsoft.com/office/drawing/2014/main" id="{D02841FC-83E9-D624-B1CD-C78125960F72}"/>
              </a:ext>
            </a:extLst>
          </p:cNvPr>
          <p:cNvSpPr txBox="1"/>
          <p:nvPr/>
        </p:nvSpPr>
        <p:spPr>
          <a:xfrm>
            <a:off x="820420" y="4762500"/>
            <a:ext cx="1042924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7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支持證據仍有範圍；真實量測的異常，也要先</a:t>
            </a:r>
            <a:r>
              <a:rPr lang="zh-TW" altLang="en-US" sz="27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查核。</a:t>
            </a:r>
            <a:endParaRPr lang="zh-TW" altLang="en-US" sz="27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1"/>
    </p:bldLst>
  </p:timing>
</p:sld>
</file>

<file path=ppt/slides/slide4.xml><?xml version="1.0" encoding="utf-8"?>
<p:sld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3383280" cy="3931920"/>
          </a:xfrm>
          <a:prstGeom prst="roundRect">
            <a:avLst/>
          </a:prstGeom>
          <a:solidFill>
            <a:srgbClr val="E1EFD8"/>
          </a:solidFill>
          <a:ln w="19050">
            <a:solidFill>
              <a:srgbClr val="99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400"/>
              </a:spcAft>
              <a:defRPr sz="2500" b="1">
                <a:solidFill>
                  <a:srgbClr val="1E7E34"/>
                </a:solidFill>
                <a:latin typeface="Microsoft JhengHei"/>
              </a:defRPr>
            </a:pP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0" y="1691640"/>
            <a:ext cx="3383280" cy="39319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400"/>
              </a:spcAft>
              <a:defRPr sz="2500" b="1">
                <a:solidFill>
                  <a:srgbClr val="595959"/>
                </a:solidFill>
                <a:latin typeface="Microsoft JhengHei"/>
              </a:defRPr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46720" y="1691640"/>
            <a:ext cx="3383280" cy="39319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400"/>
              </a:spcAft>
              <a:defRPr sz="2500" b="1">
                <a:solidFill>
                  <a:srgbClr val="C5221F"/>
                </a:solidFill>
                <a:latin typeface="Microsoft JhengHei"/>
              </a:defRPr>
            </a:pPr>
            <a:endParaRPr/>
          </a:p>
        </p:txBody>
      </p:sp>
      <p:sp>
        <p:nvSpPr>
          <p:cNvPr id="7" name="K-header-label">
            <a:extLst>
              <a:ext uri="{FF2B5EF4-FFF2-40B4-BE49-F238E27FC236}">
                <a16:creationId xmlns:a16="http://schemas.microsoft.com/office/drawing/2014/main" id="{D1239691-9C24-15AC-E693-6AB03942F11C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 dirty="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⚖ 第二站：</a:t>
            </a:r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分界問題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K-header-title">
            <a:extLst>
              <a:ext uri="{FF2B5EF4-FFF2-40B4-BE49-F238E27FC236}">
                <a16:creationId xmlns:a16="http://schemas.microsoft.com/office/drawing/2014/main" id="{85C306E8-8678-19BD-63DE-2596AE1BCCEE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科學、非科學與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偽科學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05-C4-B1">
            <a:extLst>
              <a:ext uri="{FF2B5EF4-FFF2-40B4-BE49-F238E27FC236}">
                <a16:creationId xmlns:a16="http://schemas.microsoft.com/office/drawing/2014/main" id="{321E558D-371D-A91A-A38A-EF5E4E2E7D7C}"/>
              </a:ext>
            </a:extLst>
          </p:cNvPr>
          <p:cNvSpPr txBox="1"/>
          <p:nvPr/>
        </p:nvSpPr>
        <p:spPr>
          <a:xfrm>
            <a:off x="985520" y="2745740"/>
            <a:ext cx="287528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科學研究</a:t>
            </a:r>
            <a:endParaRPr lang="zh-TW" altLang="en-US" sz="2600" b="1" dirty="0">
              <a:solidFill>
                <a:srgbClr val="1E7E34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05-C4-B2">
            <a:extLst>
              <a:ext uri="{FF2B5EF4-FFF2-40B4-BE49-F238E27FC236}">
                <a16:creationId xmlns:a16="http://schemas.microsoft.com/office/drawing/2014/main" id="{809210A6-D786-4A4C-5E31-A79EF344C499}"/>
              </a:ext>
            </a:extLst>
          </p:cNvPr>
          <p:cNvSpPr txBox="1"/>
          <p:nvPr/>
        </p:nvSpPr>
        <p:spPr>
          <a:xfrm>
            <a:off x="985520" y="3266440"/>
            <a:ext cx="287528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8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讓證據檢驗主張。</a:t>
            </a:r>
          </a:p>
          <a:p>
            <a:r>
              <a:rPr lang="zh-TW" altLang="en-US" sz="28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交代方法與限制。</a:t>
            </a:r>
          </a:p>
          <a:p>
            <a:r>
              <a:rPr lang="zh-TW" altLang="en-US" sz="28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依結果</a:t>
            </a:r>
            <a:r>
              <a:rPr lang="zh-TW" altLang="en-US" sz="28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修正。</a:t>
            </a:r>
            <a:endParaRPr lang="zh-TW" altLang="en-US" sz="28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05-C5-B1">
            <a:extLst>
              <a:ext uri="{FF2B5EF4-FFF2-40B4-BE49-F238E27FC236}">
                <a16:creationId xmlns:a16="http://schemas.microsoft.com/office/drawing/2014/main" id="{B70CBD22-35D7-2221-A15B-1180E7D938B4}"/>
              </a:ext>
            </a:extLst>
          </p:cNvPr>
          <p:cNvSpPr txBox="1"/>
          <p:nvPr/>
        </p:nvSpPr>
        <p:spPr>
          <a:xfrm>
            <a:off x="4643120" y="2529840"/>
            <a:ext cx="287528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非科學</a:t>
            </a:r>
            <a:r>
              <a:rPr lang="zh-TW" altLang="en-US" sz="26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的問題</a:t>
            </a:r>
            <a:endParaRPr lang="zh-TW" altLang="en-US" sz="26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05-C5-B2">
            <a:extLst>
              <a:ext uri="{FF2B5EF4-FFF2-40B4-BE49-F238E27FC236}">
                <a16:creationId xmlns:a16="http://schemas.microsoft.com/office/drawing/2014/main" id="{E715D1A5-1795-F68C-9C6D-20E4AB8B4048}"/>
              </a:ext>
            </a:extLst>
          </p:cNvPr>
          <p:cNvSpPr txBox="1"/>
          <p:nvPr/>
        </p:nvSpPr>
        <p:spPr>
          <a:xfrm>
            <a:off x="4643120" y="3050540"/>
            <a:ext cx="2875280" cy="172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8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「這首詩美嗎？」</a:t>
            </a:r>
          </a:p>
          <a:p>
            <a:r>
              <a:rPr lang="zh-TW" altLang="en-US" sz="28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涉及審美與價值。</a:t>
            </a:r>
          </a:p>
          <a:p>
            <a:r>
              <a:rPr lang="zh-TW" altLang="en-US" sz="28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不能只靠實驗</a:t>
            </a:r>
          </a:p>
          <a:p>
            <a:r>
              <a:rPr lang="zh-TW" altLang="en-US" sz="28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決定</a:t>
            </a:r>
            <a:r>
              <a:rPr lang="zh-TW" altLang="en-US" sz="28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答案。</a:t>
            </a:r>
            <a:endParaRPr lang="zh-TW" altLang="en-US" sz="28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05-C6-B1">
            <a:extLst>
              <a:ext uri="{FF2B5EF4-FFF2-40B4-BE49-F238E27FC236}">
                <a16:creationId xmlns:a16="http://schemas.microsoft.com/office/drawing/2014/main" id="{F6C39045-4FAE-1297-0886-BB9831E39392}"/>
              </a:ext>
            </a:extLst>
          </p:cNvPr>
          <p:cNvSpPr txBox="1"/>
          <p:nvPr/>
        </p:nvSpPr>
        <p:spPr>
          <a:xfrm>
            <a:off x="8300720" y="2745740"/>
            <a:ext cx="287528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CC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偽科學</a:t>
            </a:r>
            <a:r>
              <a:rPr lang="zh-TW" altLang="en-US" sz="2600" b="1">
                <a:solidFill>
                  <a:srgbClr val="CC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的警訊</a:t>
            </a:r>
            <a:endParaRPr lang="zh-TW" altLang="en-US" sz="2600" b="1" dirty="0">
              <a:solidFill>
                <a:srgbClr val="CC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K05-C6-B2">
            <a:extLst>
              <a:ext uri="{FF2B5EF4-FFF2-40B4-BE49-F238E27FC236}">
                <a16:creationId xmlns:a16="http://schemas.microsoft.com/office/drawing/2014/main" id="{8A4F6D69-A5F2-B987-98B2-CCEDC1585AC2}"/>
              </a:ext>
            </a:extLst>
          </p:cNvPr>
          <p:cNvSpPr txBox="1"/>
          <p:nvPr/>
        </p:nvSpPr>
        <p:spPr>
          <a:xfrm>
            <a:off x="8300720" y="3266440"/>
            <a:ext cx="287528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8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自稱科學，卻逃避</a:t>
            </a:r>
          </a:p>
          <a:p>
            <a:r>
              <a:rPr lang="zh-TW" altLang="en-US" sz="28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檢驗或忽視反證。</a:t>
            </a:r>
          </a:p>
          <a:p>
            <a:r>
              <a:rPr lang="zh-TW" altLang="en-US" sz="28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須查主張與</a:t>
            </a:r>
            <a:r>
              <a:rPr lang="zh-TW" altLang="en-US" sz="28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證據。</a:t>
            </a:r>
            <a:endParaRPr lang="zh-TW" altLang="en-US" sz="28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dur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dur="1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dur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1"/>
      <p:bldP spid="12" grpId="2"/>
      <p:bldP spid="13" grpId="3"/>
      <p:bldP spid="14" grpId="4"/>
    </p:bldLst>
  </p:timing>
</p:sld>
</file>

<file path=ppt/slides/slide5.xml><?xml version="1.0" encoding="utf-8"?>
<p:sld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3931920"/>
          </a:xfrm>
          <a:prstGeom prst="roundRect">
            <a:avLst/>
          </a:prstGeom>
          <a:solidFill>
            <a:srgbClr val="E0EFF6"/>
          </a:solidFill>
          <a:ln w="1905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200"/>
              </a:spcAft>
              <a:defRPr sz="26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7920" y="1691640"/>
            <a:ext cx="5242560" cy="39319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000"/>
              </a:spcAft>
              <a:defRPr sz="2600" b="1">
                <a:solidFill>
                  <a:srgbClr val="C5221F"/>
                </a:solidFill>
                <a:latin typeface="Microsoft JhengHei"/>
              </a:defRPr>
            </a:pPr>
            <a:endParaRPr lang="zh-TW" altLang="en-US" dirty="0">
              <a:solidFill>
                <a:srgbClr val="FFF2CC"/>
              </a:solidFill>
            </a:endParaRPr>
          </a:p>
        </p:txBody>
      </p:sp>
      <p:sp>
        <p:nvSpPr>
          <p:cNvPr id="6" name="K-header-label">
            <a:extLst>
              <a:ext uri="{FF2B5EF4-FFF2-40B4-BE49-F238E27FC236}">
                <a16:creationId xmlns:a16="http://schemas.microsoft.com/office/drawing/2014/main" id="{0402FA18-DB25-6BA4-1CE0-A085D1B10F63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 dirty="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✈ 第三站：費</a:t>
            </a:r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曼照妖鏡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K-header-title">
            <a:extLst>
              <a:ext uri="{FF2B5EF4-FFF2-40B4-BE49-F238E27FC236}">
                <a16:creationId xmlns:a16="http://schemas.microsoft.com/office/drawing/2014/main" id="{EAEEB545-90C9-6FA4-7C78-0825EBF78865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費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曼 </a:t>
            </a:r>
            <a:r>
              <a:rPr lang="en-US" altLang="zh-TW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1974 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</a:t>
            </a:r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演說：貨物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崇拜科學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07-C4-B1">
            <a:extLst>
              <a:ext uri="{FF2B5EF4-FFF2-40B4-BE49-F238E27FC236}">
                <a16:creationId xmlns:a16="http://schemas.microsoft.com/office/drawing/2014/main" id="{75F6F30C-A3DC-D142-7377-84FB8BF2A91B}"/>
              </a:ext>
            </a:extLst>
          </p:cNvPr>
          <p:cNvSpPr txBox="1"/>
          <p:nvPr/>
        </p:nvSpPr>
        <p:spPr>
          <a:xfrm>
            <a:off x="985520" y="2301240"/>
            <a:ext cx="46126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費曼演說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中的比喻</a:t>
            </a:r>
            <a:endParaRPr lang="zh-TW" altLang="en-US" sz="2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07-C4-B2">
            <a:extLst>
              <a:ext uri="{FF2B5EF4-FFF2-40B4-BE49-F238E27FC236}">
                <a16:creationId xmlns:a16="http://schemas.microsoft.com/office/drawing/2014/main" id="{CCBCFFA1-3158-5ABE-1EE2-1CCBF592E1AD}"/>
              </a:ext>
            </a:extLst>
          </p:cNvPr>
          <p:cNvSpPr txBox="1"/>
          <p:nvPr/>
        </p:nvSpPr>
        <p:spPr>
          <a:xfrm>
            <a:off x="985520" y="2821940"/>
            <a:ext cx="461264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8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飛機曾帶來物資。</a:t>
            </a:r>
          </a:p>
          <a:p>
            <a:r>
              <a:rPr lang="zh-TW" altLang="en-US" sz="28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人們模仿跑道、塔台與木頭</a:t>
            </a:r>
            <a:r>
              <a:rPr lang="zh-TW" altLang="en-US" sz="28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耳機。</a:t>
            </a:r>
            <a:endParaRPr lang="zh-TW" altLang="en-US" sz="28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07-C4-B3">
            <a:extLst>
              <a:ext uri="{FF2B5EF4-FFF2-40B4-BE49-F238E27FC236}">
                <a16:creationId xmlns:a16="http://schemas.microsoft.com/office/drawing/2014/main" id="{6E358CA1-1392-D453-CCF1-DCC524CE58CA}"/>
              </a:ext>
            </a:extLst>
          </p:cNvPr>
          <p:cNvSpPr txBox="1"/>
          <p:nvPr/>
        </p:nvSpPr>
        <p:spPr>
          <a:xfrm>
            <a:off x="985520" y="4180840"/>
            <a:ext cx="461264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7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外形齊備，卻沒有帶來期待的</a:t>
            </a:r>
            <a:r>
              <a:rPr lang="zh-TW" altLang="en-US" sz="27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結果。</a:t>
            </a:r>
            <a:endParaRPr lang="zh-TW" altLang="en-US" sz="2700" b="1" dirty="0">
              <a:solidFill>
                <a:srgbClr val="FF4B3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07-C5-B1">
            <a:extLst>
              <a:ext uri="{FF2B5EF4-FFF2-40B4-BE49-F238E27FC236}">
                <a16:creationId xmlns:a16="http://schemas.microsoft.com/office/drawing/2014/main" id="{4A212ADA-21D5-4E4A-B312-0FF39A2CA017}"/>
              </a:ext>
            </a:extLst>
          </p:cNvPr>
          <p:cNvSpPr txBox="1"/>
          <p:nvPr/>
        </p:nvSpPr>
        <p:spPr>
          <a:xfrm>
            <a:off x="6471920" y="2491740"/>
            <a:ext cx="473456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CC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研究還需要</a:t>
            </a:r>
            <a:r>
              <a:rPr lang="zh-TW" altLang="en-US" sz="2600" b="1">
                <a:solidFill>
                  <a:srgbClr val="CC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什麼？</a:t>
            </a:r>
            <a:endParaRPr lang="zh-TW" altLang="en-US" sz="2600" b="1" dirty="0">
              <a:solidFill>
                <a:srgbClr val="CC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07-C5-B2">
            <a:extLst>
              <a:ext uri="{FF2B5EF4-FFF2-40B4-BE49-F238E27FC236}">
                <a16:creationId xmlns:a16="http://schemas.microsoft.com/office/drawing/2014/main" id="{274CBC30-C2E2-77F7-C65B-897386116025}"/>
              </a:ext>
            </a:extLst>
          </p:cNvPr>
          <p:cNvSpPr txBox="1"/>
          <p:nvPr/>
        </p:nvSpPr>
        <p:spPr>
          <a:xfrm>
            <a:off x="6471920" y="3012440"/>
            <a:ext cx="473456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8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步驟、圖表與引用，</a:t>
            </a:r>
          </a:p>
          <a:p>
            <a:r>
              <a:rPr lang="zh-TW" altLang="en-US" sz="28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看起來都</a:t>
            </a:r>
            <a:r>
              <a:rPr lang="zh-TW" altLang="en-US" sz="28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很完整</a:t>
            </a:r>
            <a:r>
              <a:rPr lang="en-US" altLang="zh-TW" sz="28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……</a:t>
            </a:r>
            <a:endParaRPr lang="zh-TW" altLang="en-US" sz="28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K07-C5-B3">
            <a:extLst>
              <a:ext uri="{FF2B5EF4-FFF2-40B4-BE49-F238E27FC236}">
                <a16:creationId xmlns:a16="http://schemas.microsoft.com/office/drawing/2014/main" id="{1A7F24C5-A2A3-E38A-DA34-E3D51B552E0E}"/>
              </a:ext>
            </a:extLst>
          </p:cNvPr>
          <p:cNvSpPr txBox="1"/>
          <p:nvPr/>
        </p:nvSpPr>
        <p:spPr>
          <a:xfrm>
            <a:off x="6471920" y="3952240"/>
            <a:ext cx="473456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8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反例、其他解釋、限制，</a:t>
            </a:r>
          </a:p>
          <a:p>
            <a:r>
              <a:rPr lang="zh-TW" altLang="en-US" sz="28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也要交代</a:t>
            </a:r>
            <a:r>
              <a:rPr lang="zh-TW" altLang="en-US" sz="28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清楚。</a:t>
            </a:r>
            <a:endParaRPr lang="zh-TW" altLang="en-US" sz="2800" b="1" dirty="0">
              <a:solidFill>
                <a:srgbClr val="FF4B3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dur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dur="1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1"/>
      <p:bldP spid="13" grpId="2"/>
      <p:bldP spid="14" grpId="3"/>
    </p:bldLst>
  </p:timing>
</p:sld>
</file>

<file path=ppt/slides/slide6.xml><?xml version="1.0" encoding="utf-8"?>
<p:sld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EA4335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39319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400"/>
              </a:spcAft>
              <a:defRPr sz="2600" b="1">
                <a:solidFill>
                  <a:srgbClr val="C5221F"/>
                </a:solidFill>
                <a:latin typeface="Microsoft JhengHei"/>
              </a:defRPr>
            </a:pP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7920" y="1691640"/>
            <a:ext cx="5120640" cy="3931920"/>
          </a:xfrm>
          <a:prstGeom prst="roundRect">
            <a:avLst/>
          </a:prstGeom>
          <a:solidFill>
            <a:srgbClr val="E1EFD8"/>
          </a:solidFill>
          <a:ln w="19050">
            <a:solidFill>
              <a:srgbClr val="99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400"/>
              </a:spcAft>
              <a:defRPr sz="2600" b="1">
                <a:solidFill>
                  <a:srgbClr val="1E7E34"/>
                </a:solidFill>
                <a:latin typeface="Microsoft JhengHei"/>
              </a:defRPr>
            </a:pPr>
            <a:endParaRPr dirty="0"/>
          </a:p>
        </p:txBody>
      </p:sp>
      <p:sp>
        <p:nvSpPr>
          <p:cNvPr id="6" name="K-header-label">
            <a:extLst>
              <a:ext uri="{FF2B5EF4-FFF2-40B4-BE49-F238E27FC236}">
                <a16:creationId xmlns:a16="http://schemas.microsoft.com/office/drawing/2014/main" id="{86C4BC9F-39C0-8789-9B6D-FD78AC7000CF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 dirty="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🎯 探究現場</a:t>
            </a:r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自檢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K-header-title">
            <a:extLst>
              <a:ext uri="{FF2B5EF4-FFF2-40B4-BE49-F238E27FC236}">
                <a16:creationId xmlns:a16="http://schemas.microsoft.com/office/drawing/2014/main" id="{BAB26AF1-8DB4-3A93-3A12-91B7E8D42C65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面對不合預期的數據，我們怎麼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做？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09-C4-B1">
            <a:extLst>
              <a:ext uri="{FF2B5EF4-FFF2-40B4-BE49-F238E27FC236}">
                <a16:creationId xmlns:a16="http://schemas.microsoft.com/office/drawing/2014/main" id="{60FC42BB-BA0C-5C98-C29B-EE0ECF057307}"/>
              </a:ext>
            </a:extLst>
          </p:cNvPr>
          <p:cNvSpPr txBox="1"/>
          <p:nvPr/>
        </p:nvSpPr>
        <p:spPr>
          <a:xfrm>
            <a:off x="998220" y="2745740"/>
            <a:ext cx="45872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資料不合</a:t>
            </a:r>
            <a:r>
              <a:rPr lang="zh-TW" altLang="en-US" sz="26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預測時</a:t>
            </a:r>
            <a:r>
              <a:rPr lang="en-US" altLang="zh-TW" sz="26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……</a:t>
            </a:r>
            <a:endParaRPr lang="zh-TW" altLang="en-US" sz="2600" b="1" dirty="0">
              <a:solidFill>
                <a:srgbClr val="FF4B3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09-C4-B2">
            <a:extLst>
              <a:ext uri="{FF2B5EF4-FFF2-40B4-BE49-F238E27FC236}">
                <a16:creationId xmlns:a16="http://schemas.microsoft.com/office/drawing/2014/main" id="{AAC17171-82E5-5519-388F-22B1AAC42E2E}"/>
              </a:ext>
            </a:extLst>
          </p:cNvPr>
          <p:cNvSpPr txBox="1"/>
          <p:nvPr/>
        </p:nvSpPr>
        <p:spPr>
          <a:xfrm>
            <a:off x="998220" y="3266440"/>
            <a:ext cx="458724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8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8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改成</a:t>
            </a:r>
            <a:r>
              <a:rPr lang="zh-TW" altLang="en-US" sz="28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標準答案？</a:t>
            </a:r>
          </a:p>
          <a:p>
            <a:r>
              <a:rPr lang="en-US" altLang="zh-TW" sz="28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8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只</a:t>
            </a:r>
            <a:r>
              <a:rPr lang="zh-TW" altLang="en-US" sz="28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挑有利結果？</a:t>
            </a:r>
          </a:p>
          <a:p>
            <a:r>
              <a:rPr lang="en-US" altLang="zh-TW" sz="28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8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</a:t>
            </a:r>
            <a:r>
              <a:rPr lang="zh-TW" altLang="en-US" sz="28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說刪除的</a:t>
            </a:r>
            <a:r>
              <a:rPr lang="zh-TW" altLang="en-US" sz="28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理由？</a:t>
            </a:r>
            <a:endParaRPr lang="zh-TW" altLang="en-US" sz="28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09-C5-B1">
            <a:extLst>
              <a:ext uri="{FF2B5EF4-FFF2-40B4-BE49-F238E27FC236}">
                <a16:creationId xmlns:a16="http://schemas.microsoft.com/office/drawing/2014/main" id="{D6459A10-0966-0DD3-718D-28F8F78B18F2}"/>
              </a:ext>
            </a:extLst>
          </p:cNvPr>
          <p:cNvSpPr txBox="1"/>
          <p:nvPr/>
        </p:nvSpPr>
        <p:spPr>
          <a:xfrm>
            <a:off x="6484620" y="2669540"/>
            <a:ext cx="45872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下一步可以</a:t>
            </a:r>
            <a:r>
              <a:rPr lang="zh-TW" altLang="en-US" sz="26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這樣做</a:t>
            </a:r>
            <a:endParaRPr lang="zh-TW" altLang="en-US" sz="2600" b="1" dirty="0">
              <a:solidFill>
                <a:srgbClr val="1E7E34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09-C5-B2">
            <a:extLst>
              <a:ext uri="{FF2B5EF4-FFF2-40B4-BE49-F238E27FC236}">
                <a16:creationId xmlns:a16="http://schemas.microsoft.com/office/drawing/2014/main" id="{DFA8C93B-5162-12F8-0795-DA761A40C5BA}"/>
              </a:ext>
            </a:extLst>
          </p:cNvPr>
          <p:cNvSpPr txBox="1"/>
          <p:nvPr/>
        </p:nvSpPr>
        <p:spPr>
          <a:xfrm>
            <a:off x="6484620" y="3190240"/>
            <a:ext cx="458724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8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保留原始</a:t>
            </a:r>
            <a:r>
              <a:rPr lang="zh-TW" altLang="en-US" sz="28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資料。</a:t>
            </a:r>
            <a:endParaRPr lang="zh-TW" altLang="en-US" sz="28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09-C5-B3">
            <a:extLst>
              <a:ext uri="{FF2B5EF4-FFF2-40B4-BE49-F238E27FC236}">
                <a16:creationId xmlns:a16="http://schemas.microsoft.com/office/drawing/2014/main" id="{0B8BDDC2-BC47-AEAE-FA1B-97F35DD6CBA4}"/>
              </a:ext>
            </a:extLst>
          </p:cNvPr>
          <p:cNvSpPr txBox="1"/>
          <p:nvPr/>
        </p:nvSpPr>
        <p:spPr>
          <a:xfrm>
            <a:off x="6484620" y="3698240"/>
            <a:ext cx="458724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8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查核原因，留下</a:t>
            </a:r>
            <a:r>
              <a:rPr lang="zh-TW" altLang="en-US" sz="28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紀錄。</a:t>
            </a:r>
            <a:endParaRPr lang="zh-TW" altLang="en-US" sz="28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K09-C5-B4">
            <a:extLst>
              <a:ext uri="{FF2B5EF4-FFF2-40B4-BE49-F238E27FC236}">
                <a16:creationId xmlns:a16="http://schemas.microsoft.com/office/drawing/2014/main" id="{43122EB0-8E8A-879F-8274-1273ADAEC55F}"/>
              </a:ext>
            </a:extLst>
          </p:cNvPr>
          <p:cNvSpPr txBox="1"/>
          <p:nvPr/>
        </p:nvSpPr>
        <p:spPr>
          <a:xfrm>
            <a:off x="6484620" y="4206240"/>
            <a:ext cx="458724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8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交代處理依據與分析</a:t>
            </a:r>
            <a:r>
              <a:rPr lang="zh-TW" altLang="en-US" sz="28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影響。</a:t>
            </a:r>
            <a:endParaRPr lang="zh-TW" altLang="en-US" sz="28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dur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dur="1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1"/>
      <p:bldP spid="13" grpId="2"/>
      <p:bldP spid="14" grpId="3"/>
    </p:bldLst>
  </p:timing>
</p:sld>
</file>

<file path=ppt/slides/slide7.xml><?xml version="1.0" encoding="utf-8"?>
<p:sld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3931920"/>
          </a:xfrm>
          <a:prstGeom prst="roundRect">
            <a:avLst/>
          </a:prstGeom>
          <a:solidFill>
            <a:srgbClr val="E0EFF6"/>
          </a:solidFill>
          <a:ln w="19050">
            <a:solidFill>
              <a:srgbClr val="11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400"/>
              </a:spcAft>
              <a:defRPr sz="25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7920" y="1691640"/>
            <a:ext cx="5120640" cy="3931920"/>
          </a:xfrm>
          <a:prstGeom prst="roundRect">
            <a:avLst/>
          </a:prstGeom>
          <a:solidFill>
            <a:srgbClr val="E1EFD8"/>
          </a:solidFill>
          <a:ln w="19050">
            <a:solidFill>
              <a:srgbClr val="1E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400"/>
              </a:spcAft>
              <a:defRPr sz="2500" b="1">
                <a:solidFill>
                  <a:srgbClr val="1E7E34"/>
                </a:solidFill>
                <a:latin typeface="Microsoft JhengHei"/>
              </a:defRPr>
            </a:pPr>
            <a:endParaRPr/>
          </a:p>
        </p:txBody>
      </p:sp>
      <p:sp>
        <p:nvSpPr>
          <p:cNvPr id="6" name="K-header-label">
            <a:extLst>
              <a:ext uri="{FF2B5EF4-FFF2-40B4-BE49-F238E27FC236}">
                <a16:creationId xmlns:a16="http://schemas.microsoft.com/office/drawing/2014/main" id="{2B9E2F5E-5DB1-C301-077A-1D66DE7A936B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 dirty="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🛡 終局</a:t>
            </a:r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工具交付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K-header-title">
            <a:extLst>
              <a:ext uri="{FF2B5EF4-FFF2-40B4-BE49-F238E27FC236}">
                <a16:creationId xmlns:a16="http://schemas.microsoft.com/office/drawing/2014/main" id="{1A14DBFB-3E2B-E7C4-F38A-62FD446E75AC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帶出教室的工具：科學偵測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雙稜鏡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K12-C4-B1">
            <a:extLst>
              <a:ext uri="{FF2B5EF4-FFF2-40B4-BE49-F238E27FC236}">
                <a16:creationId xmlns:a16="http://schemas.microsoft.com/office/drawing/2014/main" id="{8BB79725-FE0A-88D0-F1CA-CD486B298137}"/>
              </a:ext>
            </a:extLst>
          </p:cNvPr>
          <p:cNvSpPr txBox="1"/>
          <p:nvPr/>
        </p:nvSpPr>
        <p:spPr>
          <a:xfrm>
            <a:off x="985520" y="2491740"/>
            <a:ext cx="46126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檢查主張</a:t>
            </a:r>
            <a:endParaRPr lang="zh-TW" altLang="en-US" sz="2600" b="1" dirty="0">
              <a:solidFill>
                <a:srgbClr val="1155CC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12-C4-B2">
            <a:extLst>
              <a:ext uri="{FF2B5EF4-FFF2-40B4-BE49-F238E27FC236}">
                <a16:creationId xmlns:a16="http://schemas.microsoft.com/office/drawing/2014/main" id="{741BBA3F-F8FE-3146-ACD5-AE9E31087424}"/>
              </a:ext>
            </a:extLst>
          </p:cNvPr>
          <p:cNvSpPr txBox="1"/>
          <p:nvPr/>
        </p:nvSpPr>
        <p:spPr>
          <a:xfrm>
            <a:off x="985520" y="3012440"/>
            <a:ext cx="461264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0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出現什麼觀察結果，</a:t>
            </a:r>
          </a:p>
          <a:p>
            <a:r>
              <a:rPr lang="zh-TW" altLang="en-US" sz="30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我會修正這個</a:t>
            </a:r>
            <a:r>
              <a:rPr lang="zh-TW" altLang="en-US" sz="30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主張？</a:t>
            </a:r>
            <a:endParaRPr lang="zh-TW" altLang="en-US" sz="3000" b="1" dirty="0">
              <a:solidFill>
                <a:srgbClr val="FF4B3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12-C4-B3">
            <a:extLst>
              <a:ext uri="{FF2B5EF4-FFF2-40B4-BE49-F238E27FC236}">
                <a16:creationId xmlns:a16="http://schemas.microsoft.com/office/drawing/2014/main" id="{66C32FCD-3D63-3A4D-E136-5B05B0BDC0A4}"/>
              </a:ext>
            </a:extLst>
          </p:cNvPr>
          <p:cNvSpPr txBox="1"/>
          <p:nvPr/>
        </p:nvSpPr>
        <p:spPr>
          <a:xfrm>
            <a:off x="985520" y="4003040"/>
            <a:ext cx="461264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6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先把主張、條件與檢驗方式說</a:t>
            </a:r>
            <a:r>
              <a:rPr lang="zh-TW" altLang="en-US" sz="26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清楚。</a:t>
            </a:r>
            <a:endParaRPr lang="zh-TW" altLang="en-US" sz="26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12-C5-B1">
            <a:extLst>
              <a:ext uri="{FF2B5EF4-FFF2-40B4-BE49-F238E27FC236}">
                <a16:creationId xmlns:a16="http://schemas.microsoft.com/office/drawing/2014/main" id="{BBD132A9-A723-3C8B-6460-5C0BF22913CA}"/>
              </a:ext>
            </a:extLst>
          </p:cNvPr>
          <p:cNvSpPr txBox="1"/>
          <p:nvPr/>
        </p:nvSpPr>
        <p:spPr>
          <a:xfrm>
            <a:off x="6471920" y="2288540"/>
            <a:ext cx="46126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檢查資料</a:t>
            </a:r>
            <a:endParaRPr lang="zh-TW" altLang="en-US" sz="2600" b="1" dirty="0">
              <a:solidFill>
                <a:srgbClr val="1E7E34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12-C5-B2">
            <a:extLst>
              <a:ext uri="{FF2B5EF4-FFF2-40B4-BE49-F238E27FC236}">
                <a16:creationId xmlns:a16="http://schemas.microsoft.com/office/drawing/2014/main" id="{76905668-01A9-A10E-0621-CEC001D6A6BD}"/>
              </a:ext>
            </a:extLst>
          </p:cNvPr>
          <p:cNvSpPr txBox="1"/>
          <p:nvPr/>
        </p:nvSpPr>
        <p:spPr>
          <a:xfrm>
            <a:off x="6471920" y="2809240"/>
            <a:ext cx="4612640" cy="1346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900" b="1" dirty="0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不利結果、其他解釋與資料處理，</a:t>
            </a:r>
          </a:p>
          <a:p>
            <a:r>
              <a:rPr lang="zh-TW" altLang="en-US" sz="2900" b="1" dirty="0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我交代了</a:t>
            </a:r>
            <a:r>
              <a:rPr lang="zh-TW" altLang="en-US" sz="29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嗎？</a:t>
            </a:r>
            <a:endParaRPr lang="zh-TW" altLang="en-US" sz="2900" b="1" dirty="0">
              <a:solidFill>
                <a:srgbClr val="1E7E34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12-C5-B3">
            <a:extLst>
              <a:ext uri="{FF2B5EF4-FFF2-40B4-BE49-F238E27FC236}">
                <a16:creationId xmlns:a16="http://schemas.microsoft.com/office/drawing/2014/main" id="{FF5737F2-A78F-CDCC-CA89-3F75DEC1A0FC}"/>
              </a:ext>
            </a:extLst>
          </p:cNvPr>
          <p:cNvSpPr txBox="1"/>
          <p:nvPr/>
        </p:nvSpPr>
        <p:spPr>
          <a:xfrm>
            <a:off x="6471920" y="4218940"/>
            <a:ext cx="461264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6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保留紀錄，交代限制，讓別人能</a:t>
            </a:r>
            <a:r>
              <a:rPr lang="zh-TW" altLang="en-US" sz="26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檢查。</a:t>
            </a:r>
            <a:endParaRPr lang="zh-TW" altLang="en-US" sz="26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dur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dur="1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1"/>
      <p:bldP spid="12" grpId="2"/>
      <p:bldP spid="13" grpId="3"/>
    </p:bldLst>
  </p:timing>
</p:sld>
</file>

<file path=ppt/slides/slide8.xml><?xml version="1.0" encoding="utf-8"?>
<p:sld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EA4335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0607040" cy="841248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defRPr sz="2100" b="0">
                <a:solidFill>
                  <a:srgbClr val="212121"/>
                </a:solidFill>
                <a:latin typeface="Microsoft JhengHei"/>
              </a:defRPr>
            </a:pPr>
            <a:endParaRPr sz="2200" b="1">
              <a:solidFill>
                <a:srgbClr val="EA4335"/>
              </a:solidFill>
              <a:latin typeface="Microsoft JhengHe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10607040" cy="841248"/>
          </a:xfrm>
          <a:prstGeom prst="roundRect">
            <a:avLst/>
          </a:prstGeom>
          <a:solidFill>
            <a:srgbClr val="FFF8E1"/>
          </a:solidFill>
          <a:ln w="15240">
            <a:solidFill>
              <a:srgbClr val="E37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defRPr sz="2100" b="0">
                <a:solidFill>
                  <a:srgbClr val="212121"/>
                </a:solidFill>
                <a:latin typeface="Microsoft JhengHei"/>
              </a:defRPr>
            </a:pPr>
            <a:endParaRPr sz="2200" b="1">
              <a:solidFill>
                <a:srgbClr val="E37400"/>
              </a:solidFill>
              <a:latin typeface="Microsoft JhengHe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3611880"/>
            <a:ext cx="10607040" cy="841248"/>
          </a:xfrm>
          <a:prstGeom prst="roundRect">
            <a:avLst/>
          </a:prstGeom>
          <a:solidFill>
            <a:srgbClr val="E0EFF6"/>
          </a:solidFill>
          <a:ln w="15240">
            <a:solidFill>
              <a:srgbClr val="11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defRPr sz="2100" b="0">
                <a:solidFill>
                  <a:srgbClr val="212121"/>
                </a:solidFill>
                <a:latin typeface="Microsoft JhengHei"/>
              </a:defRPr>
            </a:pPr>
            <a:endParaRPr sz="2200" b="1">
              <a:solidFill>
                <a:srgbClr val="1155CC"/>
              </a:solidFill>
              <a:latin typeface="Microsoft Jheng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607040" cy="841248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defRPr sz="2100" b="0">
                <a:solidFill>
                  <a:srgbClr val="212121"/>
                </a:solidFill>
                <a:latin typeface="Microsoft JhengHei"/>
              </a:defRPr>
            </a:pPr>
            <a:endParaRPr sz="2200" b="1">
              <a:solidFill>
                <a:srgbClr val="595959"/>
              </a:solidFill>
              <a:latin typeface="Microsoft JhengHei"/>
            </a:endParaRPr>
          </a:p>
        </p:txBody>
      </p:sp>
      <p:sp>
        <p:nvSpPr>
          <p:cNvPr id="8" name="K-header-label">
            <a:extLst>
              <a:ext uri="{FF2B5EF4-FFF2-40B4-BE49-F238E27FC236}">
                <a16:creationId xmlns:a16="http://schemas.microsoft.com/office/drawing/2014/main" id="{22ACB275-0C11-385B-021A-40AD2024C950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⚔ 實戰大擂台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-header-title">
            <a:extLst>
              <a:ext uri="{FF2B5EF4-FFF2-40B4-BE49-F238E27FC236}">
                <a16:creationId xmlns:a16="http://schemas.microsoft.com/office/drawing/2014/main" id="{E3B2B07C-A46E-D4AB-3497-BBA5CC1911E0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嘉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中 </a:t>
            </a:r>
            <a:r>
              <a:rPr lang="en-US" altLang="zh-TW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201 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破案挑戰賽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11-C4-B1">
            <a:extLst>
              <a:ext uri="{FF2B5EF4-FFF2-40B4-BE49-F238E27FC236}">
                <a16:creationId xmlns:a16="http://schemas.microsoft.com/office/drawing/2014/main" id="{981ED0D4-6D90-6E9C-5861-AD8B0085DB1B}"/>
              </a:ext>
            </a:extLst>
          </p:cNvPr>
          <p:cNvSpPr txBox="1"/>
          <p:nvPr/>
        </p:nvSpPr>
        <p:spPr>
          <a:xfrm>
            <a:off x="820420" y="1920240"/>
            <a:ext cx="1042924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5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</a:t>
            </a:r>
            <a:r>
              <a:rPr lang="zh-TW" altLang="en-US" sz="25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｜</a:t>
            </a:r>
            <a:r>
              <a:rPr lang="zh-TW" altLang="en-US" sz="25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豆苗結果不支持原假設；小組完整報告並修正。這就是偽科學</a:t>
            </a:r>
            <a:r>
              <a:rPr lang="zh-TW" altLang="en-US" sz="25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嗎？</a:t>
            </a:r>
            <a:endParaRPr lang="zh-TW" altLang="en-US" sz="25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11-C5-B1">
            <a:extLst>
              <a:ext uri="{FF2B5EF4-FFF2-40B4-BE49-F238E27FC236}">
                <a16:creationId xmlns:a16="http://schemas.microsoft.com/office/drawing/2014/main" id="{AA71E8BB-C9A0-3C8D-C583-BCC7E4BA2113}"/>
              </a:ext>
            </a:extLst>
          </p:cNvPr>
          <p:cNvSpPr txBox="1"/>
          <p:nvPr/>
        </p:nvSpPr>
        <p:spPr>
          <a:xfrm>
            <a:off x="820420" y="2880360"/>
            <a:ext cx="1042924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500" b="1" dirty="0">
                <a:solidFill>
                  <a:srgbClr val="E374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不能只憑結果錯誤定性；還要看方法、資料及是否接受</a:t>
            </a:r>
            <a:r>
              <a:rPr lang="zh-TW" altLang="en-US" sz="2500" b="1">
                <a:solidFill>
                  <a:srgbClr val="E374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檢驗。</a:t>
            </a:r>
            <a:endParaRPr lang="zh-TW" altLang="en-US" sz="2500" b="1" dirty="0">
              <a:solidFill>
                <a:srgbClr val="E374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11-C6-B1">
            <a:extLst>
              <a:ext uri="{FF2B5EF4-FFF2-40B4-BE49-F238E27FC236}">
                <a16:creationId xmlns:a16="http://schemas.microsoft.com/office/drawing/2014/main" id="{43405523-19ED-40B2-4170-B4F9ADD33E95}"/>
              </a:ext>
            </a:extLst>
          </p:cNvPr>
          <p:cNvSpPr txBox="1"/>
          <p:nvPr/>
        </p:nvSpPr>
        <p:spPr>
          <a:xfrm>
            <a:off x="820420" y="3840480"/>
            <a:ext cx="1042924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5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</a:t>
            </a:r>
            <a:r>
              <a:rPr lang="zh-TW" altLang="en-US" sz="25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｜</a:t>
            </a:r>
            <a:r>
              <a:rPr lang="zh-TW" altLang="en-US" sz="25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某組刪掉不合預期的測量值，只呈現漂亮結果。你會要求補</a:t>
            </a:r>
            <a:r>
              <a:rPr lang="zh-TW" altLang="en-US" sz="25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什麼？</a:t>
            </a:r>
            <a:endParaRPr lang="zh-TW" altLang="en-US" sz="25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11-C7-B1">
            <a:extLst>
              <a:ext uri="{FF2B5EF4-FFF2-40B4-BE49-F238E27FC236}">
                <a16:creationId xmlns:a16="http://schemas.microsoft.com/office/drawing/2014/main" id="{E1B40E1E-C09E-9834-FE88-8D8F112C3061}"/>
              </a:ext>
            </a:extLst>
          </p:cNvPr>
          <p:cNvSpPr txBox="1"/>
          <p:nvPr/>
        </p:nvSpPr>
        <p:spPr>
          <a:xfrm>
            <a:off x="820420" y="4800600"/>
            <a:ext cx="1042924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500" b="1" dirty="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原始資料、刪除理由與分析差異；先查核，再</a:t>
            </a:r>
            <a:r>
              <a:rPr lang="zh-TW" altLang="en-US" sz="25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判斷。</a:t>
            </a:r>
            <a:endParaRPr lang="zh-TW" altLang="en-US" sz="25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dur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1"/>
      <p:bldP spid="13" grpId="2"/>
    </p:bldLst>
  </p:timing>
</p:sld>
</file>

<file path=ppt/slides/slide9.xml><?xml version="1.0" encoding="utf-8"?>
<p:sld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07040" cy="1645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10607040" cy="292608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200"/>
              </a:spcAft>
              <a:defRPr sz="28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5" name="K13-C3-B1">
            <a:extLst>
              <a:ext uri="{FF2B5EF4-FFF2-40B4-BE49-F238E27FC236}">
                <a16:creationId xmlns:a16="http://schemas.microsoft.com/office/drawing/2014/main" id="{C764B5C9-4F11-88D7-0E63-5529810FCA0F}"/>
              </a:ext>
            </a:extLst>
          </p:cNvPr>
          <p:cNvSpPr txBox="1"/>
          <p:nvPr/>
        </p:nvSpPr>
        <p:spPr>
          <a:xfrm>
            <a:off x="731520" y="802640"/>
            <a:ext cx="1060704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40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把兩個問題帶回</a:t>
            </a:r>
            <a:r>
              <a:rPr lang="zh-TW" altLang="en-US" sz="40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探究現場</a:t>
            </a:r>
            <a:endParaRPr lang="zh-TW" altLang="en-US" sz="40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" name="K13-C3-B2">
            <a:extLst>
              <a:ext uri="{FF2B5EF4-FFF2-40B4-BE49-F238E27FC236}">
                <a16:creationId xmlns:a16="http://schemas.microsoft.com/office/drawing/2014/main" id="{24AB2732-851F-FEF3-A33B-CC77F68821AC}"/>
              </a:ext>
            </a:extLst>
          </p:cNvPr>
          <p:cNvSpPr txBox="1"/>
          <p:nvPr/>
        </p:nvSpPr>
        <p:spPr>
          <a:xfrm>
            <a:off x="731520" y="1488440"/>
            <a:ext cx="1060704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800" b="1" dirty="0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用一句話，留下今天的</a:t>
            </a:r>
            <a:r>
              <a:rPr lang="zh-TW" altLang="en-US" sz="2800" b="1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學習。</a:t>
            </a:r>
            <a:endParaRPr lang="zh-TW" altLang="en-US" sz="2800" b="1" dirty="0">
              <a:solidFill>
                <a:srgbClr val="1155CC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K13-C4-B1">
            <a:extLst>
              <a:ext uri="{FF2B5EF4-FFF2-40B4-BE49-F238E27FC236}">
                <a16:creationId xmlns:a16="http://schemas.microsoft.com/office/drawing/2014/main" id="{71197943-057C-3A35-32DC-701E0361C151}"/>
              </a:ext>
            </a:extLst>
          </p:cNvPr>
          <p:cNvSpPr txBox="1"/>
          <p:nvPr/>
        </p:nvSpPr>
        <p:spPr>
          <a:xfrm>
            <a:off x="947420" y="2860040"/>
            <a:ext cx="10175240" cy="138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30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評估科學主張時，我會追問＿＿＿＿。</a:t>
            </a:r>
          </a:p>
          <a:p>
            <a:pPr algn="ctr"/>
            <a:endParaRPr lang="zh-TW" altLang="en-US" sz="30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lang="zh-TW" altLang="en-US" sz="30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整理探究資料時，我會保留＿＿＿</a:t>
            </a:r>
            <a:r>
              <a:rPr lang="zh-TW" altLang="en-US" sz="30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＿。</a:t>
            </a:r>
            <a:endParaRPr lang="zh-TW" altLang="en-US" sz="30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K13-C4-B2">
            <a:extLst>
              <a:ext uri="{FF2B5EF4-FFF2-40B4-BE49-F238E27FC236}">
                <a16:creationId xmlns:a16="http://schemas.microsoft.com/office/drawing/2014/main" id="{70FB6847-EC22-BAD4-E92D-BB3445D39173}"/>
              </a:ext>
            </a:extLst>
          </p:cNvPr>
          <p:cNvSpPr txBox="1"/>
          <p:nvPr/>
        </p:nvSpPr>
        <p:spPr>
          <a:xfrm>
            <a:off x="947420" y="4422140"/>
            <a:ext cx="1017524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500" b="1" dirty="0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接下來：用這兩問檢查</a:t>
            </a:r>
            <a:r>
              <a:rPr lang="zh-TW" altLang="en-US" sz="2500" b="1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案例。</a:t>
            </a:r>
            <a:endParaRPr lang="zh-TW" altLang="en-US" sz="2500" b="1" dirty="0">
              <a:solidFill>
                <a:srgbClr val="1155CC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16="http://schemas.microsoft.com/office/drawing/2014/main"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1828800"/>
          </a:xfrm>
          <a:prstGeom prst="roundRect">
            <a:avLst/>
          </a:prstGeom>
          <a:solidFill>
            <a:srgbClr val="E0EFF6"/>
          </a:solidFill>
          <a:ln w="1905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7920" y="1691640"/>
            <a:ext cx="5120640" cy="1828800"/>
          </a:xfrm>
          <a:prstGeom prst="roundRect">
            <a:avLst/>
          </a:prstGeom>
          <a:solidFill>
            <a:srgbClr val="E1EFD8"/>
          </a:solidFill>
          <a:ln w="19050">
            <a:solidFill>
              <a:srgbClr val="99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3703320"/>
            <a:ext cx="5120640" cy="182880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0" y="3703320"/>
            <a:ext cx="5120640" cy="18288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1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8" name="K-header-label">
            <a:extLst>
              <a:ext uri="{FF2B5EF4-FFF2-40B4-BE49-F238E27FC236}">
                <a16:creationId xmlns:a16="http://schemas.microsoft.com/office/drawing/2014/main" id="{9D0AA5F9-9024-33E0-7AEB-FF6CB88FF074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🧭 雙 </a:t>
            </a:r>
            <a:r>
              <a:rPr lang="en-US" altLang="zh-TW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GPS </a:t>
            </a:r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定位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-header-title">
            <a:extLst>
              <a:ext uri="{FF2B5EF4-FFF2-40B4-BE49-F238E27FC236}">
                <a16:creationId xmlns:a16="http://schemas.microsoft.com/office/drawing/2014/main" id="{1839442C-8857-0000-A97C-1055AA957119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今天短講的四個探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案關卡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03-C4-B1">
            <a:extLst>
              <a:ext uri="{FF2B5EF4-FFF2-40B4-BE49-F238E27FC236}">
                <a16:creationId xmlns:a16="http://schemas.microsoft.com/office/drawing/2014/main" id="{7FCAA5E1-1436-CB64-EBCD-5183BE17044D}"/>
              </a:ext>
            </a:extLst>
          </p:cNvPr>
          <p:cNvSpPr txBox="1"/>
          <p:nvPr/>
        </p:nvSpPr>
        <p:spPr>
          <a:xfrm>
            <a:off x="820420" y="1780540"/>
            <a:ext cx="49428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第一站 </a:t>
            </a:r>
            <a:r>
              <a:rPr lang="en-US" altLang="zh-TW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字源考古</a:t>
            </a:r>
            <a:endParaRPr lang="zh-TW" altLang="en-US" sz="2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03-C4-B2">
            <a:extLst>
              <a:ext uri="{FF2B5EF4-FFF2-40B4-BE49-F238E27FC236}">
                <a16:creationId xmlns:a16="http://schemas.microsoft.com/office/drawing/2014/main" id="{50239A75-F2A4-1C19-E21D-F54B50C7E4C1}"/>
              </a:ext>
            </a:extLst>
          </p:cNvPr>
          <p:cNvSpPr txBox="1"/>
          <p:nvPr/>
        </p:nvSpPr>
        <p:spPr>
          <a:xfrm>
            <a:off x="820420" y="2301240"/>
            <a:ext cx="4942840" cy="1117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亞里斯多德的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Episteme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、羅馬的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Scientia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、休厄爾的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Scientist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、西周的「分科之學」。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03-C5-B1">
            <a:extLst>
              <a:ext uri="{FF2B5EF4-FFF2-40B4-BE49-F238E27FC236}">
                <a16:creationId xmlns:a16="http://schemas.microsoft.com/office/drawing/2014/main" id="{73055063-8228-6AEB-C6F6-B7ED4C43ED75}"/>
              </a:ext>
            </a:extLst>
          </p:cNvPr>
          <p:cNvSpPr txBox="1"/>
          <p:nvPr/>
        </p:nvSpPr>
        <p:spPr>
          <a:xfrm>
            <a:off x="6306820" y="1780540"/>
            <a:ext cx="49428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第二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站 </a:t>
            </a:r>
            <a:r>
              <a:rPr lang="en-US" altLang="zh-TW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波</a:t>
            </a:r>
            <a:r>
              <a:rPr lang="zh-TW" altLang="en-US" sz="2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普爾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之刀</a:t>
            </a:r>
            <a:endParaRPr lang="zh-TW" altLang="en-US" sz="2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03-C5-B2">
            <a:extLst>
              <a:ext uri="{FF2B5EF4-FFF2-40B4-BE49-F238E27FC236}">
                <a16:creationId xmlns:a16="http://schemas.microsoft.com/office/drawing/2014/main" id="{A1B22719-AB40-23D3-2D43-F9E6C22BBDE9}"/>
              </a:ext>
            </a:extLst>
          </p:cNvPr>
          <p:cNvSpPr txBox="1"/>
          <p:nvPr/>
        </p:nvSpPr>
        <p:spPr>
          <a:xfrm>
            <a:off x="6306820" y="2301240"/>
            <a:ext cx="4942840" cy="1117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可證偽性：什麼結果會使我們修正主張？它是檢查問題，不是判定一切的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捷徑。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K03-C6-B1">
            <a:extLst>
              <a:ext uri="{FF2B5EF4-FFF2-40B4-BE49-F238E27FC236}">
                <a16:creationId xmlns:a16="http://schemas.microsoft.com/office/drawing/2014/main" id="{414B08A3-7992-BD15-3F19-E9E1C77C1B6A}"/>
              </a:ext>
            </a:extLst>
          </p:cNvPr>
          <p:cNvSpPr txBox="1"/>
          <p:nvPr/>
        </p:nvSpPr>
        <p:spPr>
          <a:xfrm>
            <a:off x="820420" y="3982720"/>
            <a:ext cx="49428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第三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站 </a:t>
            </a:r>
            <a:r>
              <a:rPr lang="en-US" altLang="zh-TW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費曼照妖鏡</a:t>
            </a:r>
            <a:endParaRPr lang="zh-TW" altLang="en-US" sz="2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K03-C6-B2">
            <a:extLst>
              <a:ext uri="{FF2B5EF4-FFF2-40B4-BE49-F238E27FC236}">
                <a16:creationId xmlns:a16="http://schemas.microsoft.com/office/drawing/2014/main" id="{32FE8ABE-122C-3C5F-FEE6-10EFD207BC51}"/>
              </a:ext>
            </a:extLst>
          </p:cNvPr>
          <p:cNvSpPr txBox="1"/>
          <p:nvPr/>
        </p:nvSpPr>
        <p:spPr>
          <a:xfrm>
            <a:off x="820420" y="4503420"/>
            <a:ext cx="49428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竹子跑道、密立根油滴的逐步上移，以及探究實作中容易忽略的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自欺。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K03-C7-B1">
            <a:extLst>
              <a:ext uri="{FF2B5EF4-FFF2-40B4-BE49-F238E27FC236}">
                <a16:creationId xmlns:a16="http://schemas.microsoft.com/office/drawing/2014/main" id="{3E914B6C-ED7C-842A-7DAC-47DBD9FAAC0A}"/>
              </a:ext>
            </a:extLst>
          </p:cNvPr>
          <p:cNvSpPr txBox="1"/>
          <p:nvPr/>
        </p:nvSpPr>
        <p:spPr>
          <a:xfrm>
            <a:off x="6306820" y="3982720"/>
            <a:ext cx="49428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第四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站 </a:t>
            </a:r>
            <a:r>
              <a:rPr lang="en-US" altLang="zh-TW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實戰雙稜鏡</a:t>
            </a:r>
            <a:endParaRPr lang="zh-TW" altLang="en-US" sz="2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7" name="K03-C7-B2">
            <a:extLst>
              <a:ext uri="{FF2B5EF4-FFF2-40B4-BE49-F238E27FC236}">
                <a16:creationId xmlns:a16="http://schemas.microsoft.com/office/drawing/2014/main" id="{9628E994-9531-1528-9A20-B048FDE8434F}"/>
              </a:ext>
            </a:extLst>
          </p:cNvPr>
          <p:cNvSpPr txBox="1"/>
          <p:nvPr/>
        </p:nvSpPr>
        <p:spPr>
          <a:xfrm>
            <a:off x="6306820" y="4503420"/>
            <a:ext cx="49428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透過四道情境挑戰，練習用波普爾之問查主張、費曼之問查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自己。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dur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dur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1"/>
      <p:bldP spid="14" grpId="2"/>
      <p:bldP spid="15" grpId="3"/>
      <p:bldP spid="16" grpId="4"/>
      <p:bldP spid="17" grpId="5"/>
    </p:bldLst>
  </p:timing>
</p:sld>
</file>

<file path=ppt/slides/slide11.xml><?xml version="1.0" encoding="utf-8"?>
<p:sld xmlns:a16="http://schemas.microsoft.com/office/drawing/2014/main"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0607040" cy="841248"/>
          </a:xfrm>
          <a:prstGeom prst="roundRect">
            <a:avLst/>
          </a:prstGeom>
          <a:solidFill>
            <a:srgbClr val="E0EFF6"/>
          </a:solidFill>
          <a:ln w="1524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defRPr sz="2200" b="1">
                <a:solidFill>
                  <a:srgbClr val="1C3052"/>
                </a:solidFill>
                <a:latin typeface="Microsoft JhengHei"/>
              </a:defRPr>
            </a:pPr>
            <a:endParaRPr sz="2200" b="0">
              <a:solidFill>
                <a:srgbClr val="212121"/>
              </a:solidFill>
              <a:latin typeface="Microsoft JhengHe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10607040" cy="841248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11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defRPr sz="2200" b="1">
                <a:solidFill>
                  <a:srgbClr val="1155CC"/>
                </a:solidFill>
                <a:latin typeface="Microsoft JhengHei"/>
              </a:defRPr>
            </a:pPr>
            <a:endParaRPr sz="2200" b="0">
              <a:solidFill>
                <a:srgbClr val="212121"/>
              </a:solidFill>
              <a:latin typeface="Microsoft JhengHe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3611880"/>
            <a:ext cx="10607040" cy="841248"/>
          </a:xfrm>
          <a:prstGeom prst="roundRect">
            <a:avLst/>
          </a:prstGeom>
          <a:solidFill>
            <a:srgbClr val="E1EFD8"/>
          </a:solidFill>
          <a:ln w="15240">
            <a:solidFill>
              <a:srgbClr val="1E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defRPr sz="2200" b="1">
                <a:solidFill>
                  <a:srgbClr val="1E7E34"/>
                </a:solidFill>
                <a:latin typeface="Microsoft JhengHei"/>
              </a:defRPr>
            </a:pPr>
            <a:endParaRPr sz="2200" b="0">
              <a:solidFill>
                <a:srgbClr val="212121"/>
              </a:solidFill>
              <a:latin typeface="Microsoft Jheng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607040" cy="841248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defRPr sz="2200" b="1">
                <a:solidFill>
                  <a:srgbClr val="FFD966"/>
                </a:solidFill>
                <a:latin typeface="Microsoft JhengHei"/>
              </a:defRPr>
            </a:pPr>
            <a:endParaRPr sz="2200" b="0">
              <a:solidFill>
                <a:srgbClr val="212121"/>
              </a:solidFill>
              <a:latin typeface="Microsoft JhengHei"/>
            </a:endParaRPr>
          </a:p>
        </p:txBody>
      </p:sp>
      <p:sp>
        <p:nvSpPr>
          <p:cNvPr id="8" name="K-header-label">
            <a:extLst>
              <a:ext uri="{FF2B5EF4-FFF2-40B4-BE49-F238E27FC236}">
                <a16:creationId xmlns:a16="http://schemas.microsoft.com/office/drawing/2014/main" id="{48117768-EF8D-3033-E215-0E25BB3A5E61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🏛 第一站：字源考古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-header-title">
            <a:extLst>
              <a:ext uri="{FF2B5EF4-FFF2-40B4-BE49-F238E27FC236}">
                <a16:creationId xmlns:a16="http://schemas.microsoft.com/office/drawing/2014/main" id="{450782D7-E7FD-F0DA-BE7E-CA8C80A4D46B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「科學」一詞的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歷史脈絡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04-C4-B1">
            <a:extLst>
              <a:ext uri="{FF2B5EF4-FFF2-40B4-BE49-F238E27FC236}">
                <a16:creationId xmlns:a16="http://schemas.microsoft.com/office/drawing/2014/main" id="{39A3BA77-D5F3-EBE7-5C3D-40D3C64E97FB}"/>
              </a:ext>
            </a:extLst>
          </p:cNvPr>
          <p:cNvSpPr txBox="1"/>
          <p:nvPr/>
        </p:nvSpPr>
        <p:spPr>
          <a:xfrm>
            <a:off x="922020" y="1742440"/>
            <a:ext cx="102260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西元前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世紀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希臘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｜亞里斯多德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Episteme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討論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有系統的知識，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Doxa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意見）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區分。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04-C5-B1">
            <a:extLst>
              <a:ext uri="{FF2B5EF4-FFF2-40B4-BE49-F238E27FC236}">
                <a16:creationId xmlns:a16="http://schemas.microsoft.com/office/drawing/2014/main" id="{2698E8C4-4FC4-DAAC-1173-05CCA210BE9C}"/>
              </a:ext>
            </a:extLst>
          </p:cNvPr>
          <p:cNvSpPr txBox="1"/>
          <p:nvPr/>
        </p:nvSpPr>
        <p:spPr>
          <a:xfrm>
            <a:off x="922020" y="2702560"/>
            <a:ext cx="102260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西元前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世紀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羅馬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｜西塞羅等人以拉丁語討論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知識；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Scientia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源自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scire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知道），泛指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學問。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04-C6-B1">
            <a:extLst>
              <a:ext uri="{FF2B5EF4-FFF2-40B4-BE49-F238E27FC236}">
                <a16:creationId xmlns:a16="http://schemas.microsoft.com/office/drawing/2014/main" id="{D2C9F971-8BEF-9A17-0C4E-FC9791825CF4}"/>
              </a:ext>
            </a:extLst>
          </p:cNvPr>
          <p:cNvSpPr txBox="1"/>
          <p:nvPr/>
        </p:nvSpPr>
        <p:spPr>
          <a:xfrm>
            <a:off x="922020" y="3662680"/>
            <a:ext cx="102260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1833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英國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｜休厄爾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提出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Scientist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科學家）。名稱出現，不等於科學方法在這一年才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誕生。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04-C7-B1">
            <a:extLst>
              <a:ext uri="{FF2B5EF4-FFF2-40B4-BE49-F238E27FC236}">
                <a16:creationId xmlns:a16="http://schemas.microsoft.com/office/drawing/2014/main" id="{54936E06-BFF3-6DA3-8A94-CECBED6A13ED}"/>
              </a:ext>
            </a:extLst>
          </p:cNvPr>
          <p:cNvSpPr txBox="1"/>
          <p:nvPr/>
        </p:nvSpPr>
        <p:spPr>
          <a:xfrm>
            <a:off x="922020" y="4622800"/>
            <a:ext cx="102260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1874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年前後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東亞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｜西周使用「科學」（分科之學）；梁啟超等人傳播此詞，五四時期倡「賽先生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dur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1"/>
      <p:bldP spid="13" grpId="2"/>
    </p:bldLst>
  </p:timing>
</p:sld>
</file>

<file path=ppt/slides/slide12.xml><?xml version="1.0" encoding="utf-8"?>
<p:sld xmlns:a16="http://schemas.microsoft.com/office/drawing/2014/main"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0607040" cy="25603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000"/>
              </a:spcAft>
              <a:defRPr sz="26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4434840"/>
            <a:ext cx="10607040" cy="1234440"/>
          </a:xfrm>
          <a:prstGeom prst="roundRect">
            <a:avLst/>
          </a:prstGeom>
          <a:solidFill>
            <a:srgbClr val="E1EFD8"/>
          </a:solidFill>
          <a:ln w="19050">
            <a:solidFill>
              <a:srgbClr val="99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400"/>
              </a:spcAft>
              <a:defRPr sz="2300" b="1">
                <a:solidFill>
                  <a:srgbClr val="1E7E34"/>
                </a:solidFill>
                <a:latin typeface="Microsoft JhengHei"/>
              </a:defRPr>
            </a:pPr>
            <a:endParaRPr/>
          </a:p>
        </p:txBody>
      </p:sp>
      <p:sp>
        <p:nvSpPr>
          <p:cNvPr id="6" name="K-header-label">
            <a:extLst>
              <a:ext uri="{FF2B5EF4-FFF2-40B4-BE49-F238E27FC236}">
                <a16:creationId xmlns:a16="http://schemas.microsoft.com/office/drawing/2014/main" id="{17DD42F5-B63B-C1EE-4AF7-F72AAFA6CB1B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 dirty="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📉 科學史中的權威</a:t>
            </a:r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偏誤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K-header-title">
            <a:extLst>
              <a:ext uri="{FF2B5EF4-FFF2-40B4-BE49-F238E27FC236}">
                <a16:creationId xmlns:a16="http://schemas.microsoft.com/office/drawing/2014/main" id="{190B7A04-4B2C-F3B1-66E9-38AD7E8C1D86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密立根油滴實驗：大科學家也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可能自欺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K08-C4-B1">
            <a:extLst>
              <a:ext uri="{FF2B5EF4-FFF2-40B4-BE49-F238E27FC236}">
                <a16:creationId xmlns:a16="http://schemas.microsoft.com/office/drawing/2014/main" id="{69396956-43B6-687C-5380-7DDB03B72F92}"/>
              </a:ext>
            </a:extLst>
          </p:cNvPr>
          <p:cNvSpPr txBox="1"/>
          <p:nvPr/>
        </p:nvSpPr>
        <p:spPr>
          <a:xfrm>
            <a:off x="807720" y="1945640"/>
            <a:ext cx="104546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電子電荷的測量值為何逐步上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移？</a:t>
            </a:r>
            <a:endParaRPr lang="zh-TW" altLang="en-US" sz="2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08-C4-B2">
            <a:extLst>
              <a:ext uri="{FF2B5EF4-FFF2-40B4-BE49-F238E27FC236}">
                <a16:creationId xmlns:a16="http://schemas.microsoft.com/office/drawing/2014/main" id="{EBC1D82D-CCF5-F82B-E993-1E3AD2C6A38A}"/>
              </a:ext>
            </a:extLst>
          </p:cNvPr>
          <p:cNvSpPr txBox="1"/>
          <p:nvPr/>
        </p:nvSpPr>
        <p:spPr>
          <a:xfrm>
            <a:off x="807720" y="2390140"/>
            <a:ext cx="104546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密立根以油滴測電子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電荷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；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空氣黏滯係數取值有誤，結果偏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小。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08-C4-B3">
            <a:extLst>
              <a:ext uri="{FF2B5EF4-FFF2-40B4-BE49-F238E27FC236}">
                <a16:creationId xmlns:a16="http://schemas.microsoft.com/office/drawing/2014/main" id="{AC5FA0CA-E30B-BFF0-584D-284C2BAD7E23}"/>
              </a:ext>
            </a:extLst>
          </p:cNvPr>
          <p:cNvSpPr txBox="1"/>
          <p:nvPr/>
        </p:nvSpPr>
        <p:spPr>
          <a:xfrm>
            <a:off x="807720" y="2796540"/>
            <a:ext cx="104546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偏高的結果：更積極找問題，排除偏離原值的</a:t>
            </a:r>
            <a:r>
              <a:rPr lang="zh-TW" altLang="en-US" sz="240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數據。</a:t>
            </a:r>
            <a:endParaRPr lang="zh-TW" altLang="en-US" sz="2400" dirty="0">
              <a:solidFill>
                <a:srgbClr val="FF4B3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08-C4-B4">
            <a:extLst>
              <a:ext uri="{FF2B5EF4-FFF2-40B4-BE49-F238E27FC236}">
                <a16:creationId xmlns:a16="http://schemas.microsoft.com/office/drawing/2014/main" id="{98A13D2A-1753-6215-009D-365553764BFD}"/>
              </a:ext>
            </a:extLst>
          </p:cNvPr>
          <p:cNvSpPr txBox="1"/>
          <p:nvPr/>
        </p:nvSpPr>
        <p:spPr>
          <a:xfrm>
            <a:off x="807720" y="3202940"/>
            <a:ext cx="104546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dirty="0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接近的結果：較少繼續查錯，更容易接受並</a:t>
            </a:r>
            <a:r>
              <a:rPr lang="zh-TW" altLang="en-US" sz="2400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發表。</a:t>
            </a:r>
            <a:endParaRPr lang="zh-TW" altLang="en-US" sz="2400" dirty="0">
              <a:solidFill>
                <a:srgbClr val="1E7E34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08-C4-B5">
            <a:extLst>
              <a:ext uri="{FF2B5EF4-FFF2-40B4-BE49-F238E27FC236}">
                <a16:creationId xmlns:a16="http://schemas.microsoft.com/office/drawing/2014/main" id="{AF8D0606-5DFB-968D-5A06-2A9EA112D619}"/>
              </a:ext>
            </a:extLst>
          </p:cNvPr>
          <p:cNvSpPr txBox="1"/>
          <p:nvPr/>
        </p:nvSpPr>
        <p:spPr>
          <a:xfrm>
            <a:off x="807720" y="3609340"/>
            <a:ext cx="104546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結果逐步上移。（原稿</a:t>
            </a:r>
            <a:r>
              <a:rPr lang="zh-TW" altLang="en-US" sz="24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稱「</a:t>
            </a:r>
            <a:r>
              <a:rPr lang="en-US" altLang="zh-TW" sz="24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25 </a:t>
            </a:r>
            <a:r>
              <a:rPr lang="zh-TW" altLang="en-US" sz="24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</a:t>
            </a:r>
            <a:r>
              <a:rPr lang="zh-TW" altLang="en-US" sz="24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」，年數尚待查證</a:t>
            </a:r>
            <a:r>
              <a:rPr lang="zh-TW" altLang="en-US" sz="24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。）</a:t>
            </a:r>
            <a:endParaRPr lang="zh-TW" altLang="en-US" sz="24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08-C5-B1">
            <a:extLst>
              <a:ext uri="{FF2B5EF4-FFF2-40B4-BE49-F238E27FC236}">
                <a16:creationId xmlns:a16="http://schemas.microsoft.com/office/drawing/2014/main" id="{D6A91B9F-B9F2-D25C-970B-C7B6461EEEB9}"/>
              </a:ext>
            </a:extLst>
          </p:cNvPr>
          <p:cNvSpPr txBox="1"/>
          <p:nvPr/>
        </p:nvSpPr>
        <p:spPr>
          <a:xfrm>
            <a:off x="833120" y="4599940"/>
            <a:ext cx="1040384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5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費曼第一原則（</a:t>
            </a:r>
            <a:r>
              <a:rPr lang="en-US" altLang="zh-TW" sz="25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Feynman's First Principle</a:t>
            </a:r>
            <a:r>
              <a:rPr lang="zh-TW" altLang="en-US" sz="25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</a:t>
            </a:r>
            <a:endParaRPr lang="zh-TW" altLang="en-US" sz="2500" b="1" dirty="0">
              <a:solidFill>
                <a:srgbClr val="1E7E34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K08-C5-B2">
            <a:extLst>
              <a:ext uri="{FF2B5EF4-FFF2-40B4-BE49-F238E27FC236}">
                <a16:creationId xmlns:a16="http://schemas.microsoft.com/office/drawing/2014/main" id="{A45C12B7-3773-F738-58C8-0F18647E0691}"/>
              </a:ext>
            </a:extLst>
          </p:cNvPr>
          <p:cNvSpPr txBox="1"/>
          <p:nvPr/>
        </p:nvSpPr>
        <p:spPr>
          <a:xfrm>
            <a:off x="833120" y="5095240"/>
            <a:ext cx="104038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「你不可欺騙自己，而你自己正是最容易被欺騙的人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。」</a:t>
            </a:r>
            <a:endParaRPr lang="zh-TW" altLang="en-US" sz="2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dur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dur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1"/>
      <p:bldP spid="12" grpId="2"/>
      <p:bldP spid="13" grpId="3"/>
      <p:bldP spid="14" grpId="4"/>
    </p:bldLst>
  </p:timing>
</p:sld>
</file>

<file path=ppt/slides/slide13.xml><?xml version="1.0" encoding="utf-8"?>
<p:sld xmlns:a16="http://schemas.microsoft.com/office/drawing/2014/main"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2011680" cy="3931920"/>
          </a:xfrm>
          <a:prstGeom prst="roundRect">
            <a:avLst/>
          </a:prstGeom>
          <a:solidFill>
            <a:srgbClr val="FDE8E8"/>
          </a:solidFill>
          <a:ln w="15240">
            <a:solidFill>
              <a:srgbClr val="F2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C5221F"/>
                </a:solidFill>
                <a:latin typeface="Microsoft JhengHei"/>
              </a:defRPr>
            </a:pP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889504" y="1691640"/>
            <a:ext cx="2011680" cy="3931920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EA4335"/>
                </a:solidFill>
                <a:latin typeface="Microsoft JhengHei"/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047488" y="1691640"/>
            <a:ext cx="2011680" cy="3931920"/>
          </a:xfrm>
          <a:prstGeom prst="roundRect">
            <a:avLst/>
          </a:prstGeom>
          <a:solidFill>
            <a:srgbClr val="FFF8E1"/>
          </a:solidFill>
          <a:ln w="15240">
            <a:solidFill>
              <a:srgbClr val="F6B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E37400"/>
                </a:solidFill>
                <a:latin typeface="Microsoft JhengHei"/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7205472" y="1691640"/>
            <a:ext cx="2011680" cy="3931920"/>
          </a:xfrm>
          <a:prstGeom prst="roundRect">
            <a:avLst/>
          </a:prstGeom>
          <a:solidFill>
            <a:srgbClr val="E0EFF6"/>
          </a:solidFill>
          <a:ln w="1524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363456" y="1691640"/>
            <a:ext cx="2011680" cy="3931920"/>
          </a:xfrm>
          <a:prstGeom prst="roundRect">
            <a:avLst/>
          </a:prstGeom>
          <a:solidFill>
            <a:srgbClr val="E1EFD8"/>
          </a:solidFill>
          <a:ln w="15240">
            <a:solidFill>
              <a:srgbClr val="99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1E7E34"/>
                </a:solidFill>
                <a:latin typeface="Microsoft JhengHei"/>
              </a:defRPr>
            </a:pPr>
            <a:endParaRPr dirty="0"/>
          </a:p>
        </p:txBody>
      </p:sp>
      <p:sp>
        <p:nvSpPr>
          <p:cNvPr id="9" name="K-header-label">
            <a:extLst>
              <a:ext uri="{FF2B5EF4-FFF2-40B4-BE49-F238E27FC236}">
                <a16:creationId xmlns:a16="http://schemas.microsoft.com/office/drawing/2014/main" id="{0B40E897-97AD-4476-6385-5387F312C06A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 dirty="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🌈 第四站：科學</a:t>
            </a:r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相關詞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-header-title">
            <a:extLst>
              <a:ext uri="{FF2B5EF4-FFF2-40B4-BE49-F238E27FC236}">
                <a16:creationId xmlns:a16="http://schemas.microsoft.com/office/drawing/2014/main" id="{47147058-2A75-EC06-AA9D-DA9CFD778BFB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五個相關詞，描述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不同面向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10-C4-B1">
            <a:extLst>
              <a:ext uri="{FF2B5EF4-FFF2-40B4-BE49-F238E27FC236}">
                <a16:creationId xmlns:a16="http://schemas.microsoft.com/office/drawing/2014/main" id="{B489A766-8CE0-4423-D82A-E9122C2061B1}"/>
              </a:ext>
            </a:extLst>
          </p:cNvPr>
          <p:cNvSpPr txBox="1"/>
          <p:nvPr/>
        </p:nvSpPr>
        <p:spPr>
          <a:xfrm>
            <a:off x="858520" y="1882140"/>
            <a:ext cx="175768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500" b="1">
                <a:solidFill>
                  <a:srgbClr val="CC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反科學</a:t>
            </a:r>
            <a:endParaRPr lang="zh-TW" altLang="en-US" sz="2500" b="1" dirty="0">
              <a:solidFill>
                <a:srgbClr val="CC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10-C4-B2">
            <a:extLst>
              <a:ext uri="{FF2B5EF4-FFF2-40B4-BE49-F238E27FC236}">
                <a16:creationId xmlns:a16="http://schemas.microsoft.com/office/drawing/2014/main" id="{3F077B87-A115-C44E-69E5-4C2C9CC9DE86}"/>
              </a:ext>
            </a:extLst>
          </p:cNvPr>
          <p:cNvSpPr txBox="1"/>
          <p:nvPr/>
        </p:nvSpPr>
        <p:spPr>
          <a:xfrm>
            <a:off x="858520" y="2326640"/>
            <a:ext cx="17576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TW" sz="1600">
                <a:solidFill>
                  <a:srgbClr val="CC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Anti-science</a:t>
            </a:r>
            <a:endParaRPr lang="zh-TW" altLang="en-US" sz="1600" dirty="0">
              <a:solidFill>
                <a:srgbClr val="CC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10-C4-B3">
            <a:extLst>
              <a:ext uri="{FF2B5EF4-FFF2-40B4-BE49-F238E27FC236}">
                <a16:creationId xmlns:a16="http://schemas.microsoft.com/office/drawing/2014/main" id="{76FEDB5F-246C-25F2-9141-4B292342E793}"/>
              </a:ext>
            </a:extLst>
          </p:cNvPr>
          <p:cNvSpPr txBox="1"/>
          <p:nvPr/>
        </p:nvSpPr>
        <p:spPr>
          <a:xfrm>
            <a:off x="858520" y="2644140"/>
            <a:ext cx="175768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2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拒斥科學方法</a:t>
            </a:r>
            <a:r>
              <a:rPr lang="zh-TW" altLang="en-US" sz="22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或證據</a:t>
            </a:r>
            <a:endParaRPr lang="zh-TW" altLang="en-US" sz="22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K10-C4-B4">
            <a:extLst>
              <a:ext uri="{FF2B5EF4-FFF2-40B4-BE49-F238E27FC236}">
                <a16:creationId xmlns:a16="http://schemas.microsoft.com/office/drawing/2014/main" id="{8C354A75-301D-786C-7E6A-44F1FAB6387B}"/>
              </a:ext>
            </a:extLst>
          </p:cNvPr>
          <p:cNvSpPr txBox="1"/>
          <p:nvPr/>
        </p:nvSpPr>
        <p:spPr>
          <a:xfrm>
            <a:off x="858520" y="3380740"/>
            <a:ext cx="1757680" cy="153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如地平說、反疫苗運動。受意識形態或利益影響，拒絕檢驗與</a:t>
            </a:r>
            <a:r>
              <a:rPr lang="zh-TW" altLang="en-US" sz="20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對話。</a:t>
            </a:r>
            <a:endParaRPr lang="zh-TW" altLang="en-US" sz="20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K10-C5-B1">
            <a:extLst>
              <a:ext uri="{FF2B5EF4-FFF2-40B4-BE49-F238E27FC236}">
                <a16:creationId xmlns:a16="http://schemas.microsoft.com/office/drawing/2014/main" id="{A5571249-8430-E265-D19D-8E032D2ADFE7}"/>
              </a:ext>
            </a:extLst>
          </p:cNvPr>
          <p:cNvSpPr txBox="1"/>
          <p:nvPr/>
        </p:nvSpPr>
        <p:spPr>
          <a:xfrm>
            <a:off x="3016504" y="1882140"/>
            <a:ext cx="175768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500" b="1">
                <a:solidFill>
                  <a:srgbClr val="FF33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偽科學</a:t>
            </a:r>
            <a:endParaRPr lang="zh-TW" altLang="en-US" sz="2500" b="1" dirty="0">
              <a:solidFill>
                <a:srgbClr val="FF33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K10-C5-B2">
            <a:extLst>
              <a:ext uri="{FF2B5EF4-FFF2-40B4-BE49-F238E27FC236}">
                <a16:creationId xmlns:a16="http://schemas.microsoft.com/office/drawing/2014/main" id="{7EC09637-F647-1756-FF44-A21CA854AF5C}"/>
              </a:ext>
            </a:extLst>
          </p:cNvPr>
          <p:cNvSpPr txBox="1"/>
          <p:nvPr/>
        </p:nvSpPr>
        <p:spPr>
          <a:xfrm>
            <a:off x="3016504" y="2326640"/>
            <a:ext cx="17576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TW" sz="1600">
                <a:solidFill>
                  <a:srgbClr val="FF33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Pseudoscience</a:t>
            </a:r>
            <a:endParaRPr lang="zh-TW" altLang="en-US" sz="1600" dirty="0">
              <a:solidFill>
                <a:srgbClr val="FF33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7" name="K10-C5-B3">
            <a:extLst>
              <a:ext uri="{FF2B5EF4-FFF2-40B4-BE49-F238E27FC236}">
                <a16:creationId xmlns:a16="http://schemas.microsoft.com/office/drawing/2014/main" id="{A98D3117-DA63-FA77-0DFB-7EF26F8DD170}"/>
              </a:ext>
            </a:extLst>
          </p:cNvPr>
          <p:cNvSpPr txBox="1"/>
          <p:nvPr/>
        </p:nvSpPr>
        <p:spPr>
          <a:xfrm>
            <a:off x="3016504" y="2644140"/>
            <a:ext cx="175768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2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科學包裝，</a:t>
            </a:r>
            <a:r>
              <a:rPr lang="zh-TW" altLang="en-US" sz="22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逃避反證</a:t>
            </a:r>
            <a:endParaRPr lang="zh-TW" altLang="en-US" sz="22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8" name="K10-C5-B4">
            <a:extLst>
              <a:ext uri="{FF2B5EF4-FFF2-40B4-BE49-F238E27FC236}">
                <a16:creationId xmlns:a16="http://schemas.microsoft.com/office/drawing/2014/main" id="{17AB4A1E-F947-031A-C22A-1D435B77D2CF}"/>
              </a:ext>
            </a:extLst>
          </p:cNvPr>
          <p:cNvSpPr txBox="1"/>
          <p:nvPr/>
        </p:nvSpPr>
        <p:spPr>
          <a:xfrm>
            <a:off x="3016504" y="3380740"/>
            <a:ext cx="1757680" cy="153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如量子手環、占星。使用難檢驗的說法，或遇反證仍不</a:t>
            </a:r>
            <a:r>
              <a:rPr lang="zh-TW" altLang="en-US" sz="20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修正。</a:t>
            </a:r>
            <a:endParaRPr lang="zh-TW" altLang="en-US" sz="20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9" name="K10-C6-B1">
            <a:extLst>
              <a:ext uri="{FF2B5EF4-FFF2-40B4-BE49-F238E27FC236}">
                <a16:creationId xmlns:a16="http://schemas.microsoft.com/office/drawing/2014/main" id="{9535C929-FC04-8C9F-B0B7-4896203A26E1}"/>
              </a:ext>
            </a:extLst>
          </p:cNvPr>
          <p:cNvSpPr txBox="1"/>
          <p:nvPr/>
        </p:nvSpPr>
        <p:spPr>
          <a:xfrm>
            <a:off x="5174488" y="1882140"/>
            <a:ext cx="175768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500" b="1">
                <a:solidFill>
                  <a:srgbClr val="E374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貨物崇拜</a:t>
            </a:r>
            <a:endParaRPr lang="zh-TW" altLang="en-US" sz="2500" b="1" dirty="0">
              <a:solidFill>
                <a:srgbClr val="E374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0" name="K10-C6-B2">
            <a:extLst>
              <a:ext uri="{FF2B5EF4-FFF2-40B4-BE49-F238E27FC236}">
                <a16:creationId xmlns:a16="http://schemas.microsoft.com/office/drawing/2014/main" id="{E08E3BEE-202A-79EB-9490-C13686608A44}"/>
              </a:ext>
            </a:extLst>
          </p:cNvPr>
          <p:cNvSpPr txBox="1"/>
          <p:nvPr/>
        </p:nvSpPr>
        <p:spPr>
          <a:xfrm>
            <a:off x="5174488" y="2326640"/>
            <a:ext cx="17576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TW" sz="1600">
                <a:solidFill>
                  <a:srgbClr val="E374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Cargo Cult</a:t>
            </a:r>
            <a:endParaRPr lang="zh-TW" altLang="en-US" sz="1600" dirty="0">
              <a:solidFill>
                <a:srgbClr val="E374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1" name="K10-C6-B3">
            <a:extLst>
              <a:ext uri="{FF2B5EF4-FFF2-40B4-BE49-F238E27FC236}">
                <a16:creationId xmlns:a16="http://schemas.microsoft.com/office/drawing/2014/main" id="{2DDDEC56-EB04-569A-624E-B9720BBB68D1}"/>
              </a:ext>
            </a:extLst>
          </p:cNvPr>
          <p:cNvSpPr txBox="1"/>
          <p:nvPr/>
        </p:nvSpPr>
        <p:spPr>
          <a:xfrm>
            <a:off x="5174488" y="2644140"/>
            <a:ext cx="175768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2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外殼完整，</a:t>
            </a:r>
            <a:r>
              <a:rPr lang="zh-TW" altLang="en-US" sz="22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誠實不足</a:t>
            </a:r>
            <a:endParaRPr lang="zh-TW" altLang="en-US" sz="22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2" name="K10-C6-B4">
            <a:extLst>
              <a:ext uri="{FF2B5EF4-FFF2-40B4-BE49-F238E27FC236}">
                <a16:creationId xmlns:a16="http://schemas.microsoft.com/office/drawing/2014/main" id="{015B49F7-648B-B44F-2361-0C9D17817BA4}"/>
              </a:ext>
            </a:extLst>
          </p:cNvPr>
          <p:cNvSpPr txBox="1"/>
          <p:nvPr/>
        </p:nvSpPr>
        <p:spPr>
          <a:xfrm>
            <a:off x="5174488" y="3380740"/>
            <a:ext cx="1757680" cy="153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如偷改數據、先射箭再畫靶。形式到位，卻不交代不利</a:t>
            </a:r>
            <a:r>
              <a:rPr lang="zh-TW" altLang="en-US" sz="20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證據。</a:t>
            </a:r>
            <a:endParaRPr lang="zh-TW" altLang="en-US" sz="20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3" name="K10-C7-B1">
            <a:extLst>
              <a:ext uri="{FF2B5EF4-FFF2-40B4-BE49-F238E27FC236}">
                <a16:creationId xmlns:a16="http://schemas.microsoft.com/office/drawing/2014/main" id="{A055E88C-C9F2-2E22-D501-71B8CF2D343E}"/>
              </a:ext>
            </a:extLst>
          </p:cNvPr>
          <p:cNvSpPr txBox="1"/>
          <p:nvPr/>
        </p:nvSpPr>
        <p:spPr>
          <a:xfrm>
            <a:off x="7332472" y="1882140"/>
            <a:ext cx="175768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500" b="1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邊緣科學</a:t>
            </a:r>
            <a:endParaRPr lang="zh-TW" altLang="en-US" sz="2500" b="1" dirty="0">
              <a:solidFill>
                <a:srgbClr val="1155CC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K10-C7-B2">
            <a:extLst>
              <a:ext uri="{FF2B5EF4-FFF2-40B4-BE49-F238E27FC236}">
                <a16:creationId xmlns:a16="http://schemas.microsoft.com/office/drawing/2014/main" id="{E5CEE4E2-F1E4-5B38-4F54-9767A3D12B99}"/>
              </a:ext>
            </a:extLst>
          </p:cNvPr>
          <p:cNvSpPr txBox="1"/>
          <p:nvPr/>
        </p:nvSpPr>
        <p:spPr>
          <a:xfrm>
            <a:off x="7332472" y="2326640"/>
            <a:ext cx="17576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TW" sz="1600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Fringe science</a:t>
            </a:r>
            <a:endParaRPr lang="zh-TW" altLang="en-US" sz="1600" dirty="0">
              <a:solidFill>
                <a:srgbClr val="1155CC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5" name="K10-C7-B3">
            <a:extLst>
              <a:ext uri="{FF2B5EF4-FFF2-40B4-BE49-F238E27FC236}">
                <a16:creationId xmlns:a16="http://schemas.microsoft.com/office/drawing/2014/main" id="{1A367ABC-FC14-C0B9-3E8C-3C23665E30C8}"/>
              </a:ext>
            </a:extLst>
          </p:cNvPr>
          <p:cNvSpPr txBox="1"/>
          <p:nvPr/>
        </p:nvSpPr>
        <p:spPr>
          <a:xfrm>
            <a:off x="7332472" y="2644140"/>
            <a:ext cx="175768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2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非主流，仍</a:t>
            </a:r>
            <a:r>
              <a:rPr lang="zh-TW" altLang="en-US" sz="22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須檢驗</a:t>
            </a:r>
            <a:endParaRPr lang="zh-TW" altLang="en-US" sz="22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6" name="K10-C7-B4">
            <a:extLst>
              <a:ext uri="{FF2B5EF4-FFF2-40B4-BE49-F238E27FC236}">
                <a16:creationId xmlns:a16="http://schemas.microsoft.com/office/drawing/2014/main" id="{F62CA367-9945-740B-361E-32032951A934}"/>
              </a:ext>
            </a:extLst>
          </p:cNvPr>
          <p:cNvSpPr txBox="1"/>
          <p:nvPr/>
        </p:nvSpPr>
        <p:spPr>
          <a:xfrm>
            <a:off x="7332472" y="3380740"/>
            <a:ext cx="1757680" cy="184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如魏格納的</a:t>
            </a:r>
          </a:p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大陸漂移說。</a:t>
            </a:r>
          </a:p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新想法可能</a:t>
            </a:r>
          </a:p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遭到質疑，</a:t>
            </a:r>
          </a:p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仍須依證據</a:t>
            </a:r>
          </a:p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檢驗與</a:t>
            </a:r>
            <a:r>
              <a:rPr lang="zh-TW" altLang="en-US" sz="20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修正。</a:t>
            </a:r>
            <a:endParaRPr lang="zh-TW" altLang="en-US" sz="20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7" name="K10-C8-B1">
            <a:extLst>
              <a:ext uri="{FF2B5EF4-FFF2-40B4-BE49-F238E27FC236}">
                <a16:creationId xmlns:a16="http://schemas.microsoft.com/office/drawing/2014/main" id="{6F3BBCC0-34D8-B0B4-0F28-10A7BB6A6893}"/>
              </a:ext>
            </a:extLst>
          </p:cNvPr>
          <p:cNvSpPr txBox="1"/>
          <p:nvPr/>
        </p:nvSpPr>
        <p:spPr>
          <a:xfrm>
            <a:off x="9490456" y="1882140"/>
            <a:ext cx="175768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5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正統科學</a:t>
            </a:r>
            <a:endParaRPr lang="zh-TW" altLang="en-US" sz="2500" b="1" dirty="0">
              <a:solidFill>
                <a:srgbClr val="1E7E34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8" name="K10-C8-B2">
            <a:extLst>
              <a:ext uri="{FF2B5EF4-FFF2-40B4-BE49-F238E27FC236}">
                <a16:creationId xmlns:a16="http://schemas.microsoft.com/office/drawing/2014/main" id="{22625B96-EE33-A4EF-B796-AC0E41620233}"/>
              </a:ext>
            </a:extLst>
          </p:cNvPr>
          <p:cNvSpPr txBox="1"/>
          <p:nvPr/>
        </p:nvSpPr>
        <p:spPr>
          <a:xfrm>
            <a:off x="9490456" y="2326640"/>
            <a:ext cx="17576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TW" sz="1600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Orthodox science</a:t>
            </a:r>
            <a:endParaRPr lang="zh-TW" altLang="en-US" sz="1600" dirty="0">
              <a:solidFill>
                <a:srgbClr val="1E7E34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9" name="K10-C8-B3">
            <a:extLst>
              <a:ext uri="{FF2B5EF4-FFF2-40B4-BE49-F238E27FC236}">
                <a16:creationId xmlns:a16="http://schemas.microsoft.com/office/drawing/2014/main" id="{EEDA5144-2243-1B74-3E2A-FFED897D935A}"/>
              </a:ext>
            </a:extLst>
          </p:cNvPr>
          <p:cNvSpPr txBox="1"/>
          <p:nvPr/>
        </p:nvSpPr>
        <p:spPr>
          <a:xfrm>
            <a:off x="9490456" y="2644140"/>
            <a:ext cx="175768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2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可檢驗，能</a:t>
            </a:r>
            <a:r>
              <a:rPr lang="zh-TW" altLang="en-US" sz="22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重複查核</a:t>
            </a:r>
            <a:endParaRPr lang="zh-TW" altLang="en-US" sz="22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0" name="K10-C8-B4">
            <a:extLst>
              <a:ext uri="{FF2B5EF4-FFF2-40B4-BE49-F238E27FC236}">
                <a16:creationId xmlns:a16="http://schemas.microsoft.com/office/drawing/2014/main" id="{26693137-9C26-54F4-77C2-3CE0D4A4F13D}"/>
              </a:ext>
            </a:extLst>
          </p:cNvPr>
          <p:cNvSpPr txBox="1"/>
          <p:nvPr/>
        </p:nvSpPr>
        <p:spPr>
          <a:xfrm>
            <a:off x="9490456" y="3380740"/>
            <a:ext cx="1757680" cy="153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如量子力學、</a:t>
            </a:r>
          </a:p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相對論。</a:t>
            </a:r>
          </a:p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接受新資料</a:t>
            </a:r>
          </a:p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與新的測試，</a:t>
            </a:r>
          </a:p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必要時</a:t>
            </a:r>
            <a:r>
              <a:rPr lang="zh-TW" altLang="en-US" sz="20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修正。</a:t>
            </a:r>
            <a:endParaRPr lang="zh-TW" altLang="en-US" sz="20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dur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dur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dur="1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dur="1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dur="1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dur="1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dur="1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dur="1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dur="1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dur="1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dur="1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dur="1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dur="1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dur="1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1"/>
      <p:bldP spid="16" grpId="2"/>
      <p:bldP spid="17" grpId="3"/>
      <p:bldP spid="18" grpId="4"/>
      <p:bldP spid="19" grpId="5"/>
      <p:bldP spid="20" grpId="6"/>
      <p:bldP spid="21" grpId="7"/>
      <p:bldP spid="22" grpId="8"/>
      <p:bldP spid="23" grpId="9"/>
      <p:bldP spid="24" grpId="10"/>
      <p:bldP spid="25" grpId="11"/>
      <p:bldP spid="26" grpId="12"/>
      <p:bldP spid="27" grpId="13"/>
      <p:bldP spid="28" grpId="14"/>
      <p:bldP spid="29" grpId="15"/>
      <p:bldP spid="30" grpId="16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2979</Words>
  <Application>Microsoft Office PowerPoint</Application>
  <PresentationFormat>寬螢幕</PresentationFormat>
  <Paragraphs>265</Paragraphs>
  <Slides>13</Slides>
  <Notes>13</Notes>
  <HiddenSlides>4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8" baseType="lpstr">
      <vt:lpstr>Microsoft JhengHei</vt:lpstr>
      <vt:lpstr>Arial</vt:lpstr>
      <vt:lpstr>Calibri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Chih_Wen Fan</cp:lastModifiedBy>
  <cp:revision>3</cp:revision>
  <dcterms:created xsi:type="dcterms:W3CDTF">2013-01-27T09:14:16Z</dcterms:created>
  <dcterms:modified xsi:type="dcterms:W3CDTF">2026-09-17T20:07:09Z</dcterms:modified>
  <cp:category/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1.0.151</vt:lpwstr>
  </op:property>
  <op:property fmtid="{D5CDD505-2E9C-101B-9397-08002B2CF9AE}" pid="3" name="OfficeCLI.LastModified">
    <vt:lpwstr xmlns:vt="http://schemas.openxmlformats.org/officeDocument/2006/docPropsVTypes">2026-09-17T20:07:59Z</vt:lpwstr>
  </op:property>
</op:Properties>
</file>