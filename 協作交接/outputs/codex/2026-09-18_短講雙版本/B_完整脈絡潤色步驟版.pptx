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docProps/core.xml" Id="rId3" /><Relationship Type="http://schemas.openxmlformats.org/package/2006/relationships/metadata/thumbnail" Target="docProps/thumbnail.jpeg" Id="rId2" /><Relationship Type="http://schemas.openxmlformats.org/officeDocument/2006/relationships/officeDocument" Target="ppt/presentation.xml" Id="rId1" /><Relationship Type="http://schemas.openxmlformats.org/officeDocument/2006/relationships/extended-properties" Target="docProps/app.xml" Id="rId4" /><Relationship Type="http://schemas.openxmlformats.org/officeDocument/2006/relationships/custom-properties" Target="/docProps/custom.xml" Id="R1f4a764016a248bc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EFD8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4060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【B </a:t>
            </a:r>
            <a:r>
              <a:rPr lang="zh-TW" altLang="en-US"/>
              <a:t>版：完整脈絡潤色步驟版｜來源原第 </a:t>
            </a:r>
            <a:r>
              <a:rPr lang="en-US" altLang="zh-TW"/>
              <a:t>1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90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先問：有圖表、有數據，就能算科學嗎？這個完整版本保留字源、分界、兩段費曼故事與四題挑戰；依原稿配時約 </a:t>
            </a:r>
            <a:r>
              <a:rPr lang="en-US" altLang="zh-TW"/>
              <a:t>22.5 </a:t>
            </a:r>
            <a:r>
              <a:rPr lang="zh-TW" altLang="en-US"/>
              <a:t>分鐘，並非十分鐘版。</a:t>
            </a:r>
          </a:p>
          <a:p>
            <a:endParaRPr lang="zh-TW" altLang="en-US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：先看木頭耳機的問題，想 </a:t>
            </a:r>
            <a:r>
              <a:rPr lang="en-US" altLang="zh-TW"/>
              <a:t>5 </a:t>
            </a:r>
            <a:r>
              <a:rPr lang="zh-TW" altLang="en-US"/>
              <a:t>秒。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：揭示本節脈絡；教師用一句話交代全程。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【B </a:t>
            </a:r>
            <a:r>
              <a:rPr lang="zh-TW" altLang="en-US"/>
              <a:t>版：完整脈絡潤色步驟版｜來源原第 </a:t>
            </a:r>
            <a:r>
              <a:rPr lang="en-US" altLang="zh-TW"/>
              <a:t>2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120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兩個案例都是教學模擬，不代表已查證商品或本班事件。先讓學生說需要追問什麼。</a:t>
            </a:r>
            <a:r>
              <a:rPr lang="en-US" altLang="zh-TW"/>
              <a:t>A </a:t>
            </a:r>
            <a:r>
              <a:rPr lang="zh-TW" altLang="en-US"/>
              <a:t>的售價、專利與術語本身不是判偽依據；</a:t>
            </a:r>
            <a:r>
              <a:rPr lang="en-US" altLang="zh-TW"/>
              <a:t>B </a:t>
            </a:r>
            <a:r>
              <a:rPr lang="zh-TW" altLang="en-US"/>
              <a:t>則明示改動數據。</a:t>
            </a:r>
          </a:p>
          <a:p>
            <a:endParaRPr lang="zh-TW" altLang="en-US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</a:t>
            </a:r>
            <a:r>
              <a:rPr lang="en-US" altLang="zh-TW"/>
              <a:t>A</a:t>
            </a:r>
            <a:r>
              <a:rPr lang="zh-TW" altLang="en-US"/>
              <a:t>、</a:t>
            </a:r>
            <a:r>
              <a:rPr lang="en-US" altLang="zh-TW"/>
              <a:t>B </a:t>
            </a:r>
            <a:r>
              <a:rPr lang="zh-TW" altLang="en-US"/>
              <a:t>題幹完整可見，兩個判讀尚未顯示。</a:t>
            </a:r>
          </a:p>
          <a:p>
            <a:r>
              <a:rPr lang="zh-TW" altLang="en-US"/>
              <a:t>等待 </a:t>
            </a:r>
            <a:r>
              <a:rPr lang="en-US" altLang="zh-TW"/>
              <a:t>8 </a:t>
            </a:r>
            <a:r>
              <a:rPr lang="zh-TW" altLang="en-US"/>
              <a:t>秒，請一位學生說明判斷。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</a:t>
            </a:r>
            <a:r>
              <a:rPr lang="en-US" altLang="zh-TW"/>
              <a:t>A </a:t>
            </a:r>
            <a:r>
              <a:rPr lang="zh-TW" altLang="en-US"/>
              <a:t>的證據問題。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</a:t>
            </a:r>
            <a:r>
              <a:rPr lang="en-US" altLang="zh-TW"/>
              <a:t>B </a:t>
            </a:r>
            <a:r>
              <a:rPr lang="zh-TW" altLang="en-US"/>
              <a:t>的資料誠實問題。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【B </a:t>
            </a:r>
            <a:r>
              <a:rPr lang="zh-TW" altLang="en-US"/>
              <a:t>版：完整脈絡潤色步驟版｜來源原第 </a:t>
            </a:r>
            <a:r>
              <a:rPr lang="en-US" altLang="zh-TW"/>
              <a:t>3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60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本頁只作導航，不先解釋每個名詞。學習終點是能提出查核問題，並誠實交代資料。</a:t>
            </a:r>
          </a:p>
          <a:p>
            <a:endParaRPr lang="zh-TW" altLang="en-US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：第一站。</a:t>
            </a:r>
          </a:p>
          <a:p>
            <a:r>
              <a:rPr lang="zh-TW" altLang="en-US"/>
              <a:t>點擊 </a:t>
            </a:r>
            <a:r>
              <a:rPr lang="en-US" altLang="zh-TW"/>
              <a:t>1–3</a:t>
            </a:r>
            <a:r>
              <a:rPr lang="zh-TW" altLang="en-US"/>
              <a:t>：依序揭示其餘三站；每站只說一句。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【B </a:t>
            </a:r>
            <a:r>
              <a:rPr lang="zh-TW" altLang="en-US"/>
              <a:t>版：完整脈絡潤色步驟版｜來源原第 </a:t>
            </a:r>
            <a:r>
              <a:rPr lang="en-US" altLang="zh-TW"/>
              <a:t>4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120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保留原稿四段歷史與人物，但不再把 </a:t>
            </a:r>
            <a:r>
              <a:rPr lang="en-US" altLang="zh-TW"/>
              <a:t>Scientia </a:t>
            </a:r>
            <a:r>
              <a:rPr lang="zh-TW" altLang="en-US"/>
              <a:t>說成西塞羅獨創，也不把 </a:t>
            </a:r>
            <a:r>
              <a:rPr lang="en-US" altLang="zh-TW"/>
              <a:t>Scientist </a:t>
            </a:r>
            <a:r>
              <a:rPr lang="zh-TW" altLang="en-US"/>
              <a:t>的命名說成科學領域在某一年正式定型。東亞詞語史比單一發明者更複雜；</a:t>
            </a:r>
            <a:r>
              <a:rPr lang="en-US" altLang="zh-TW"/>
              <a:t>1874 </a:t>
            </a:r>
            <a:r>
              <a:rPr lang="zh-TW" altLang="en-US"/>
              <a:t>為原稿歷史錨點，不宣稱首次出現。西周、梁啟超與五四的傳播不應壓成同一事件。來源：</a:t>
            </a:r>
            <a:r>
              <a:rPr lang="en-US" altLang="zh-TW"/>
              <a:t>https://plato.stanford.edu/entries/whewell/</a:t>
            </a:r>
            <a:r>
              <a:rPr lang="zh-TW" altLang="en-US"/>
              <a:t>；科學詞語史研究：</a:t>
            </a:r>
            <a:r>
              <a:rPr lang="en-US" altLang="zh-TW"/>
              <a:t>https://ir.library.osaka-u.ac.jp/repo/ouka/all/56924/mgsl056_123.pdf</a:t>
            </a:r>
          </a:p>
          <a:p>
            <a:endParaRPr lang="en-US" altLang="zh-TW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：希臘。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：羅馬。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：英國。</a:t>
            </a:r>
          </a:p>
          <a:p>
            <a:r>
              <a:rPr lang="zh-TW" altLang="en-US"/>
              <a:t>點擊 </a:t>
            </a:r>
            <a:r>
              <a:rPr lang="en-US" altLang="zh-TW"/>
              <a:t>3</a:t>
            </a:r>
            <a:r>
              <a:rPr lang="zh-TW" altLang="en-US"/>
              <a:t>：東亞；提醒名稱、方法及制度的演變不同步。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【B </a:t>
            </a:r>
            <a:r>
              <a:rPr lang="zh-TW" altLang="en-US"/>
              <a:t>版：完整脈絡潤色步驟版｜來源原第 </a:t>
            </a:r>
            <a:r>
              <a:rPr lang="en-US" altLang="zh-TW"/>
              <a:t>5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150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可證偽性是波普爾的重要想法，但不等於單一充分判準。非科學欄指問題類型，並非禁止以科學研究藝術、宗教等人類現象。相對論例子是教學摘要，不冒充愛因斯坦原話。來源：</a:t>
            </a:r>
            <a:r>
              <a:rPr lang="en-US" altLang="zh-TW"/>
              <a:t>https://plato.stanford.edu/entries/pseudo-science/</a:t>
            </a:r>
          </a:p>
          <a:p>
            <a:endParaRPr lang="en-US" altLang="zh-TW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：先說可證偽性。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：科學例子。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：非科學問題。</a:t>
            </a:r>
          </a:p>
          <a:p>
            <a:r>
              <a:rPr lang="zh-TW" altLang="en-US"/>
              <a:t>點擊 </a:t>
            </a:r>
            <a:r>
              <a:rPr lang="en-US" altLang="zh-TW"/>
              <a:t>3</a:t>
            </a:r>
            <a:r>
              <a:rPr lang="zh-TW" altLang="en-US"/>
              <a:t>：偽科學警訊。</a:t>
            </a:r>
          </a:p>
          <a:p>
            <a:r>
              <a:rPr lang="zh-TW" altLang="en-US"/>
              <a:t>學生說出「研究結果錯誤」與「逃避證據」有何不同。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【B </a:t>
            </a:r>
            <a:r>
              <a:rPr lang="zh-TW" altLang="en-US"/>
              <a:t>版：完整脈絡潤色步驟版｜來源原第 </a:t>
            </a:r>
            <a:r>
              <a:rPr lang="en-US" altLang="zh-TW"/>
              <a:t>6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90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先讓學生說出一萬次觀察能支持到什麼程度。黑天鵝是全稱命題的邏輯反例；真實實驗中的異常仍要查核測量、條件與其他解釋。原稿「</a:t>
            </a:r>
            <a:r>
              <a:rPr lang="en-US" altLang="zh-TW"/>
              <a:t>0.1 </a:t>
            </a:r>
            <a:r>
              <a:rPr lang="zh-TW" altLang="en-US"/>
              <a:t>秒粉碎」為修辭，改成精確的邏輯敘述。來源：</a:t>
            </a:r>
            <a:r>
              <a:rPr lang="en-US" altLang="zh-TW"/>
              <a:t>https://plato.stanford.edu/archives/spr2013/entries/popper/</a:t>
            </a:r>
          </a:p>
          <a:p>
            <a:endParaRPr lang="en-US" altLang="zh-TW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：主張與白天鵝觀察。</a:t>
            </a:r>
          </a:p>
          <a:p>
            <a:r>
              <a:rPr lang="zh-TW" altLang="en-US"/>
              <a:t>等待 </a:t>
            </a:r>
            <a:r>
              <a:rPr lang="en-US" altLang="zh-TW"/>
              <a:t>5–8 </a:t>
            </a:r>
            <a:r>
              <a:rPr lang="zh-TW" altLang="en-US"/>
              <a:t>秒，請學生表態。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：觀察能支持的範圍。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：經確認的黑天鵝。</a:t>
            </a:r>
          </a:p>
          <a:p>
            <a:r>
              <a:rPr lang="zh-TW" altLang="en-US"/>
              <a:t>點擊 </a:t>
            </a:r>
            <a:r>
              <a:rPr lang="en-US" altLang="zh-TW"/>
              <a:t>3</a:t>
            </a:r>
            <a:r>
              <a:rPr lang="zh-TW" altLang="en-US"/>
              <a:t>：科學理論持續受檢驗的結論。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【B </a:t>
            </a:r>
            <a:r>
              <a:rPr lang="zh-TW" altLang="en-US"/>
              <a:t>版：完整脈絡潤色步驟版｜來源原第 </a:t>
            </a:r>
            <a:r>
              <a:rPr lang="en-US" altLang="zh-TW"/>
              <a:t>7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120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保留原稿的物資、跑道、火光、塔台、耳機與盼望飛機故事，並標明這是費曼的演說比喻，不當成完整民族誌。把嘲笑的對象轉向研究作風：不是只說別人笨，而是檢查自己。來源：</a:t>
            </a:r>
            <a:r>
              <a:rPr lang="en-US" altLang="zh-TW"/>
              <a:t>https://calteches.library.caltech.edu/51/2/CargoCult.htm</a:t>
            </a:r>
          </a:p>
          <a:p>
            <a:endParaRPr lang="en-US" altLang="zh-TW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：戰時與戰後的背景。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：模仿的物件與行動。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：比喻的結果。</a:t>
            </a:r>
          </a:p>
          <a:p>
            <a:r>
              <a:rPr lang="zh-TW" altLang="en-US"/>
              <a:t>點擊 </a:t>
            </a:r>
            <a:r>
              <a:rPr lang="en-US" altLang="zh-TW"/>
              <a:t>3</a:t>
            </a:r>
            <a:r>
              <a:rPr lang="zh-TW" altLang="en-US"/>
              <a:t>：連到實驗報告外觀。</a:t>
            </a:r>
          </a:p>
          <a:p>
            <a:r>
              <a:rPr lang="zh-TW" altLang="en-US"/>
              <a:t>先問少了什麼，再點擊 </a:t>
            </a:r>
            <a:r>
              <a:rPr lang="en-US" altLang="zh-TW"/>
              <a:t>4</a:t>
            </a:r>
            <a:r>
              <a:rPr lang="zh-TW" altLang="en-US"/>
              <a:t>：科學誠實。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【B </a:t>
            </a:r>
            <a:r>
              <a:rPr lang="zh-TW" altLang="en-US"/>
              <a:t>版：完整脈絡潤色步驟版｜來源原第 </a:t>
            </a:r>
            <a:r>
              <a:rPr lang="en-US" altLang="zh-TW"/>
              <a:t>8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120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費曼敘述的是對不合預期與符合預期的數據採取不同查錯標準，以及選擇性排除，不等於證實所有研究者蓄意修改原始數字。保留原稿「</a:t>
            </a:r>
            <a:r>
              <a:rPr lang="en-US" altLang="zh-TW"/>
              <a:t>25 </a:t>
            </a:r>
            <a:r>
              <a:rPr lang="zh-TW" altLang="en-US"/>
              <a:t>年」數字但在畫面明示待查證，不能當確定史實教學。所謂後來的接受值仍有測量不確定度。來源：</a:t>
            </a:r>
            <a:r>
              <a:rPr lang="en-US" altLang="zh-TW"/>
              <a:t>https://calteches.library.caltech.edu/51/2/CargoCult.htm</a:t>
            </a:r>
          </a:p>
          <a:p>
            <a:endParaRPr lang="en-US" altLang="zh-TW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：測量偏差的背景。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：偏高結果受到更嚴格檢查。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：相近結果受到較少檢查。</a:t>
            </a:r>
          </a:p>
          <a:p>
            <a:r>
              <a:rPr lang="zh-TW" altLang="en-US"/>
              <a:t>點擊 </a:t>
            </a:r>
            <a:r>
              <a:rPr lang="en-US" altLang="zh-TW"/>
              <a:t>3</a:t>
            </a:r>
            <a:r>
              <a:rPr lang="zh-TW" altLang="en-US"/>
              <a:t>：逐步上移及年數限制。</a:t>
            </a:r>
          </a:p>
          <a:p>
            <a:r>
              <a:rPr lang="zh-TW" altLang="en-US"/>
              <a:t>請學生比較兩種查錯態度，再點擊 </a:t>
            </a:r>
            <a:r>
              <a:rPr lang="en-US" altLang="zh-TW"/>
              <a:t>4</a:t>
            </a:r>
            <a:r>
              <a:rPr lang="zh-TW" altLang="en-US"/>
              <a:t>：不自欺。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【B </a:t>
            </a:r>
            <a:r>
              <a:rPr lang="zh-TW" altLang="en-US"/>
              <a:t>版：完整脈絡潤色步驟版｜來源原第 </a:t>
            </a:r>
            <a:r>
              <a:rPr lang="en-US" altLang="zh-TW"/>
              <a:t>9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120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左欄保留原稿四種行為，右欄保留四個改善方向。異常值不一定是新發現；有明確測量錯誤時可以更正或排除於分析之外，但要保留原始紀錄並說明依據。來源：</a:t>
            </a:r>
            <a:r>
              <a:rPr lang="en-US" altLang="zh-TW"/>
              <a:t>https://www.itl.nist.gov/div898/handbook/eda/section3/eda35h.htm</a:t>
            </a:r>
          </a:p>
          <a:p>
            <a:endParaRPr lang="en-US" altLang="zh-TW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：四個常見問題。</a:t>
            </a:r>
          </a:p>
          <a:p>
            <a:r>
              <a:rPr lang="zh-TW" altLang="en-US"/>
              <a:t>個人想 </a:t>
            </a:r>
            <a:r>
              <a:rPr lang="en-US" altLang="zh-TW"/>
              <a:t>10 </a:t>
            </a:r>
            <a:r>
              <a:rPr lang="zh-TW" altLang="en-US"/>
              <a:t>秒，同桌交換 </a:t>
            </a:r>
            <a:r>
              <a:rPr lang="en-US" altLang="zh-TW"/>
              <a:t>15 </a:t>
            </a:r>
            <a:r>
              <a:rPr lang="zh-TW" altLang="en-US"/>
              <a:t>秒。</a:t>
            </a:r>
          </a:p>
          <a:p>
            <a:r>
              <a:rPr lang="zh-TW" altLang="en-US"/>
              <a:t>點擊 </a:t>
            </a:r>
            <a:r>
              <a:rPr lang="en-US" altLang="zh-TW"/>
              <a:t>1–4</a:t>
            </a:r>
            <a:r>
              <a:rPr lang="zh-TW" altLang="en-US"/>
              <a:t>：逐項揭示對應作法。</a:t>
            </a:r>
          </a:p>
          <a:p>
            <a:r>
              <a:rPr lang="zh-TW" altLang="en-US"/>
              <a:t>完成時追問：若計時按錯，如何處理並留下紀錄？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【B </a:t>
            </a:r>
            <a:r>
              <a:rPr lang="zh-TW" altLang="en-US"/>
              <a:t>版：完整脈絡潤色步驟版｜來源原第 </a:t>
            </a:r>
            <a:r>
              <a:rPr lang="en-US" altLang="zh-TW"/>
              <a:t>10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90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五張卡保留原稿五類與例子，但不排列成進化或價值高低階梯。類別可能重疊。修正原稿把 </a:t>
            </a:r>
            <a:r>
              <a:rPr lang="en-US" altLang="zh-TW"/>
              <a:t>Proto- </a:t>
            </a:r>
            <a:r>
              <a:rPr lang="zh-TW" altLang="en-US"/>
              <a:t>配成邊緣科學的用法：</a:t>
            </a:r>
            <a:r>
              <a:rPr lang="en-US" altLang="zh-TW"/>
              <a:t>protoscience </a:t>
            </a:r>
            <a:r>
              <a:rPr lang="zh-TW" altLang="en-US"/>
              <a:t>通常譯原科學／雛形科學；本卡所談非主流研究使用 </a:t>
            </a:r>
            <a:r>
              <a:rPr lang="en-US" altLang="zh-TW"/>
              <a:t>fringe science</a:t>
            </a:r>
            <a:r>
              <a:rPr lang="zh-TW" altLang="en-US"/>
              <a:t>。反對一項政策或提出疑問本身不等於反科學，須看面對方法與證據的態度。大陸漂移的歷史只是回顧例子，非主流不保證將來正確。來源：</a:t>
            </a:r>
            <a:r>
              <a:rPr lang="en-US" altLang="zh-TW"/>
              <a:t>https://plato.stanford.edu/entries/pseudo-science/</a:t>
            </a:r>
          </a:p>
          <a:p>
            <a:endParaRPr lang="en-US" altLang="zh-TW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：反科學名稱與檢查面向。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：第一張的例子。</a:t>
            </a:r>
          </a:p>
          <a:p>
            <a:r>
              <a:rPr lang="zh-TW" altLang="en-US"/>
              <a:t>點擊 </a:t>
            </a:r>
            <a:r>
              <a:rPr lang="en-US" altLang="zh-TW"/>
              <a:t>2–5</a:t>
            </a:r>
            <a:r>
              <a:rPr lang="zh-TW" altLang="en-US"/>
              <a:t>：逐張加入其餘四類。</a:t>
            </a:r>
          </a:p>
          <a:p>
            <a:r>
              <a:rPr lang="zh-TW" altLang="en-US"/>
              <a:t>完成時指出：不同面向可能重疊，不能據此排一條升級階梯。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【B </a:t>
            </a:r>
            <a:r>
              <a:rPr lang="zh-TW" altLang="en-US"/>
              <a:t>版：完整脈絡潤色步驟版｜來源原第 </a:t>
            </a:r>
            <a:r>
              <a:rPr lang="en-US" altLang="zh-TW"/>
              <a:t>11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120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完整保留原稿四道情境及其判斷方向。每題先請學生用一句理由作答，再揭示判讀；第 </a:t>
            </a:r>
            <a:r>
              <a:rPr lang="en-US" altLang="zh-TW"/>
              <a:t>3 </a:t>
            </a:r>
            <a:r>
              <a:rPr lang="zh-TW" altLang="en-US"/>
              <a:t>題避免把遭質疑當作正確的證據。四題合計兩分鐘為原稿配時，若學生需更多解釋，延長此頁，不宣稱全段十分鐘。</a:t>
            </a:r>
          </a:p>
          <a:p>
            <a:endParaRPr lang="zh-TW" altLang="en-US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：情境 </a:t>
            </a:r>
            <a:r>
              <a:rPr lang="en-US" altLang="zh-TW"/>
              <a:t>1</a:t>
            </a:r>
            <a:r>
              <a:rPr lang="zh-TW" altLang="en-US"/>
              <a:t>；想 </a:t>
            </a:r>
            <a:r>
              <a:rPr lang="en-US" altLang="zh-TW"/>
              <a:t>5–8 </a:t>
            </a:r>
            <a:r>
              <a:rPr lang="zh-TW" altLang="en-US"/>
              <a:t>秒。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：第一題回饋。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：情境 </a:t>
            </a:r>
            <a:r>
              <a:rPr lang="en-US" altLang="zh-TW"/>
              <a:t>2</a:t>
            </a:r>
            <a:r>
              <a:rPr lang="zh-TW" altLang="en-US"/>
              <a:t>；先答。</a:t>
            </a:r>
          </a:p>
          <a:p>
            <a:r>
              <a:rPr lang="zh-TW" altLang="en-US"/>
              <a:t>點擊 </a:t>
            </a:r>
            <a:r>
              <a:rPr lang="en-US" altLang="zh-TW"/>
              <a:t>3</a:t>
            </a:r>
            <a:r>
              <a:rPr lang="zh-TW" altLang="en-US"/>
              <a:t>：第二題回饋。</a:t>
            </a:r>
          </a:p>
          <a:p>
            <a:r>
              <a:rPr lang="zh-TW" altLang="en-US"/>
              <a:t>點擊 </a:t>
            </a:r>
            <a:r>
              <a:rPr lang="en-US" altLang="zh-TW"/>
              <a:t>4</a:t>
            </a:r>
            <a:r>
              <a:rPr lang="zh-TW" altLang="en-US"/>
              <a:t>：情境 </a:t>
            </a:r>
            <a:r>
              <a:rPr lang="en-US" altLang="zh-TW"/>
              <a:t>3</a:t>
            </a:r>
            <a:r>
              <a:rPr lang="zh-TW" altLang="en-US"/>
              <a:t>；先答。</a:t>
            </a:r>
          </a:p>
          <a:p>
            <a:r>
              <a:rPr lang="zh-TW" altLang="en-US"/>
              <a:t>點擊 </a:t>
            </a:r>
            <a:r>
              <a:rPr lang="en-US" altLang="zh-TW"/>
              <a:t>5</a:t>
            </a:r>
            <a:r>
              <a:rPr lang="zh-TW" altLang="en-US"/>
              <a:t>：第三題回饋。</a:t>
            </a:r>
          </a:p>
          <a:p>
            <a:r>
              <a:rPr lang="zh-TW" altLang="en-US"/>
              <a:t>點擊 </a:t>
            </a:r>
            <a:r>
              <a:rPr lang="en-US" altLang="zh-TW"/>
              <a:t>6</a:t>
            </a:r>
            <a:r>
              <a:rPr lang="zh-TW" altLang="en-US"/>
              <a:t>：情境 </a:t>
            </a:r>
            <a:r>
              <a:rPr lang="en-US" altLang="zh-TW"/>
              <a:t>4</a:t>
            </a:r>
            <a:r>
              <a:rPr lang="zh-TW" altLang="en-US"/>
              <a:t>；先答。</a:t>
            </a:r>
          </a:p>
          <a:p>
            <a:r>
              <a:rPr lang="zh-TW" altLang="en-US"/>
              <a:t>點擊 </a:t>
            </a:r>
            <a:r>
              <a:rPr lang="en-US" altLang="zh-TW"/>
              <a:t>7</a:t>
            </a:r>
            <a:r>
              <a:rPr lang="zh-TW" altLang="en-US"/>
              <a:t>：第四題回饋。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【B </a:t>
            </a:r>
            <a:r>
              <a:rPr lang="zh-TW" altLang="en-US"/>
              <a:t>版：完整脈絡潤色步驟版｜來源原第 </a:t>
            </a:r>
            <a:r>
              <a:rPr lang="en-US" altLang="zh-TW"/>
              <a:t>12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90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保留波普爾之鏡與費曼之鏡的工具，將「照對手」潤飾為也能檢查自己的提問。修正「答不出來立刻判為偽科學」的過度推論；兩問是追查的起點。來源：</a:t>
            </a:r>
            <a:r>
              <a:rPr lang="en-US" altLang="zh-TW"/>
              <a:t>https://plato.stanford.edu/entries/pseudo-science/</a:t>
            </a:r>
            <a:r>
              <a:rPr lang="zh-TW" altLang="en-US"/>
              <a:t>；</a:t>
            </a:r>
            <a:r>
              <a:rPr lang="en-US" altLang="zh-TW"/>
              <a:t>https://calteches.library.caltech.edu/51/2/CargoCult.htm</a:t>
            </a:r>
          </a:p>
          <a:p>
            <a:endParaRPr lang="en-US" altLang="zh-TW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：第一稜鏡的用途。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：第一問，學生自行試問一次。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：如何處理答不清楚的情況。</a:t>
            </a:r>
          </a:p>
          <a:p>
            <a:r>
              <a:rPr lang="zh-TW" altLang="en-US"/>
              <a:t>點擊 </a:t>
            </a:r>
            <a:r>
              <a:rPr lang="en-US" altLang="zh-TW"/>
              <a:t>3</a:t>
            </a:r>
            <a:r>
              <a:rPr lang="zh-TW" altLang="en-US"/>
              <a:t>：第二稜鏡及第二問。</a:t>
            </a:r>
          </a:p>
          <a:p>
            <a:r>
              <a:rPr lang="zh-TW" altLang="en-US"/>
              <a:t>點擊 </a:t>
            </a:r>
            <a:r>
              <a:rPr lang="en-US" altLang="zh-TW"/>
              <a:t>4</a:t>
            </a:r>
            <a:r>
              <a:rPr lang="zh-TW" altLang="en-US"/>
              <a:t>：報告中的具體行動。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【B </a:t>
            </a:r>
            <a:r>
              <a:rPr lang="zh-TW" altLang="en-US"/>
              <a:t>版：完整脈絡潤色步驟版｜來源原第 </a:t>
            </a:r>
            <a:r>
              <a:rPr lang="en-US" altLang="zh-TW"/>
              <a:t>13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60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保留原稿木頭耳機的收束意象、學生祝福及 </a:t>
            </a:r>
            <a:r>
              <a:rPr lang="en-US" altLang="zh-TW"/>
              <a:t>Q&amp;A</a:t>
            </a:r>
            <a:r>
              <a:rPr lang="zh-TW" altLang="en-US"/>
              <a:t>。引文為教師結語的潤飾，不標作費曼原話。若嵌入主簡報，</a:t>
            </a:r>
            <a:r>
              <a:rPr lang="en-US" altLang="zh-TW"/>
              <a:t>Q&amp;A </a:t>
            </a:r>
            <a:r>
              <a:rPr lang="zh-TW" altLang="en-US"/>
              <a:t>可由教師口頭延後至整個單元結束；本檔不刪除。</a:t>
            </a:r>
          </a:p>
          <a:p>
            <a:endParaRPr lang="zh-TW" altLang="en-US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：本節收束。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：木頭耳機的結語，學生回想一項要避免的研究行為。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：祝福與 </a:t>
            </a:r>
            <a:r>
              <a:rPr lang="en-US" altLang="zh-TW"/>
              <a:t>Q&amp;A</a:t>
            </a:r>
            <a:r>
              <a:rPr lang="zh-TW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359317" cy="6858000"/>
          </a:xfrm>
          <a:prstGeom prst="rect">
            <a:avLst/>
          </a:prstGeom>
          <a:solidFill>
            <a:srgbClr val="E0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92000" cy="1371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222253" y="607154"/>
            <a:ext cx="591183" cy="591183"/>
          </a:xfrm>
          <a:prstGeom prst="rect">
            <a:avLst/>
          </a:prstGeom>
          <a:solidFill>
            <a:srgbClr val="E0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9920" y="5257800"/>
            <a:ext cx="2326640" cy="457200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3052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</a:rPr>
              <a:t>Inquiry &amp;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3474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7" name="K01-C6-B1">
            <a:extLst>
              <a:ext uri="{FF2B5EF4-FFF2-40B4-BE49-F238E27FC236}">
                <a16:creationId xmlns:a16="http://schemas.microsoft.com/office/drawing/2014/main" id="{00C776E4-AEF7-6CDD-D0E8-E2E961667C96}"/>
              </a:ext>
            </a:extLst>
          </p:cNvPr>
          <p:cNvSpPr txBox="1"/>
          <p:nvPr/>
        </p:nvSpPr>
        <p:spPr>
          <a:xfrm>
            <a:off x="820420" y="1894840"/>
            <a:ext cx="1052068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200" b="1" dirty="0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國立嘉義</a:t>
            </a:r>
            <a:r>
              <a:rPr lang="zh-TW" altLang="en-US" sz="22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高中 </a:t>
            </a:r>
            <a:r>
              <a:rPr lang="en-US" altLang="zh-TW" sz="22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201 </a:t>
            </a:r>
            <a:r>
              <a:rPr lang="zh-TW" altLang="en-US" sz="22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班 </a:t>
            </a:r>
            <a:r>
              <a:rPr lang="en-US" altLang="zh-TW" sz="22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2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自然科學</a:t>
            </a:r>
            <a:r>
              <a:rPr lang="zh-TW" altLang="en-US" sz="2200" b="1" dirty="0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探究與實作</a:t>
            </a:r>
            <a:r>
              <a:rPr lang="zh-TW" altLang="en-US" sz="22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短講</a:t>
            </a:r>
            <a:endParaRPr lang="zh-TW" altLang="en-US" sz="2200" b="1" dirty="0">
              <a:solidFill>
                <a:srgbClr val="1155CC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K01-C6-B2">
            <a:extLst>
              <a:ext uri="{FF2B5EF4-FFF2-40B4-BE49-F238E27FC236}">
                <a16:creationId xmlns:a16="http://schemas.microsoft.com/office/drawing/2014/main" id="{1069509A-2115-4800-E992-BC3A343658E9}"/>
              </a:ext>
            </a:extLst>
          </p:cNvPr>
          <p:cNvSpPr txBox="1"/>
          <p:nvPr/>
        </p:nvSpPr>
        <p:spPr>
          <a:xfrm>
            <a:off x="820420" y="2313940"/>
            <a:ext cx="10520680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4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木頭耳機能召喚飛機</a:t>
            </a:r>
            <a:r>
              <a:rPr lang="zh-TW" altLang="en-US" sz="4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嗎？</a:t>
            </a:r>
            <a:endParaRPr lang="zh-TW" altLang="en-US" sz="4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01-C6-B3">
            <a:extLst>
              <a:ext uri="{FF2B5EF4-FFF2-40B4-BE49-F238E27FC236}">
                <a16:creationId xmlns:a16="http://schemas.microsoft.com/office/drawing/2014/main" id="{D3B89AC6-D7FD-BEEA-ACE0-CD0DD080F6B9}"/>
              </a:ext>
            </a:extLst>
          </p:cNvPr>
          <p:cNvSpPr txBox="1"/>
          <p:nvPr/>
        </p:nvSpPr>
        <p:spPr>
          <a:xfrm>
            <a:off x="820420" y="3190240"/>
            <a:ext cx="1052068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5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探索科學的邊界：從亞里斯多德、波普爾到費曼的「貨物</a:t>
            </a:r>
            <a:r>
              <a:rPr lang="zh-TW" altLang="en-US" sz="25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崇拜」</a:t>
            </a:r>
            <a:endParaRPr lang="zh-TW" altLang="en-US" sz="25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.xml><?xml version="1.0" encoding="utf-8"?>
<p:sld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EA4335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39319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400"/>
              </a:spcAft>
              <a:defRPr sz="2600" b="1">
                <a:solidFill>
                  <a:srgbClr val="C5221F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120640" cy="3931920"/>
          </a:xfrm>
          <a:prstGeom prst="roundRect">
            <a:avLst/>
          </a:prstGeom>
          <a:solidFill>
            <a:srgbClr val="E0EFF6"/>
          </a:solidFill>
          <a:ln w="1905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400"/>
              </a:spcAft>
              <a:defRPr sz="26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6" name="K-header-label">
            <a:extLst>
              <a:ext uri="{FF2B5EF4-FFF2-40B4-BE49-F238E27FC236}">
                <a16:creationId xmlns:a16="http://schemas.microsoft.com/office/drawing/2014/main" id="{2378F59C-5BB2-E693-639B-A51C833C093C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⚔ 認知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衝突 </a:t>
            </a:r>
            <a:r>
              <a:rPr lang="en-US" altLang="zh-TW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課堂模擬情境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K-header-title">
            <a:extLst>
              <a:ext uri="{FF2B5EF4-FFF2-40B4-BE49-F238E27FC236}">
                <a16:creationId xmlns:a16="http://schemas.microsoft.com/office/drawing/2014/main" id="{658965C7-890C-704C-96D6-865CD1136127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哪一個，才是真正的「科學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」？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K02-C4-B1">
            <a:extLst>
              <a:ext uri="{FF2B5EF4-FFF2-40B4-BE49-F238E27FC236}">
                <a16:creationId xmlns:a16="http://schemas.microsoft.com/office/drawing/2014/main" id="{09E025FB-C8FE-7225-3A98-C08C1F3254E7}"/>
              </a:ext>
            </a:extLst>
          </p:cNvPr>
          <p:cNvSpPr txBox="1"/>
          <p:nvPr/>
        </p:nvSpPr>
        <p:spPr>
          <a:xfrm>
            <a:off x="947420" y="2199640"/>
            <a:ext cx="46888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候選</a:t>
            </a:r>
            <a:r>
              <a:rPr lang="zh-TW" altLang="en-US" sz="26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者 </a:t>
            </a:r>
            <a:r>
              <a:rPr lang="en-US" altLang="zh-TW" sz="26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</a:t>
            </a:r>
            <a:r>
              <a:rPr lang="zh-TW" altLang="en-US" sz="26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r>
              <a:rPr lang="zh-TW" altLang="en-US" sz="26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量子共振</a:t>
            </a:r>
            <a:r>
              <a:rPr lang="zh-TW" altLang="en-US" sz="26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手環</a:t>
            </a:r>
            <a:endParaRPr lang="zh-TW" altLang="en-US" sz="26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02-C4-B2">
            <a:extLst>
              <a:ext uri="{FF2B5EF4-FFF2-40B4-BE49-F238E27FC236}">
                <a16:creationId xmlns:a16="http://schemas.microsoft.com/office/drawing/2014/main" id="{76F7434A-FEB0-798B-8579-B22C689058CA}"/>
              </a:ext>
            </a:extLst>
          </p:cNvPr>
          <p:cNvSpPr txBox="1"/>
          <p:nvPr/>
        </p:nvSpPr>
        <p:spPr>
          <a:xfrm>
            <a:off x="947420" y="2720340"/>
            <a:ext cx="4688840" cy="111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宣稱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使用「次微米諧振頻率」</a:t>
            </a:r>
          </a:p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展示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專利磁場圖譜、國際認證</a:t>
            </a:r>
          </a:p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標價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NT$ 3,990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02-C4-B3">
            <a:extLst>
              <a:ext uri="{FF2B5EF4-FFF2-40B4-BE49-F238E27FC236}">
                <a16:creationId xmlns:a16="http://schemas.microsoft.com/office/drawing/2014/main" id="{223E753D-394F-4E9F-49B8-088F46C52B86}"/>
              </a:ext>
            </a:extLst>
          </p:cNvPr>
          <p:cNvSpPr txBox="1"/>
          <p:nvPr/>
        </p:nvSpPr>
        <p:spPr>
          <a:xfrm>
            <a:off x="947420" y="3901440"/>
            <a:ext cx="468884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5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這些包裝還不能證明</a:t>
            </a:r>
            <a:r>
              <a:rPr lang="zh-TW" altLang="en-US" sz="25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有效。</a:t>
            </a:r>
            <a:endParaRPr lang="zh-TW" altLang="en-US" sz="25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02-C4-B4">
            <a:extLst>
              <a:ext uri="{FF2B5EF4-FFF2-40B4-BE49-F238E27FC236}">
                <a16:creationId xmlns:a16="http://schemas.microsoft.com/office/drawing/2014/main" id="{5C872F33-CF28-82B6-3CF4-7F181517B8BC}"/>
              </a:ext>
            </a:extLst>
          </p:cNvPr>
          <p:cNvSpPr txBox="1"/>
          <p:nvPr/>
        </p:nvSpPr>
        <p:spPr>
          <a:xfrm>
            <a:off x="947420" y="4358640"/>
            <a:ext cx="46888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若一直迴避檢驗、用話術解釋失敗，就有偽科學的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警訊。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02-C5-B1">
            <a:extLst>
              <a:ext uri="{FF2B5EF4-FFF2-40B4-BE49-F238E27FC236}">
                <a16:creationId xmlns:a16="http://schemas.microsoft.com/office/drawing/2014/main" id="{D37F646D-ECAF-CE8F-53E1-A53BAAA9EE22}"/>
              </a:ext>
            </a:extLst>
          </p:cNvPr>
          <p:cNvSpPr txBox="1"/>
          <p:nvPr/>
        </p:nvSpPr>
        <p:spPr>
          <a:xfrm>
            <a:off x="6433820" y="2390140"/>
            <a:ext cx="46888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候選者 </a:t>
            </a:r>
            <a:r>
              <a:rPr lang="en-US" altLang="zh-TW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：探究 </a:t>
            </a:r>
            <a:r>
              <a:rPr lang="en-US" altLang="zh-TW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A+ 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報告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02-C5-B2">
            <a:extLst>
              <a:ext uri="{FF2B5EF4-FFF2-40B4-BE49-F238E27FC236}">
                <a16:creationId xmlns:a16="http://schemas.microsoft.com/office/drawing/2014/main" id="{1D28A562-8C01-CF93-E3C2-8CD80C98C71E}"/>
              </a:ext>
            </a:extLst>
          </p:cNvPr>
          <p:cNvSpPr txBox="1"/>
          <p:nvPr/>
        </p:nvSpPr>
        <p:spPr>
          <a:xfrm>
            <a:off x="6433820" y="2910840"/>
            <a:ext cx="4688840" cy="111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單擺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週期與公式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差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0.4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秒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怕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被扣分，組員悄悄改數據</a:t>
            </a:r>
          </a:p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圖表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漂亮，拿下全班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最高分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K02-C5-B3">
            <a:extLst>
              <a:ext uri="{FF2B5EF4-FFF2-40B4-BE49-F238E27FC236}">
                <a16:creationId xmlns:a16="http://schemas.microsoft.com/office/drawing/2014/main" id="{17854F77-57EA-F825-8CD5-49DD3C87D0B3}"/>
              </a:ext>
            </a:extLst>
          </p:cNvPr>
          <p:cNvSpPr txBox="1"/>
          <p:nvPr/>
        </p:nvSpPr>
        <p:spPr>
          <a:xfrm>
            <a:off x="6433820" y="4091940"/>
            <a:ext cx="468884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5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貨物崇拜式的</a:t>
            </a:r>
            <a:r>
              <a:rPr lang="zh-TW" altLang="en-US" sz="25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研究外觀</a:t>
            </a:r>
            <a:endParaRPr lang="zh-TW" altLang="en-US" sz="25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K02-C5-B4">
            <a:extLst>
              <a:ext uri="{FF2B5EF4-FFF2-40B4-BE49-F238E27FC236}">
                <a16:creationId xmlns:a16="http://schemas.microsoft.com/office/drawing/2014/main" id="{FA4C130D-8907-491E-647E-BFB07C574E70}"/>
              </a:ext>
            </a:extLst>
          </p:cNvPr>
          <p:cNvSpPr txBox="1"/>
          <p:nvPr/>
        </p:nvSpPr>
        <p:spPr>
          <a:xfrm>
            <a:off x="6433820" y="4549140"/>
            <a:ext cx="46888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形式完整，卻失去資料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誠實。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dur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dur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1"/>
      <p:bldP spid="14" grpId="2"/>
      <p:bldP spid="15" grpId="3"/>
    </p:bldLst>
  </p:timing>
</p:sld>
</file>

<file path=ppt/slides/slide3.xml><?xml version="1.0" encoding="utf-8"?>
<p:sld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1828800"/>
          </a:xfrm>
          <a:prstGeom prst="roundRect">
            <a:avLst/>
          </a:prstGeom>
          <a:solidFill>
            <a:srgbClr val="E0EFF6"/>
          </a:solidFill>
          <a:ln w="1905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120640" cy="1828800"/>
          </a:xfrm>
          <a:prstGeom prst="roundRect">
            <a:avLst/>
          </a:prstGeom>
          <a:solidFill>
            <a:srgbClr val="E1EFD8"/>
          </a:solidFill>
          <a:ln w="19050">
            <a:solidFill>
              <a:srgbClr val="99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3703320"/>
            <a:ext cx="5120640" cy="182880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0" y="3703320"/>
            <a:ext cx="5120640" cy="18288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1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8" name="K-header-label">
            <a:extLst>
              <a:ext uri="{FF2B5EF4-FFF2-40B4-BE49-F238E27FC236}">
                <a16:creationId xmlns:a16="http://schemas.microsoft.com/office/drawing/2014/main" id="{7554DCD9-D5FD-7BAF-A471-C50268644B8D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🧭 雙 </a:t>
            </a:r>
            <a:r>
              <a:rPr lang="en-US" altLang="zh-TW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GPS 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定位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-header-title">
            <a:extLst>
              <a:ext uri="{FF2B5EF4-FFF2-40B4-BE49-F238E27FC236}">
                <a16:creationId xmlns:a16="http://schemas.microsoft.com/office/drawing/2014/main" id="{914EF59A-D029-304C-BEA1-FB955D5378F8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今天短講的四個探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案關卡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03-C4-B1">
            <a:extLst>
              <a:ext uri="{FF2B5EF4-FFF2-40B4-BE49-F238E27FC236}">
                <a16:creationId xmlns:a16="http://schemas.microsoft.com/office/drawing/2014/main" id="{F4E9633C-671D-B7C7-00AE-33DB2D31269B}"/>
              </a:ext>
            </a:extLst>
          </p:cNvPr>
          <p:cNvSpPr txBox="1"/>
          <p:nvPr/>
        </p:nvSpPr>
        <p:spPr>
          <a:xfrm>
            <a:off x="820420" y="1780540"/>
            <a:ext cx="49428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第一站 </a:t>
            </a:r>
            <a:r>
              <a:rPr lang="en-US" altLang="zh-TW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字源考古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03-C4-B2">
            <a:extLst>
              <a:ext uri="{FF2B5EF4-FFF2-40B4-BE49-F238E27FC236}">
                <a16:creationId xmlns:a16="http://schemas.microsoft.com/office/drawing/2014/main" id="{794AA17D-4F1B-0E81-78A5-48CA504A732A}"/>
              </a:ext>
            </a:extLst>
          </p:cNvPr>
          <p:cNvSpPr txBox="1"/>
          <p:nvPr/>
        </p:nvSpPr>
        <p:spPr>
          <a:xfrm>
            <a:off x="820420" y="2301240"/>
            <a:ext cx="4942840" cy="111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亞里斯多德的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Episteme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、羅馬的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Scientia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、休厄爾的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Scientist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、西周的「分科之學」。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03-C5-B1">
            <a:extLst>
              <a:ext uri="{FF2B5EF4-FFF2-40B4-BE49-F238E27FC236}">
                <a16:creationId xmlns:a16="http://schemas.microsoft.com/office/drawing/2014/main" id="{35830C3E-D85E-6457-1885-37D30449E9D1}"/>
              </a:ext>
            </a:extLst>
          </p:cNvPr>
          <p:cNvSpPr txBox="1"/>
          <p:nvPr/>
        </p:nvSpPr>
        <p:spPr>
          <a:xfrm>
            <a:off x="6306820" y="1780540"/>
            <a:ext cx="49428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第二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站 </a:t>
            </a:r>
            <a:r>
              <a:rPr lang="en-US" altLang="zh-TW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波</a:t>
            </a:r>
            <a:r>
              <a:rPr lang="zh-TW" altLang="en-US" sz="2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普爾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之刀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03-C5-B2">
            <a:extLst>
              <a:ext uri="{FF2B5EF4-FFF2-40B4-BE49-F238E27FC236}">
                <a16:creationId xmlns:a16="http://schemas.microsoft.com/office/drawing/2014/main" id="{07EE37CD-AEA6-A0BA-D6BD-30390C9C64B1}"/>
              </a:ext>
            </a:extLst>
          </p:cNvPr>
          <p:cNvSpPr txBox="1"/>
          <p:nvPr/>
        </p:nvSpPr>
        <p:spPr>
          <a:xfrm>
            <a:off x="6306820" y="2301240"/>
            <a:ext cx="4942840" cy="111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可證偽性：什麼結果會使我們修正主張？它是檢查問題，不是判定一切的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捷徑。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K03-C6-B1">
            <a:extLst>
              <a:ext uri="{FF2B5EF4-FFF2-40B4-BE49-F238E27FC236}">
                <a16:creationId xmlns:a16="http://schemas.microsoft.com/office/drawing/2014/main" id="{42B2B153-29C1-0268-D2DB-C1FFBD97AAC5}"/>
              </a:ext>
            </a:extLst>
          </p:cNvPr>
          <p:cNvSpPr txBox="1"/>
          <p:nvPr/>
        </p:nvSpPr>
        <p:spPr>
          <a:xfrm>
            <a:off x="820420" y="3982720"/>
            <a:ext cx="49428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第三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站 </a:t>
            </a:r>
            <a:r>
              <a:rPr lang="en-US" altLang="zh-TW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費曼照妖鏡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K03-C6-B2">
            <a:extLst>
              <a:ext uri="{FF2B5EF4-FFF2-40B4-BE49-F238E27FC236}">
                <a16:creationId xmlns:a16="http://schemas.microsoft.com/office/drawing/2014/main" id="{556B24FB-3AA6-D542-1264-22E882FC833B}"/>
              </a:ext>
            </a:extLst>
          </p:cNvPr>
          <p:cNvSpPr txBox="1"/>
          <p:nvPr/>
        </p:nvSpPr>
        <p:spPr>
          <a:xfrm>
            <a:off x="820420" y="4503420"/>
            <a:ext cx="49428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竹子跑道、密立根油滴的逐步上移，以及探究實作中容易忽略的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自欺。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K03-C7-B1">
            <a:extLst>
              <a:ext uri="{FF2B5EF4-FFF2-40B4-BE49-F238E27FC236}">
                <a16:creationId xmlns:a16="http://schemas.microsoft.com/office/drawing/2014/main" id="{FDBB3A40-5773-7BA4-2269-4C3DCECB9E2B}"/>
              </a:ext>
            </a:extLst>
          </p:cNvPr>
          <p:cNvSpPr txBox="1"/>
          <p:nvPr/>
        </p:nvSpPr>
        <p:spPr>
          <a:xfrm>
            <a:off x="6306820" y="3982720"/>
            <a:ext cx="49428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第四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站 </a:t>
            </a:r>
            <a:r>
              <a:rPr lang="en-US" altLang="zh-TW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實戰雙稜鏡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7" name="K03-C7-B2">
            <a:extLst>
              <a:ext uri="{FF2B5EF4-FFF2-40B4-BE49-F238E27FC236}">
                <a16:creationId xmlns:a16="http://schemas.microsoft.com/office/drawing/2014/main" id="{38D7DE6D-5FC3-52E0-C39B-2CC932945152}"/>
              </a:ext>
            </a:extLst>
          </p:cNvPr>
          <p:cNvSpPr txBox="1"/>
          <p:nvPr/>
        </p:nvSpPr>
        <p:spPr>
          <a:xfrm>
            <a:off x="6306820" y="4503420"/>
            <a:ext cx="49428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透過四道情境挑戰，練習用波普爾之問查主張、費曼之問查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自己。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dur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dur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1"/>
      <p:bldP spid="14" grpId="2"/>
      <p:bldP spid="15" grpId="3"/>
      <p:bldP spid="16" grpId="4"/>
      <p:bldP spid="17" grpId="5"/>
    </p:bldLst>
  </p:timing>
</p:sld>
</file>

<file path=ppt/slides/slide4.xml><?xml version="1.0" encoding="utf-8"?>
<p:sld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607040" cy="841248"/>
          </a:xfrm>
          <a:prstGeom prst="roundRect">
            <a:avLst/>
          </a:prstGeom>
          <a:solidFill>
            <a:srgbClr val="E0EFF6"/>
          </a:solidFill>
          <a:ln w="1524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defRPr sz="2200" b="1">
                <a:solidFill>
                  <a:srgbClr val="1C3052"/>
                </a:solidFill>
                <a:latin typeface="Microsoft JhengHei"/>
              </a:defRPr>
            </a:pPr>
            <a:endParaRPr sz="2200" b="0">
              <a:solidFill>
                <a:srgbClr val="212121"/>
              </a:solidFill>
              <a:latin typeface="Microsoft JhengHe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607040" cy="841248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11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defRPr sz="2200" b="1">
                <a:solidFill>
                  <a:srgbClr val="1155CC"/>
                </a:solidFill>
                <a:latin typeface="Microsoft JhengHei"/>
              </a:defRPr>
            </a:pPr>
            <a:endParaRPr sz="2200" b="0">
              <a:solidFill>
                <a:srgbClr val="212121"/>
              </a:solidFill>
              <a:latin typeface="Microsoft JhengHe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3611880"/>
            <a:ext cx="10607040" cy="841248"/>
          </a:xfrm>
          <a:prstGeom prst="roundRect">
            <a:avLst/>
          </a:prstGeom>
          <a:solidFill>
            <a:srgbClr val="E1EFD8"/>
          </a:solidFill>
          <a:ln w="15240">
            <a:solidFill>
              <a:srgbClr val="1E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defRPr sz="2200" b="1">
                <a:solidFill>
                  <a:srgbClr val="1E7E34"/>
                </a:solidFill>
                <a:latin typeface="Microsoft JhengHei"/>
              </a:defRPr>
            </a:pPr>
            <a:endParaRPr sz="2200" b="0">
              <a:solidFill>
                <a:srgbClr val="212121"/>
              </a:solidFill>
              <a:latin typeface="Microsoft Jheng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07040" cy="841248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defRPr sz="2200" b="1">
                <a:solidFill>
                  <a:srgbClr val="FFD966"/>
                </a:solidFill>
                <a:latin typeface="Microsoft JhengHei"/>
              </a:defRPr>
            </a:pPr>
            <a:endParaRPr sz="2200" b="0">
              <a:solidFill>
                <a:srgbClr val="212121"/>
              </a:solidFill>
              <a:latin typeface="Microsoft JhengHei"/>
            </a:endParaRPr>
          </a:p>
        </p:txBody>
      </p:sp>
      <p:sp>
        <p:nvSpPr>
          <p:cNvPr id="8" name="K-header-label">
            <a:extLst>
              <a:ext uri="{FF2B5EF4-FFF2-40B4-BE49-F238E27FC236}">
                <a16:creationId xmlns:a16="http://schemas.microsoft.com/office/drawing/2014/main" id="{E7DA1A42-CD35-F8D5-BA00-AD77166E4E31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🏛 第一站：字源考古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-header-title">
            <a:extLst>
              <a:ext uri="{FF2B5EF4-FFF2-40B4-BE49-F238E27FC236}">
                <a16:creationId xmlns:a16="http://schemas.microsoft.com/office/drawing/2014/main" id="{DD5ADE9C-CDDE-C7CE-E6AD-4A43DB5AE10D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「科學」一詞的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歷史脈絡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04-C4-B1">
            <a:extLst>
              <a:ext uri="{FF2B5EF4-FFF2-40B4-BE49-F238E27FC236}">
                <a16:creationId xmlns:a16="http://schemas.microsoft.com/office/drawing/2014/main" id="{32AB68C9-B65D-AE96-C7B9-42DB7B6EB12D}"/>
              </a:ext>
            </a:extLst>
          </p:cNvPr>
          <p:cNvSpPr txBox="1"/>
          <p:nvPr/>
        </p:nvSpPr>
        <p:spPr>
          <a:xfrm>
            <a:off x="922020" y="1742440"/>
            <a:ext cx="102260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西元前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世紀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希臘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｜亞里斯多德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Episteme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討論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有系統的知識，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Doxa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意見）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區分。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04-C5-B1">
            <a:extLst>
              <a:ext uri="{FF2B5EF4-FFF2-40B4-BE49-F238E27FC236}">
                <a16:creationId xmlns:a16="http://schemas.microsoft.com/office/drawing/2014/main" id="{0F763B4E-0002-025E-C8FF-ADEC0AF7FFE1}"/>
              </a:ext>
            </a:extLst>
          </p:cNvPr>
          <p:cNvSpPr txBox="1"/>
          <p:nvPr/>
        </p:nvSpPr>
        <p:spPr>
          <a:xfrm>
            <a:off x="922020" y="2702560"/>
            <a:ext cx="102260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西元前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世紀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羅馬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｜西塞羅等人以拉丁語討論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知識；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Scientia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源自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scire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知道），泛指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學問。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04-C6-B1">
            <a:extLst>
              <a:ext uri="{FF2B5EF4-FFF2-40B4-BE49-F238E27FC236}">
                <a16:creationId xmlns:a16="http://schemas.microsoft.com/office/drawing/2014/main" id="{438B0952-562C-7E55-2E42-8A9BE90FFBD5}"/>
              </a:ext>
            </a:extLst>
          </p:cNvPr>
          <p:cNvSpPr txBox="1"/>
          <p:nvPr/>
        </p:nvSpPr>
        <p:spPr>
          <a:xfrm>
            <a:off x="922020" y="3662680"/>
            <a:ext cx="102260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1833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英國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｜休厄爾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提出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Scientist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科學家）。名稱出現，不等於科學方法在這一年才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誕生。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04-C7-B1">
            <a:extLst>
              <a:ext uri="{FF2B5EF4-FFF2-40B4-BE49-F238E27FC236}">
                <a16:creationId xmlns:a16="http://schemas.microsoft.com/office/drawing/2014/main" id="{704A767A-21DB-02DF-18F1-3EAE6A3886E6}"/>
              </a:ext>
            </a:extLst>
          </p:cNvPr>
          <p:cNvSpPr txBox="1"/>
          <p:nvPr/>
        </p:nvSpPr>
        <p:spPr>
          <a:xfrm>
            <a:off x="922020" y="4622800"/>
            <a:ext cx="102260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1874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年前後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東亞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｜西周使用「科學」（分科之學）；梁啟超等人傳播此詞，五四時期倡「賽先生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1"/>
      <p:bldP spid="13" grpId="2"/>
    </p:bldLst>
  </p:timing>
</p:sld>
</file>

<file path=ppt/slides/slide5.xml><?xml version="1.0" encoding="utf-8"?>
<p:sld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3383280" cy="3931920"/>
          </a:xfrm>
          <a:prstGeom prst="roundRect">
            <a:avLst/>
          </a:prstGeom>
          <a:solidFill>
            <a:srgbClr val="E1EFD8"/>
          </a:solidFill>
          <a:ln w="19050">
            <a:solidFill>
              <a:srgbClr val="99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400"/>
              </a:spcAft>
              <a:defRPr sz="2500" b="1">
                <a:solidFill>
                  <a:srgbClr val="1E7E34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0" y="1691640"/>
            <a:ext cx="3383280" cy="39319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400"/>
              </a:spcAft>
              <a:defRPr sz="2500" b="1">
                <a:solidFill>
                  <a:srgbClr val="595959"/>
                </a:solidFill>
                <a:latin typeface="Microsoft JhengHei"/>
              </a:defRPr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46720" y="1691640"/>
            <a:ext cx="3383280" cy="39319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400"/>
              </a:spcAft>
              <a:defRPr sz="2500" b="1">
                <a:solidFill>
                  <a:srgbClr val="C5221F"/>
                </a:solidFill>
                <a:latin typeface="Microsoft JhengHei"/>
              </a:defRPr>
            </a:pPr>
            <a:endParaRPr/>
          </a:p>
        </p:txBody>
      </p:sp>
      <p:sp>
        <p:nvSpPr>
          <p:cNvPr id="7" name="K-header-label">
            <a:extLst>
              <a:ext uri="{FF2B5EF4-FFF2-40B4-BE49-F238E27FC236}">
                <a16:creationId xmlns:a16="http://schemas.microsoft.com/office/drawing/2014/main" id="{F1A0DFE6-12C2-0ECB-512B-BFC057EE712A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⚖ 第二站：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分界問題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K-header-title">
            <a:extLst>
              <a:ext uri="{FF2B5EF4-FFF2-40B4-BE49-F238E27FC236}">
                <a16:creationId xmlns:a16="http://schemas.microsoft.com/office/drawing/2014/main" id="{19E34117-841C-5229-1D89-885461670E75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科學、非科學與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偽科學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05-C4-B1">
            <a:extLst>
              <a:ext uri="{FF2B5EF4-FFF2-40B4-BE49-F238E27FC236}">
                <a16:creationId xmlns:a16="http://schemas.microsoft.com/office/drawing/2014/main" id="{4C4DD265-94AA-0252-8105-8F99EEC108DA}"/>
              </a:ext>
            </a:extLst>
          </p:cNvPr>
          <p:cNvSpPr txBox="1"/>
          <p:nvPr/>
        </p:nvSpPr>
        <p:spPr>
          <a:xfrm>
            <a:off x="833120" y="1793240"/>
            <a:ext cx="318008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科學（</a:t>
            </a:r>
            <a:r>
              <a:rPr lang="en-US" altLang="zh-TW" sz="26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Science</a:t>
            </a:r>
            <a:r>
              <a:rPr lang="zh-TW" altLang="en-US" sz="26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  <a:endParaRPr lang="zh-TW" altLang="en-US" sz="2600" b="1" dirty="0">
              <a:solidFill>
                <a:srgbClr val="1E7E34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05-C4-B2">
            <a:extLst>
              <a:ext uri="{FF2B5EF4-FFF2-40B4-BE49-F238E27FC236}">
                <a16:creationId xmlns:a16="http://schemas.microsoft.com/office/drawing/2014/main" id="{1920D72E-C950-A9D8-65B1-5C5C02F25468}"/>
              </a:ext>
            </a:extLst>
          </p:cNvPr>
          <p:cNvSpPr txBox="1"/>
          <p:nvPr/>
        </p:nvSpPr>
        <p:spPr>
          <a:xfrm>
            <a:off x="833120" y="2313940"/>
            <a:ext cx="318008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5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可證偽性</a:t>
            </a:r>
          </a:p>
          <a:p>
            <a:r>
              <a:rPr lang="en-US" altLang="zh-TW" sz="25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(Falsifiability)</a:t>
            </a:r>
            <a:endParaRPr lang="zh-TW" altLang="en-US" sz="25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05-C4-B3">
            <a:extLst>
              <a:ext uri="{FF2B5EF4-FFF2-40B4-BE49-F238E27FC236}">
                <a16:creationId xmlns:a16="http://schemas.microsoft.com/office/drawing/2014/main" id="{2D6DD72F-CC7A-9797-C96A-CB3D3EF1C42C}"/>
              </a:ext>
            </a:extLst>
          </p:cNvPr>
          <p:cNvSpPr txBox="1"/>
          <p:nvPr/>
        </p:nvSpPr>
        <p:spPr>
          <a:xfrm>
            <a:off x="833120" y="3152140"/>
            <a:ext cx="3180080" cy="2362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讓</a:t>
            </a:r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主張承受</a:t>
            </a:r>
          </a:p>
          <a:p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被反駁的風險。</a:t>
            </a:r>
          </a:p>
          <a:p>
            <a:r>
              <a:rPr lang="en-US" altLang="zh-TW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相對論</a:t>
            </a:r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預測日食時</a:t>
            </a:r>
          </a:p>
          <a:p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光線偏折，可與</a:t>
            </a:r>
          </a:p>
          <a:p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觀測結果比較。</a:t>
            </a:r>
          </a:p>
          <a:p>
            <a:r>
              <a:rPr lang="en-US" altLang="zh-TW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接受</a:t>
            </a:r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檢驗，</a:t>
            </a:r>
          </a:p>
          <a:p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必要時</a:t>
            </a:r>
            <a:r>
              <a:rPr lang="zh-TW" altLang="en-US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修正。</a:t>
            </a:r>
            <a:endParaRPr lang="zh-TW" altLang="en-US" sz="22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05-C5-B1">
            <a:extLst>
              <a:ext uri="{FF2B5EF4-FFF2-40B4-BE49-F238E27FC236}">
                <a16:creationId xmlns:a16="http://schemas.microsoft.com/office/drawing/2014/main" id="{B589C72C-B7C4-E888-B387-B5A244DBCADF}"/>
              </a:ext>
            </a:extLst>
          </p:cNvPr>
          <p:cNvSpPr txBox="1"/>
          <p:nvPr/>
        </p:nvSpPr>
        <p:spPr>
          <a:xfrm>
            <a:off x="4490720" y="1996440"/>
            <a:ext cx="318008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4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非科學（</a:t>
            </a:r>
            <a:r>
              <a:rPr lang="en-US" altLang="zh-TW" sz="24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Non-science</a:t>
            </a:r>
            <a:r>
              <a:rPr lang="zh-TW" altLang="en-US" sz="24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  <a:endParaRPr lang="zh-TW" altLang="en-US" sz="24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05-C5-B2">
            <a:extLst>
              <a:ext uri="{FF2B5EF4-FFF2-40B4-BE49-F238E27FC236}">
                <a16:creationId xmlns:a16="http://schemas.microsoft.com/office/drawing/2014/main" id="{5676123B-28ED-17B2-079B-46E6AEF1BC91}"/>
              </a:ext>
            </a:extLst>
          </p:cNvPr>
          <p:cNvSpPr txBox="1"/>
          <p:nvPr/>
        </p:nvSpPr>
        <p:spPr>
          <a:xfrm>
            <a:off x="4490720" y="2847340"/>
            <a:ext cx="318008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不以實驗判定</a:t>
            </a:r>
            <a:r>
              <a:rPr lang="zh-TW" altLang="en-US" sz="24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的問題</a:t>
            </a:r>
            <a:endParaRPr lang="zh-TW" altLang="en-US" sz="24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K05-C5-B3">
            <a:extLst>
              <a:ext uri="{FF2B5EF4-FFF2-40B4-BE49-F238E27FC236}">
                <a16:creationId xmlns:a16="http://schemas.microsoft.com/office/drawing/2014/main" id="{C83AE179-105A-EF6C-A72B-F68122C2E352}"/>
              </a:ext>
            </a:extLst>
          </p:cNvPr>
          <p:cNvSpPr txBox="1"/>
          <p:nvPr/>
        </p:nvSpPr>
        <p:spPr>
          <a:xfrm>
            <a:off x="4490720" y="3291840"/>
            <a:ext cx="3180080" cy="203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文學</a:t>
            </a:r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、藝術、哲學</a:t>
            </a:r>
          </a:p>
          <a:p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與信仰，涉及價值</a:t>
            </a:r>
          </a:p>
          <a:p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或意義。</a:t>
            </a:r>
          </a:p>
          <a:p>
            <a:r>
              <a:rPr lang="en-US" altLang="zh-TW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</a:t>
            </a:r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這首詩美不美？」</a:t>
            </a:r>
          </a:p>
          <a:p>
            <a:r>
              <a:rPr lang="en-US" altLang="zh-TW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無法</a:t>
            </a:r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只靠實驗判定，</a:t>
            </a:r>
          </a:p>
          <a:p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仍</a:t>
            </a:r>
            <a:r>
              <a:rPr lang="zh-TW" altLang="en-US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有價值。</a:t>
            </a:r>
            <a:endParaRPr lang="zh-TW" altLang="en-US" sz="22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K05-C6-B1">
            <a:extLst>
              <a:ext uri="{FF2B5EF4-FFF2-40B4-BE49-F238E27FC236}">
                <a16:creationId xmlns:a16="http://schemas.microsoft.com/office/drawing/2014/main" id="{6D3BD3DB-AEAF-E9A1-737A-9E87360904C1}"/>
              </a:ext>
            </a:extLst>
          </p:cNvPr>
          <p:cNvSpPr txBox="1"/>
          <p:nvPr/>
        </p:nvSpPr>
        <p:spPr>
          <a:xfrm>
            <a:off x="8148320" y="2136140"/>
            <a:ext cx="318008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>
                <a:solidFill>
                  <a:srgbClr val="CC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偽科學（</a:t>
            </a:r>
            <a:r>
              <a:rPr lang="en-US" altLang="zh-TW" sz="2600" b="1">
                <a:solidFill>
                  <a:srgbClr val="CC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Pseudoscience</a:t>
            </a:r>
            <a:r>
              <a:rPr lang="zh-TW" altLang="en-US" sz="2600" b="1">
                <a:solidFill>
                  <a:srgbClr val="CC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  <a:endParaRPr lang="zh-TW" altLang="en-US" sz="2600" b="1" dirty="0">
              <a:solidFill>
                <a:srgbClr val="CC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K05-C6-B2">
            <a:extLst>
              <a:ext uri="{FF2B5EF4-FFF2-40B4-BE49-F238E27FC236}">
                <a16:creationId xmlns:a16="http://schemas.microsoft.com/office/drawing/2014/main" id="{736E09F2-53D5-9D34-A1F3-0257F103A23A}"/>
              </a:ext>
            </a:extLst>
          </p:cNvPr>
          <p:cNvSpPr txBox="1"/>
          <p:nvPr/>
        </p:nvSpPr>
        <p:spPr>
          <a:xfrm>
            <a:off x="8148320" y="3050540"/>
            <a:ext cx="318008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自稱科學，卻</a:t>
            </a:r>
            <a:r>
              <a:rPr lang="zh-TW" altLang="en-US" sz="24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逃避證據</a:t>
            </a:r>
            <a:endParaRPr lang="zh-TW" altLang="en-US" sz="24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7" name="K05-C6-B3">
            <a:extLst>
              <a:ext uri="{FF2B5EF4-FFF2-40B4-BE49-F238E27FC236}">
                <a16:creationId xmlns:a16="http://schemas.microsoft.com/office/drawing/2014/main" id="{D6F0204D-5CB2-4065-3B3C-22AD3559C4AD}"/>
              </a:ext>
            </a:extLst>
          </p:cNvPr>
          <p:cNvSpPr txBox="1"/>
          <p:nvPr/>
        </p:nvSpPr>
        <p:spPr>
          <a:xfrm>
            <a:off x="8148320" y="3495040"/>
            <a:ext cx="3180080" cy="168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難以</a:t>
            </a:r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檢驗或無視反證。</a:t>
            </a:r>
          </a:p>
          <a:p>
            <a:r>
              <a:rPr lang="en-US" altLang="zh-TW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算命</a:t>
            </a:r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占星：準了稱神，</a:t>
            </a:r>
          </a:p>
          <a:p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不準就推給水逆干擾。</a:t>
            </a:r>
          </a:p>
          <a:p>
            <a:r>
              <a:rPr lang="en-US" altLang="zh-TW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應</a:t>
            </a:r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查具體主張，</a:t>
            </a:r>
          </a:p>
          <a:p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不靠單一條件</a:t>
            </a:r>
            <a:r>
              <a:rPr lang="zh-TW" altLang="en-US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定性。</a:t>
            </a:r>
            <a:endParaRPr lang="zh-TW" altLang="en-US" sz="22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dur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dur="1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1"/>
      <p:bldP spid="13" grpId="2"/>
      <p:bldP spid="14" grpId="3"/>
      <p:bldP spid="15" grpId="4"/>
      <p:bldP spid="16" grpId="5"/>
      <p:bldP spid="17" grpId="6"/>
    </p:bldLst>
  </p:timing>
</p:sld>
</file>

<file path=ppt/slides/slide6.xml><?xml version="1.0" encoding="utf-8"?>
<p:sld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607040" cy="2468880"/>
          </a:xfrm>
          <a:prstGeom prst="roundRect">
            <a:avLst/>
          </a:prstGeom>
          <a:solidFill>
            <a:srgbClr val="E0EFF6"/>
          </a:solidFill>
          <a:ln w="1905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200"/>
              </a:spcAft>
              <a:defRPr sz="26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4343400"/>
            <a:ext cx="10607040" cy="128016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6" name="K-header-label">
            <a:extLst>
              <a:ext uri="{FF2B5EF4-FFF2-40B4-BE49-F238E27FC236}">
                <a16:creationId xmlns:a16="http://schemas.microsoft.com/office/drawing/2014/main" id="{BCF95BFE-88D4-6ADB-E00A-876924F78A81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🦢 關鍵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思維實驗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K-header-title">
            <a:extLst>
              <a:ext uri="{FF2B5EF4-FFF2-40B4-BE49-F238E27FC236}">
                <a16:creationId xmlns:a16="http://schemas.microsoft.com/office/drawing/2014/main" id="{F6CD629A-F62A-0E41-C629-C5F33E42D066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白天鵝再多，能證明所有天鵝皆白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嗎？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K06-C4-B1">
            <a:extLst>
              <a:ext uri="{FF2B5EF4-FFF2-40B4-BE49-F238E27FC236}">
                <a16:creationId xmlns:a16="http://schemas.microsoft.com/office/drawing/2014/main" id="{987E62CC-9BCA-AC8D-A605-3AABCC5FEDDE}"/>
              </a:ext>
            </a:extLst>
          </p:cNvPr>
          <p:cNvSpPr txBox="1"/>
          <p:nvPr/>
        </p:nvSpPr>
        <p:spPr>
          <a:xfrm>
            <a:off x="871220" y="2021840"/>
            <a:ext cx="103276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觀察支持與反例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的差別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06-C4-B2">
            <a:extLst>
              <a:ext uri="{FF2B5EF4-FFF2-40B4-BE49-F238E27FC236}">
                <a16:creationId xmlns:a16="http://schemas.microsoft.com/office/drawing/2014/main" id="{AC8CB173-76C1-87D7-E535-54B3AF5031A0}"/>
              </a:ext>
            </a:extLst>
          </p:cNvPr>
          <p:cNvSpPr txBox="1"/>
          <p:nvPr/>
        </p:nvSpPr>
        <p:spPr>
          <a:xfrm>
            <a:off x="871220" y="2542540"/>
            <a:ext cx="103276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在歐洲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看見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1,000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10,000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，甚至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1,000,000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隻白天鵝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……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06-C4-B3">
            <a:extLst>
              <a:ext uri="{FF2B5EF4-FFF2-40B4-BE49-F238E27FC236}">
                <a16:creationId xmlns:a16="http://schemas.microsoft.com/office/drawing/2014/main" id="{DE620FB3-5EB9-6450-C717-197EB76DFBC2}"/>
              </a:ext>
            </a:extLst>
          </p:cNvPr>
          <p:cNvSpPr txBox="1"/>
          <p:nvPr/>
        </p:nvSpPr>
        <p:spPr>
          <a:xfrm>
            <a:off x="871220" y="2987040"/>
            <a:ext cx="103276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只能說目前所見皆白，不能保證其他地方沒有不同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顏色。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06-C4-B4">
            <a:extLst>
              <a:ext uri="{FF2B5EF4-FFF2-40B4-BE49-F238E27FC236}">
                <a16:creationId xmlns:a16="http://schemas.microsoft.com/office/drawing/2014/main" id="{DFEDEEEC-D1A6-214B-33DD-E89695DFDB68}"/>
              </a:ext>
            </a:extLst>
          </p:cNvPr>
          <p:cNvSpPr txBox="1"/>
          <p:nvPr/>
        </p:nvSpPr>
        <p:spPr>
          <a:xfrm>
            <a:off x="871220" y="3431540"/>
            <a:ext cx="1032764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5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在澳洲</a:t>
            </a:r>
            <a:r>
              <a:rPr lang="zh-TW" altLang="en-US" sz="25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確認 </a:t>
            </a:r>
            <a:r>
              <a:rPr lang="en-US" altLang="zh-TW" sz="25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</a:t>
            </a:r>
            <a:r>
              <a:rPr lang="zh-TW" altLang="en-US" sz="25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隻</a:t>
            </a:r>
            <a:r>
              <a:rPr lang="zh-TW" altLang="en-US" sz="25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黑天鵝，就足以反駁「所有天鵝皆白</a:t>
            </a:r>
            <a:r>
              <a:rPr lang="zh-TW" altLang="en-US" sz="25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」。</a:t>
            </a:r>
            <a:endParaRPr lang="zh-TW" altLang="en-US" sz="25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06-C5-B1">
            <a:extLst>
              <a:ext uri="{FF2B5EF4-FFF2-40B4-BE49-F238E27FC236}">
                <a16:creationId xmlns:a16="http://schemas.microsoft.com/office/drawing/2014/main" id="{0183EAAD-AD84-17A8-C046-F3581CC0BC62}"/>
              </a:ext>
            </a:extLst>
          </p:cNvPr>
          <p:cNvSpPr txBox="1"/>
          <p:nvPr/>
        </p:nvSpPr>
        <p:spPr>
          <a:xfrm>
            <a:off x="845820" y="4521200"/>
            <a:ext cx="103784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波普爾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的提醒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06-C5-B2">
            <a:extLst>
              <a:ext uri="{FF2B5EF4-FFF2-40B4-BE49-F238E27FC236}">
                <a16:creationId xmlns:a16="http://schemas.microsoft.com/office/drawing/2014/main" id="{583D192A-B6A9-E460-26F3-7144E9582E19}"/>
              </a:ext>
            </a:extLst>
          </p:cNvPr>
          <p:cNvSpPr txBox="1"/>
          <p:nvPr/>
        </p:nvSpPr>
        <p:spPr>
          <a:xfrm>
            <a:off x="845820" y="5041900"/>
            <a:ext cx="1037844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5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科學理論接受持續檢驗；現有支持不等於永遠</a:t>
            </a:r>
            <a:r>
              <a:rPr lang="zh-TW" altLang="en-US" sz="25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正確。</a:t>
            </a:r>
            <a:endParaRPr lang="zh-TW" altLang="en-US" sz="25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1"/>
      <p:bldP spid="12" grpId="2"/>
      <p:bldP spid="13" grpId="3"/>
    </p:bldLst>
  </p:timing>
</p:sld>
</file>

<file path=ppt/slides/slide7.xml><?xml version="1.0" encoding="utf-8"?>
<p:sld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3931920"/>
          </a:xfrm>
          <a:prstGeom prst="roundRect">
            <a:avLst/>
          </a:prstGeom>
          <a:solidFill>
            <a:srgbClr val="E0EFF6"/>
          </a:solidFill>
          <a:ln w="1905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200"/>
              </a:spcAft>
              <a:defRPr sz="26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242560" cy="39319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000"/>
              </a:spcAft>
              <a:defRPr sz="2600" b="1">
                <a:solidFill>
                  <a:srgbClr val="C5221F"/>
                </a:solidFill>
                <a:latin typeface="Microsoft JhengHei"/>
              </a:defRPr>
            </a:pPr>
            <a:endParaRPr lang="zh-TW" altLang="en-US" dirty="0">
              <a:solidFill>
                <a:srgbClr val="FFF2CC"/>
              </a:solidFill>
            </a:endParaRPr>
          </a:p>
        </p:txBody>
      </p:sp>
      <p:sp>
        <p:nvSpPr>
          <p:cNvPr id="6" name="K-header-label">
            <a:extLst>
              <a:ext uri="{FF2B5EF4-FFF2-40B4-BE49-F238E27FC236}">
                <a16:creationId xmlns:a16="http://schemas.microsoft.com/office/drawing/2014/main" id="{3C9D0F11-EAED-8715-AA6A-768B50879B5A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✈ 第三站：費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曼照妖鏡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K-header-title">
            <a:extLst>
              <a:ext uri="{FF2B5EF4-FFF2-40B4-BE49-F238E27FC236}">
                <a16:creationId xmlns:a16="http://schemas.microsoft.com/office/drawing/2014/main" id="{46F6BE83-9F80-0102-3AFD-1082D4D1C0F5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費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曼 </a:t>
            </a:r>
            <a:r>
              <a:rPr lang="en-US" altLang="zh-TW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1974 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</a:t>
            </a:r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演說：貨物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崇拜科學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07-C4-B1">
            <a:extLst>
              <a:ext uri="{FF2B5EF4-FFF2-40B4-BE49-F238E27FC236}">
                <a16:creationId xmlns:a16="http://schemas.microsoft.com/office/drawing/2014/main" id="{EC334D57-09C0-96DD-3E8D-48A07C9A9965}"/>
              </a:ext>
            </a:extLst>
          </p:cNvPr>
          <p:cNvSpPr txBox="1"/>
          <p:nvPr/>
        </p:nvSpPr>
        <p:spPr>
          <a:xfrm>
            <a:off x="909320" y="2021840"/>
            <a:ext cx="47650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南太平洋的比喻故事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07-C4-B2">
            <a:extLst>
              <a:ext uri="{FF2B5EF4-FFF2-40B4-BE49-F238E27FC236}">
                <a16:creationId xmlns:a16="http://schemas.microsoft.com/office/drawing/2014/main" id="{933E908D-E114-4E58-7DEA-7182EA662A31}"/>
              </a:ext>
            </a:extLst>
          </p:cNvPr>
          <p:cNvSpPr txBox="1"/>
          <p:nvPr/>
        </p:nvSpPr>
        <p:spPr>
          <a:xfrm>
            <a:off x="909320" y="2542540"/>
            <a:ext cx="47650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二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戰時期，美軍帶來物資。</a:t>
            </a:r>
          </a:p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戰後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美軍離開，補給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中斷。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07-C4-B3">
            <a:extLst>
              <a:ext uri="{FF2B5EF4-FFF2-40B4-BE49-F238E27FC236}">
                <a16:creationId xmlns:a16="http://schemas.microsoft.com/office/drawing/2014/main" id="{25D59C6D-9F00-E8F5-0074-50045DED11F6}"/>
              </a:ext>
            </a:extLst>
          </p:cNvPr>
          <p:cNvSpPr txBox="1"/>
          <p:nvPr/>
        </p:nvSpPr>
        <p:spPr>
          <a:xfrm>
            <a:off x="909320" y="3355340"/>
            <a:ext cx="4765040" cy="111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泥土開跑道、生篝火，</a:t>
            </a:r>
          </a:p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造竹子塔台、戴木製耳機。</a:t>
            </a:r>
          </a:p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虔誠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祈禱，盼飛機再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降落。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07-C4-B4">
            <a:extLst>
              <a:ext uri="{FF2B5EF4-FFF2-40B4-BE49-F238E27FC236}">
                <a16:creationId xmlns:a16="http://schemas.microsoft.com/office/drawing/2014/main" id="{7A5B1659-6B78-D694-6BC3-A6C47B06D830}"/>
              </a:ext>
            </a:extLst>
          </p:cNvPr>
          <p:cNvSpPr txBox="1"/>
          <p:nvPr/>
        </p:nvSpPr>
        <p:spPr>
          <a:xfrm>
            <a:off x="909320" y="4536440"/>
            <a:ext cx="47650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依費曼的敘述：外形齊備，飛機卻沒有</a:t>
            </a:r>
            <a:r>
              <a:rPr lang="zh-TW" altLang="en-US" sz="24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降落。</a:t>
            </a:r>
            <a:endParaRPr lang="zh-TW" altLang="en-US" sz="24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07-C5-B1">
            <a:extLst>
              <a:ext uri="{FF2B5EF4-FFF2-40B4-BE49-F238E27FC236}">
                <a16:creationId xmlns:a16="http://schemas.microsoft.com/office/drawing/2014/main" id="{7F3B1A85-FDEE-AFF2-6D8B-D84374959E39}"/>
              </a:ext>
            </a:extLst>
          </p:cNvPr>
          <p:cNvSpPr txBox="1"/>
          <p:nvPr/>
        </p:nvSpPr>
        <p:spPr>
          <a:xfrm>
            <a:off x="6395720" y="2021840"/>
            <a:ext cx="488696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CC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費曼對研究</a:t>
            </a:r>
            <a:r>
              <a:rPr lang="zh-TW" altLang="en-US" sz="2600" b="1">
                <a:solidFill>
                  <a:srgbClr val="CC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的提醒</a:t>
            </a:r>
            <a:endParaRPr lang="zh-TW" altLang="en-US" sz="2600" b="1" dirty="0">
              <a:solidFill>
                <a:srgbClr val="CC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K07-C5-B2">
            <a:extLst>
              <a:ext uri="{FF2B5EF4-FFF2-40B4-BE49-F238E27FC236}">
                <a16:creationId xmlns:a16="http://schemas.microsoft.com/office/drawing/2014/main" id="{D4044360-6DFB-834E-67E0-29BC25915E30}"/>
              </a:ext>
            </a:extLst>
          </p:cNvPr>
          <p:cNvSpPr txBox="1"/>
          <p:nvPr/>
        </p:nvSpPr>
        <p:spPr>
          <a:xfrm>
            <a:off x="6395720" y="2542540"/>
            <a:ext cx="488696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實驗報告也可能像木頭</a:t>
            </a:r>
            <a:r>
              <a:rPr lang="zh-TW" altLang="en-US" sz="24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耳機：</a:t>
            </a:r>
            <a:endParaRPr lang="zh-TW" altLang="en-US" sz="24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K07-C5-B3">
            <a:extLst>
              <a:ext uri="{FF2B5EF4-FFF2-40B4-BE49-F238E27FC236}">
                <a16:creationId xmlns:a16="http://schemas.microsoft.com/office/drawing/2014/main" id="{38E62268-1933-CD00-8D58-A53D1B4EEAFF}"/>
              </a:ext>
            </a:extLst>
          </p:cNvPr>
          <p:cNvSpPr txBox="1"/>
          <p:nvPr/>
        </p:nvSpPr>
        <p:spPr>
          <a:xfrm>
            <a:off x="6395720" y="2987040"/>
            <a:ext cx="4886960" cy="111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步驟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完整，統計圖表漂亮。</a:t>
            </a:r>
          </a:p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引用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權威論文與專有名詞。</a:t>
            </a:r>
          </a:p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外在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形式看起來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無懈可擊。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K07-C5-B4">
            <a:extLst>
              <a:ext uri="{FF2B5EF4-FFF2-40B4-BE49-F238E27FC236}">
                <a16:creationId xmlns:a16="http://schemas.microsoft.com/office/drawing/2014/main" id="{DD71840D-2C05-51AA-BA1F-DF37BF2BA0AC}"/>
              </a:ext>
            </a:extLst>
          </p:cNvPr>
          <p:cNvSpPr txBox="1"/>
          <p:nvPr/>
        </p:nvSpPr>
        <p:spPr>
          <a:xfrm>
            <a:off x="6395720" y="4168140"/>
            <a:ext cx="4886960" cy="111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卻未完整交代反例、</a:t>
            </a:r>
          </a:p>
          <a:p>
            <a:r>
              <a:rPr lang="zh-TW" altLang="en-US" sz="24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其他解釋與限制，</a:t>
            </a:r>
          </a:p>
          <a:p>
            <a:r>
              <a:rPr lang="zh-TW" altLang="en-US" sz="24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缺少科學</a:t>
            </a:r>
            <a:r>
              <a:rPr lang="zh-TW" altLang="en-US" sz="24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誠實。</a:t>
            </a:r>
            <a:endParaRPr lang="zh-TW" altLang="en-US" sz="24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dur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1"/>
      <p:bldP spid="13" grpId="2"/>
      <p:bldP spid="14" grpId="3"/>
      <p:bldP spid="15" grpId="4"/>
      <p:bldP spid="16" grpId="5"/>
    </p:bldLst>
  </p:timing>
</p:sld>
</file>

<file path=ppt/slides/slide8.xml><?xml version="1.0" encoding="utf-8"?>
<p:sld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607040" cy="25603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000"/>
              </a:spcAft>
              <a:defRPr sz="26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4434840"/>
            <a:ext cx="10607040" cy="1234440"/>
          </a:xfrm>
          <a:prstGeom prst="roundRect">
            <a:avLst/>
          </a:prstGeom>
          <a:solidFill>
            <a:srgbClr val="E1EFD8"/>
          </a:solidFill>
          <a:ln w="19050">
            <a:solidFill>
              <a:srgbClr val="99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1E7E34"/>
                </a:solidFill>
                <a:latin typeface="Microsoft JhengHei"/>
              </a:defRPr>
            </a:pPr>
            <a:endParaRPr/>
          </a:p>
        </p:txBody>
      </p:sp>
      <p:sp>
        <p:nvSpPr>
          <p:cNvPr id="6" name="K-header-label">
            <a:extLst>
              <a:ext uri="{FF2B5EF4-FFF2-40B4-BE49-F238E27FC236}">
                <a16:creationId xmlns:a16="http://schemas.microsoft.com/office/drawing/2014/main" id="{D6920049-7405-1C6B-E554-C2B3C3781680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📉 科學史中的權威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偏誤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K-header-title">
            <a:extLst>
              <a:ext uri="{FF2B5EF4-FFF2-40B4-BE49-F238E27FC236}">
                <a16:creationId xmlns:a16="http://schemas.microsoft.com/office/drawing/2014/main" id="{396BB4A7-0116-4128-F665-861391972AF7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密立根油滴實驗：大科學家也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可能自欺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K08-C4-B1">
            <a:extLst>
              <a:ext uri="{FF2B5EF4-FFF2-40B4-BE49-F238E27FC236}">
                <a16:creationId xmlns:a16="http://schemas.microsoft.com/office/drawing/2014/main" id="{EE57B3E9-D9EB-B7DE-E6E0-2F26C9CBA7C6}"/>
              </a:ext>
            </a:extLst>
          </p:cNvPr>
          <p:cNvSpPr txBox="1"/>
          <p:nvPr/>
        </p:nvSpPr>
        <p:spPr>
          <a:xfrm>
            <a:off x="807720" y="1945640"/>
            <a:ext cx="104546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電子電荷的測量值為何逐步上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移？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08-C4-B2">
            <a:extLst>
              <a:ext uri="{FF2B5EF4-FFF2-40B4-BE49-F238E27FC236}">
                <a16:creationId xmlns:a16="http://schemas.microsoft.com/office/drawing/2014/main" id="{173A7584-9731-7395-664A-9E3C2D6AC64A}"/>
              </a:ext>
            </a:extLst>
          </p:cNvPr>
          <p:cNvSpPr txBox="1"/>
          <p:nvPr/>
        </p:nvSpPr>
        <p:spPr>
          <a:xfrm>
            <a:off x="807720" y="2390140"/>
            <a:ext cx="104546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密立根以油滴測電子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電荷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；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空氣黏滯係數取值有誤，結果偏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小。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08-C4-B3">
            <a:extLst>
              <a:ext uri="{FF2B5EF4-FFF2-40B4-BE49-F238E27FC236}">
                <a16:creationId xmlns:a16="http://schemas.microsoft.com/office/drawing/2014/main" id="{24189752-B047-1C38-4125-C10DB281DB98}"/>
              </a:ext>
            </a:extLst>
          </p:cNvPr>
          <p:cNvSpPr txBox="1"/>
          <p:nvPr/>
        </p:nvSpPr>
        <p:spPr>
          <a:xfrm>
            <a:off x="807720" y="2796540"/>
            <a:ext cx="104546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偏高的結果：更積極找問題，排除偏離原值的</a:t>
            </a:r>
            <a:r>
              <a:rPr lang="zh-TW" altLang="en-US" sz="240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數據。</a:t>
            </a:r>
            <a:endParaRPr lang="zh-TW" altLang="en-US" sz="2400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08-C4-B4">
            <a:extLst>
              <a:ext uri="{FF2B5EF4-FFF2-40B4-BE49-F238E27FC236}">
                <a16:creationId xmlns:a16="http://schemas.microsoft.com/office/drawing/2014/main" id="{1FCCBF5E-3E78-C75D-7750-55DD4397EE06}"/>
              </a:ext>
            </a:extLst>
          </p:cNvPr>
          <p:cNvSpPr txBox="1"/>
          <p:nvPr/>
        </p:nvSpPr>
        <p:spPr>
          <a:xfrm>
            <a:off x="807720" y="3202940"/>
            <a:ext cx="104546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接近的結果：較少繼續查錯，更容易接受並</a:t>
            </a:r>
            <a:r>
              <a:rPr lang="zh-TW" altLang="en-US" sz="2400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發表。</a:t>
            </a:r>
            <a:endParaRPr lang="zh-TW" altLang="en-US" sz="2400" dirty="0">
              <a:solidFill>
                <a:srgbClr val="1E7E34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08-C4-B5">
            <a:extLst>
              <a:ext uri="{FF2B5EF4-FFF2-40B4-BE49-F238E27FC236}">
                <a16:creationId xmlns:a16="http://schemas.microsoft.com/office/drawing/2014/main" id="{2439A5E7-EB17-1CA4-73C8-DFFB4D7DF426}"/>
              </a:ext>
            </a:extLst>
          </p:cNvPr>
          <p:cNvSpPr txBox="1"/>
          <p:nvPr/>
        </p:nvSpPr>
        <p:spPr>
          <a:xfrm>
            <a:off x="807720" y="3609340"/>
            <a:ext cx="104546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結果逐步上移。（原稿</a:t>
            </a:r>
            <a:r>
              <a:rPr lang="zh-TW" altLang="en-US" sz="24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稱「</a:t>
            </a:r>
            <a:r>
              <a:rPr lang="en-US" altLang="zh-TW" sz="24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25 </a:t>
            </a:r>
            <a:r>
              <a:rPr lang="zh-TW" altLang="en-US" sz="24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</a:t>
            </a:r>
            <a:r>
              <a:rPr lang="zh-TW" altLang="en-US" sz="24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」，年數尚待查證</a:t>
            </a:r>
            <a:r>
              <a:rPr lang="zh-TW" altLang="en-US" sz="24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。）</a:t>
            </a:r>
            <a:endParaRPr lang="zh-TW" altLang="en-US" sz="24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08-C5-B1">
            <a:extLst>
              <a:ext uri="{FF2B5EF4-FFF2-40B4-BE49-F238E27FC236}">
                <a16:creationId xmlns:a16="http://schemas.microsoft.com/office/drawing/2014/main" id="{F975AA38-F62B-A94F-942A-479948E36A24}"/>
              </a:ext>
            </a:extLst>
          </p:cNvPr>
          <p:cNvSpPr txBox="1"/>
          <p:nvPr/>
        </p:nvSpPr>
        <p:spPr>
          <a:xfrm>
            <a:off x="833120" y="4599940"/>
            <a:ext cx="1040384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5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費曼第一原則（</a:t>
            </a:r>
            <a:r>
              <a:rPr lang="en-US" altLang="zh-TW" sz="25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Feynman's First Principle</a:t>
            </a:r>
            <a:r>
              <a:rPr lang="zh-TW" altLang="en-US" sz="25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  <a:endParaRPr lang="zh-TW" altLang="en-US" sz="2500" b="1" dirty="0">
              <a:solidFill>
                <a:srgbClr val="1E7E34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K08-C5-B2">
            <a:extLst>
              <a:ext uri="{FF2B5EF4-FFF2-40B4-BE49-F238E27FC236}">
                <a16:creationId xmlns:a16="http://schemas.microsoft.com/office/drawing/2014/main" id="{99C4A9E2-8387-A65B-2F62-EBC804716A6E}"/>
              </a:ext>
            </a:extLst>
          </p:cNvPr>
          <p:cNvSpPr txBox="1"/>
          <p:nvPr/>
        </p:nvSpPr>
        <p:spPr>
          <a:xfrm>
            <a:off x="833120" y="5095240"/>
            <a:ext cx="104038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「你不可欺騙自己，而你自己正是最容易被欺騙的人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。」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dur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1"/>
      <p:bldP spid="12" grpId="2"/>
      <p:bldP spid="13" grpId="3"/>
      <p:bldP spid="14" grpId="4"/>
    </p:bldLst>
  </p:timing>
</p:sld>
</file>

<file path=ppt/slides/slide9.xml><?xml version="1.0" encoding="utf-8"?>
<p:sld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EA4335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39319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400"/>
              </a:spcAft>
              <a:defRPr sz="2600" b="1">
                <a:solidFill>
                  <a:srgbClr val="C5221F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120640" cy="3931920"/>
          </a:xfrm>
          <a:prstGeom prst="roundRect">
            <a:avLst/>
          </a:prstGeom>
          <a:solidFill>
            <a:srgbClr val="E1EFD8"/>
          </a:solidFill>
          <a:ln w="19050">
            <a:solidFill>
              <a:srgbClr val="99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400"/>
              </a:spcAft>
              <a:defRPr sz="2600" b="1">
                <a:solidFill>
                  <a:srgbClr val="1E7E34"/>
                </a:solidFill>
                <a:latin typeface="Microsoft JhengHei"/>
              </a:defRPr>
            </a:pPr>
            <a:endParaRPr dirty="0"/>
          </a:p>
        </p:txBody>
      </p:sp>
      <p:sp>
        <p:nvSpPr>
          <p:cNvPr id="6" name="K-header-label">
            <a:extLst>
              <a:ext uri="{FF2B5EF4-FFF2-40B4-BE49-F238E27FC236}">
                <a16:creationId xmlns:a16="http://schemas.microsoft.com/office/drawing/2014/main" id="{C7672889-FADC-AFC8-3257-2BDF54D6A6EA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🎯 探究現場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自檢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K-header-title">
            <a:extLst>
              <a:ext uri="{FF2B5EF4-FFF2-40B4-BE49-F238E27FC236}">
                <a16:creationId xmlns:a16="http://schemas.microsoft.com/office/drawing/2014/main" id="{4A8623B8-C1FF-7FEA-3959-13F0A59AADFD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面對不合預期的數據，我們怎麼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做？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09-C4-B1">
            <a:extLst>
              <a:ext uri="{FF2B5EF4-FFF2-40B4-BE49-F238E27FC236}">
                <a16:creationId xmlns:a16="http://schemas.microsoft.com/office/drawing/2014/main" id="{2A59A08C-66D9-E3DB-5EA2-377362D9453F}"/>
              </a:ext>
            </a:extLst>
          </p:cNvPr>
          <p:cNvSpPr txBox="1"/>
          <p:nvPr/>
        </p:nvSpPr>
        <p:spPr>
          <a:xfrm>
            <a:off x="833120" y="2288540"/>
            <a:ext cx="49174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貨物崇拜式的</a:t>
            </a:r>
            <a:r>
              <a:rPr lang="zh-TW" altLang="en-US" sz="26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研究作風</a:t>
            </a:r>
            <a:endParaRPr lang="zh-TW" altLang="en-US" sz="26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09-C4-B2">
            <a:extLst>
              <a:ext uri="{FF2B5EF4-FFF2-40B4-BE49-F238E27FC236}">
                <a16:creationId xmlns:a16="http://schemas.microsoft.com/office/drawing/2014/main" id="{133A39AF-4955-85B2-1930-7F27BEB47306}"/>
              </a:ext>
            </a:extLst>
          </p:cNvPr>
          <p:cNvSpPr txBox="1"/>
          <p:nvPr/>
        </p:nvSpPr>
        <p:spPr>
          <a:xfrm>
            <a:off x="833120" y="2809240"/>
            <a:ext cx="4917440" cy="2209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偷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刪離群值：只因數據不漂亮。</a:t>
            </a:r>
          </a:p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射箭再畫靶：硬湊課本結論。</a:t>
            </a:r>
          </a:p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隱匿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失敗：只報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成功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，省略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失敗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8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</a:t>
            </a:r>
          </a:p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只顧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排版：圖表漂亮，卻沒解釋資料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意義。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09-C5-B1">
            <a:extLst>
              <a:ext uri="{FF2B5EF4-FFF2-40B4-BE49-F238E27FC236}">
                <a16:creationId xmlns:a16="http://schemas.microsoft.com/office/drawing/2014/main" id="{AECDEBE5-ABE1-FA1A-0CD2-CFC7E1B71840}"/>
              </a:ext>
            </a:extLst>
          </p:cNvPr>
          <p:cNvSpPr txBox="1"/>
          <p:nvPr/>
        </p:nvSpPr>
        <p:spPr>
          <a:xfrm>
            <a:off x="6319520" y="1805940"/>
            <a:ext cx="49174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誠實的</a:t>
            </a:r>
            <a:r>
              <a:rPr lang="zh-TW" altLang="en-US" sz="26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探究作法</a:t>
            </a:r>
            <a:endParaRPr lang="zh-TW" altLang="en-US" sz="2600" b="1" dirty="0">
              <a:solidFill>
                <a:srgbClr val="1E7E34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09-C5-B2">
            <a:extLst>
              <a:ext uri="{FF2B5EF4-FFF2-40B4-BE49-F238E27FC236}">
                <a16:creationId xmlns:a16="http://schemas.microsoft.com/office/drawing/2014/main" id="{7F04B6A1-DA47-9B0F-9B71-2AEA75B746BA}"/>
              </a:ext>
            </a:extLst>
          </p:cNvPr>
          <p:cNvSpPr txBox="1"/>
          <p:nvPr/>
        </p:nvSpPr>
        <p:spPr>
          <a:xfrm>
            <a:off x="6319520" y="2326640"/>
            <a:ext cx="49174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保留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原始資料，查核異常及未控制的變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因。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09-C5-B3">
            <a:extLst>
              <a:ext uri="{FF2B5EF4-FFF2-40B4-BE49-F238E27FC236}">
                <a16:creationId xmlns:a16="http://schemas.microsoft.com/office/drawing/2014/main" id="{E0EF35B2-F6E3-E458-116C-8319424E662A}"/>
              </a:ext>
            </a:extLst>
          </p:cNvPr>
          <p:cNvSpPr txBox="1"/>
          <p:nvPr/>
        </p:nvSpPr>
        <p:spPr>
          <a:xfrm>
            <a:off x="6319520" y="3139440"/>
            <a:ext cx="49174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說明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不支持假說的結果，也留下有用的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線索。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K09-C5-B4">
            <a:extLst>
              <a:ext uri="{FF2B5EF4-FFF2-40B4-BE49-F238E27FC236}">
                <a16:creationId xmlns:a16="http://schemas.microsoft.com/office/drawing/2014/main" id="{81148AF7-6A88-01E1-DA9A-1BF72531207C}"/>
              </a:ext>
            </a:extLst>
          </p:cNvPr>
          <p:cNvSpPr txBox="1"/>
          <p:nvPr/>
        </p:nvSpPr>
        <p:spPr>
          <a:xfrm>
            <a:off x="6319520" y="3952240"/>
            <a:ext cx="49174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公開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儀器誤差、研究限制</a:t>
            </a:r>
          </a:p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與資料處理的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依據。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K09-C5-B5">
            <a:extLst>
              <a:ext uri="{FF2B5EF4-FFF2-40B4-BE49-F238E27FC236}">
                <a16:creationId xmlns:a16="http://schemas.microsoft.com/office/drawing/2014/main" id="{11A31FA4-63E8-AB01-6DE5-A5D3E04E9D39}"/>
              </a:ext>
            </a:extLst>
          </p:cNvPr>
          <p:cNvSpPr txBox="1"/>
          <p:nvPr/>
        </p:nvSpPr>
        <p:spPr>
          <a:xfrm>
            <a:off x="6319520" y="4765040"/>
            <a:ext cx="49174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交代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真實資料及其瑕疵，讓別人能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檢查。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dur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dur="1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dur="1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1"/>
      <p:bldP spid="13" grpId="2"/>
      <p:bldP spid="14" grpId="3"/>
      <p:bldP spid="15" grpId="4"/>
    </p:bldLst>
  </p:timing>
</p:sld>
</file>

<file path=ppt/slides/slide10.xml><?xml version="1.0" encoding="utf-8"?>
<p:sld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2011680" cy="3931920"/>
          </a:xfrm>
          <a:prstGeom prst="roundRect">
            <a:avLst/>
          </a:prstGeom>
          <a:solidFill>
            <a:srgbClr val="FDE8E8"/>
          </a:solidFill>
          <a:ln w="15240">
            <a:solidFill>
              <a:srgbClr val="F2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C5221F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89504" y="1691640"/>
            <a:ext cx="2011680" cy="3931920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EA4335"/>
                </a:solidFill>
                <a:latin typeface="Microsoft JhengHei"/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047488" y="1691640"/>
            <a:ext cx="2011680" cy="3931920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F6B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E37400"/>
                </a:solidFill>
                <a:latin typeface="Microsoft JhengHei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205472" y="1691640"/>
            <a:ext cx="2011680" cy="3931920"/>
          </a:xfrm>
          <a:prstGeom prst="roundRect">
            <a:avLst/>
          </a:prstGeom>
          <a:solidFill>
            <a:srgbClr val="E0EFF6"/>
          </a:solidFill>
          <a:ln w="1524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363456" y="1691640"/>
            <a:ext cx="2011680" cy="3931920"/>
          </a:xfrm>
          <a:prstGeom prst="roundRect">
            <a:avLst/>
          </a:prstGeom>
          <a:solidFill>
            <a:srgbClr val="E1EFD8"/>
          </a:solidFill>
          <a:ln w="15240">
            <a:solidFill>
              <a:srgbClr val="99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1E7E34"/>
                </a:solidFill>
                <a:latin typeface="Microsoft JhengHei"/>
              </a:defRPr>
            </a:pPr>
            <a:endParaRPr dirty="0"/>
          </a:p>
        </p:txBody>
      </p:sp>
      <p:sp>
        <p:nvSpPr>
          <p:cNvPr id="9" name="K-header-label">
            <a:extLst>
              <a:ext uri="{FF2B5EF4-FFF2-40B4-BE49-F238E27FC236}">
                <a16:creationId xmlns:a16="http://schemas.microsoft.com/office/drawing/2014/main" id="{979C2AFF-9591-652D-1E41-4BFC51D4EB17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🌈 第四站：科學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相關詞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-header-title">
            <a:extLst>
              <a:ext uri="{FF2B5EF4-FFF2-40B4-BE49-F238E27FC236}">
                <a16:creationId xmlns:a16="http://schemas.microsoft.com/office/drawing/2014/main" id="{5BD4930E-59D3-229C-7E2A-037178AE05EA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五個相關詞，描述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不同面向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10-C4-B1">
            <a:extLst>
              <a:ext uri="{FF2B5EF4-FFF2-40B4-BE49-F238E27FC236}">
                <a16:creationId xmlns:a16="http://schemas.microsoft.com/office/drawing/2014/main" id="{BD36DCD0-82D3-A25F-D624-C0C9F1D444CA}"/>
              </a:ext>
            </a:extLst>
          </p:cNvPr>
          <p:cNvSpPr txBox="1"/>
          <p:nvPr/>
        </p:nvSpPr>
        <p:spPr>
          <a:xfrm>
            <a:off x="858520" y="1882140"/>
            <a:ext cx="175768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500" b="1">
                <a:solidFill>
                  <a:srgbClr val="CC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反科學</a:t>
            </a:r>
            <a:endParaRPr lang="zh-TW" altLang="en-US" sz="2500" b="1" dirty="0">
              <a:solidFill>
                <a:srgbClr val="CC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10-C4-B2">
            <a:extLst>
              <a:ext uri="{FF2B5EF4-FFF2-40B4-BE49-F238E27FC236}">
                <a16:creationId xmlns:a16="http://schemas.microsoft.com/office/drawing/2014/main" id="{5024A8A6-3A19-7BE7-A603-04EA4E5543A5}"/>
              </a:ext>
            </a:extLst>
          </p:cNvPr>
          <p:cNvSpPr txBox="1"/>
          <p:nvPr/>
        </p:nvSpPr>
        <p:spPr>
          <a:xfrm>
            <a:off x="858520" y="2326640"/>
            <a:ext cx="17576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TW" sz="1600">
                <a:solidFill>
                  <a:srgbClr val="CC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Anti-science</a:t>
            </a:r>
            <a:endParaRPr lang="zh-TW" altLang="en-US" sz="1600" dirty="0">
              <a:solidFill>
                <a:srgbClr val="CC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10-C4-B3">
            <a:extLst>
              <a:ext uri="{FF2B5EF4-FFF2-40B4-BE49-F238E27FC236}">
                <a16:creationId xmlns:a16="http://schemas.microsoft.com/office/drawing/2014/main" id="{3BBF00F0-2B64-2D41-DD50-04689DB11455}"/>
              </a:ext>
            </a:extLst>
          </p:cNvPr>
          <p:cNvSpPr txBox="1"/>
          <p:nvPr/>
        </p:nvSpPr>
        <p:spPr>
          <a:xfrm>
            <a:off x="858520" y="2644140"/>
            <a:ext cx="175768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2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拒斥科學方法</a:t>
            </a:r>
            <a:r>
              <a:rPr lang="zh-TW" altLang="en-US" sz="22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或證據</a:t>
            </a:r>
            <a:endParaRPr lang="zh-TW" altLang="en-US" sz="22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K10-C4-B4">
            <a:extLst>
              <a:ext uri="{FF2B5EF4-FFF2-40B4-BE49-F238E27FC236}">
                <a16:creationId xmlns:a16="http://schemas.microsoft.com/office/drawing/2014/main" id="{1E248468-8A05-92F9-9E2D-2A453419BAAF}"/>
              </a:ext>
            </a:extLst>
          </p:cNvPr>
          <p:cNvSpPr txBox="1"/>
          <p:nvPr/>
        </p:nvSpPr>
        <p:spPr>
          <a:xfrm>
            <a:off x="858520" y="3380740"/>
            <a:ext cx="1757680" cy="153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如地平說、反疫苗運動。受意識形態或利益影響，拒絕檢驗與</a:t>
            </a:r>
            <a:r>
              <a:rPr lang="zh-TW" altLang="en-US" sz="20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對話。</a:t>
            </a:r>
            <a:endParaRPr lang="zh-TW" altLang="en-US" sz="20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K10-C5-B1">
            <a:extLst>
              <a:ext uri="{FF2B5EF4-FFF2-40B4-BE49-F238E27FC236}">
                <a16:creationId xmlns:a16="http://schemas.microsoft.com/office/drawing/2014/main" id="{9E9A9C08-63B0-3104-AE9F-25FF18F8A598}"/>
              </a:ext>
            </a:extLst>
          </p:cNvPr>
          <p:cNvSpPr txBox="1"/>
          <p:nvPr/>
        </p:nvSpPr>
        <p:spPr>
          <a:xfrm>
            <a:off x="3016504" y="1882140"/>
            <a:ext cx="175768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500" b="1">
                <a:solidFill>
                  <a:srgbClr val="FF33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偽科學</a:t>
            </a:r>
            <a:endParaRPr lang="zh-TW" altLang="en-US" sz="2500" b="1" dirty="0">
              <a:solidFill>
                <a:srgbClr val="FF33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K10-C5-B2">
            <a:extLst>
              <a:ext uri="{FF2B5EF4-FFF2-40B4-BE49-F238E27FC236}">
                <a16:creationId xmlns:a16="http://schemas.microsoft.com/office/drawing/2014/main" id="{C53F6CEC-B046-E984-78D2-5C7E141911DF}"/>
              </a:ext>
            </a:extLst>
          </p:cNvPr>
          <p:cNvSpPr txBox="1"/>
          <p:nvPr/>
        </p:nvSpPr>
        <p:spPr>
          <a:xfrm>
            <a:off x="3016504" y="2326640"/>
            <a:ext cx="17576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TW" sz="1600">
                <a:solidFill>
                  <a:srgbClr val="FF33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Pseudoscience</a:t>
            </a:r>
            <a:endParaRPr lang="zh-TW" altLang="en-US" sz="1600" dirty="0">
              <a:solidFill>
                <a:srgbClr val="FF33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7" name="K10-C5-B3">
            <a:extLst>
              <a:ext uri="{FF2B5EF4-FFF2-40B4-BE49-F238E27FC236}">
                <a16:creationId xmlns:a16="http://schemas.microsoft.com/office/drawing/2014/main" id="{602FA971-7D61-C9C7-EAEA-DBCDB4FAC2C9}"/>
              </a:ext>
            </a:extLst>
          </p:cNvPr>
          <p:cNvSpPr txBox="1"/>
          <p:nvPr/>
        </p:nvSpPr>
        <p:spPr>
          <a:xfrm>
            <a:off x="3016504" y="2644140"/>
            <a:ext cx="175768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2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科學包裝，</a:t>
            </a:r>
            <a:r>
              <a:rPr lang="zh-TW" altLang="en-US" sz="22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逃避反證</a:t>
            </a:r>
            <a:endParaRPr lang="zh-TW" altLang="en-US" sz="22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8" name="K10-C5-B4">
            <a:extLst>
              <a:ext uri="{FF2B5EF4-FFF2-40B4-BE49-F238E27FC236}">
                <a16:creationId xmlns:a16="http://schemas.microsoft.com/office/drawing/2014/main" id="{A69CF1DE-6988-339B-0F61-9E2F04D4880C}"/>
              </a:ext>
            </a:extLst>
          </p:cNvPr>
          <p:cNvSpPr txBox="1"/>
          <p:nvPr/>
        </p:nvSpPr>
        <p:spPr>
          <a:xfrm>
            <a:off x="3016504" y="3380740"/>
            <a:ext cx="1757680" cy="153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如量子手環、占星。使用難檢驗的說法，或遇反證仍不</a:t>
            </a:r>
            <a:r>
              <a:rPr lang="zh-TW" altLang="en-US" sz="20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修正。</a:t>
            </a:r>
            <a:endParaRPr lang="zh-TW" altLang="en-US" sz="20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" name="K10-C6-B1">
            <a:extLst>
              <a:ext uri="{FF2B5EF4-FFF2-40B4-BE49-F238E27FC236}">
                <a16:creationId xmlns:a16="http://schemas.microsoft.com/office/drawing/2014/main" id="{6A1E6ED5-946F-EBDE-7E0D-5E9ADF5F6D0B}"/>
              </a:ext>
            </a:extLst>
          </p:cNvPr>
          <p:cNvSpPr txBox="1"/>
          <p:nvPr/>
        </p:nvSpPr>
        <p:spPr>
          <a:xfrm>
            <a:off x="5174488" y="1882140"/>
            <a:ext cx="175768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500" b="1">
                <a:solidFill>
                  <a:srgbClr val="E374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貨物崇拜</a:t>
            </a:r>
            <a:endParaRPr lang="zh-TW" altLang="en-US" sz="2500" b="1" dirty="0">
              <a:solidFill>
                <a:srgbClr val="E374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0" name="K10-C6-B2">
            <a:extLst>
              <a:ext uri="{FF2B5EF4-FFF2-40B4-BE49-F238E27FC236}">
                <a16:creationId xmlns:a16="http://schemas.microsoft.com/office/drawing/2014/main" id="{4AE97517-19DB-492E-91FD-8D64008232D6}"/>
              </a:ext>
            </a:extLst>
          </p:cNvPr>
          <p:cNvSpPr txBox="1"/>
          <p:nvPr/>
        </p:nvSpPr>
        <p:spPr>
          <a:xfrm>
            <a:off x="5174488" y="2326640"/>
            <a:ext cx="17576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TW" sz="1600">
                <a:solidFill>
                  <a:srgbClr val="E374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Cargo Cult</a:t>
            </a:r>
            <a:endParaRPr lang="zh-TW" altLang="en-US" sz="1600" dirty="0">
              <a:solidFill>
                <a:srgbClr val="E374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1" name="K10-C6-B3">
            <a:extLst>
              <a:ext uri="{FF2B5EF4-FFF2-40B4-BE49-F238E27FC236}">
                <a16:creationId xmlns:a16="http://schemas.microsoft.com/office/drawing/2014/main" id="{AD7F0B51-988F-2EB2-6503-A4B95155D43E}"/>
              </a:ext>
            </a:extLst>
          </p:cNvPr>
          <p:cNvSpPr txBox="1"/>
          <p:nvPr/>
        </p:nvSpPr>
        <p:spPr>
          <a:xfrm>
            <a:off x="5174488" y="2644140"/>
            <a:ext cx="175768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2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外殼完整，</a:t>
            </a:r>
            <a:r>
              <a:rPr lang="zh-TW" altLang="en-US" sz="22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誠實不足</a:t>
            </a:r>
            <a:endParaRPr lang="zh-TW" altLang="en-US" sz="22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2" name="K10-C6-B4">
            <a:extLst>
              <a:ext uri="{FF2B5EF4-FFF2-40B4-BE49-F238E27FC236}">
                <a16:creationId xmlns:a16="http://schemas.microsoft.com/office/drawing/2014/main" id="{37ADFF22-4228-C097-D653-99A9E8010EB8}"/>
              </a:ext>
            </a:extLst>
          </p:cNvPr>
          <p:cNvSpPr txBox="1"/>
          <p:nvPr/>
        </p:nvSpPr>
        <p:spPr>
          <a:xfrm>
            <a:off x="5174488" y="3380740"/>
            <a:ext cx="1757680" cy="153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如偷改數據、先射箭再畫靶。形式到位，卻不交代不利</a:t>
            </a:r>
            <a:r>
              <a:rPr lang="zh-TW" altLang="en-US" sz="20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證據。</a:t>
            </a:r>
            <a:endParaRPr lang="zh-TW" altLang="en-US" sz="20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3" name="K10-C7-B1">
            <a:extLst>
              <a:ext uri="{FF2B5EF4-FFF2-40B4-BE49-F238E27FC236}">
                <a16:creationId xmlns:a16="http://schemas.microsoft.com/office/drawing/2014/main" id="{CF466870-6E03-5244-C0AE-4961193F8BF7}"/>
              </a:ext>
            </a:extLst>
          </p:cNvPr>
          <p:cNvSpPr txBox="1"/>
          <p:nvPr/>
        </p:nvSpPr>
        <p:spPr>
          <a:xfrm>
            <a:off x="7332472" y="1882140"/>
            <a:ext cx="175768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5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邊緣科學</a:t>
            </a:r>
            <a:endParaRPr lang="zh-TW" altLang="en-US" sz="2500" b="1" dirty="0">
              <a:solidFill>
                <a:srgbClr val="1155CC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K10-C7-B2">
            <a:extLst>
              <a:ext uri="{FF2B5EF4-FFF2-40B4-BE49-F238E27FC236}">
                <a16:creationId xmlns:a16="http://schemas.microsoft.com/office/drawing/2014/main" id="{1DAB0462-BC5C-385A-2A9C-C0F7EE1493FF}"/>
              </a:ext>
            </a:extLst>
          </p:cNvPr>
          <p:cNvSpPr txBox="1"/>
          <p:nvPr/>
        </p:nvSpPr>
        <p:spPr>
          <a:xfrm>
            <a:off x="7332472" y="2326640"/>
            <a:ext cx="17576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TW" sz="1600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Fringe science</a:t>
            </a:r>
            <a:endParaRPr lang="zh-TW" altLang="en-US" sz="1600" dirty="0">
              <a:solidFill>
                <a:srgbClr val="1155CC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5" name="K10-C7-B3">
            <a:extLst>
              <a:ext uri="{FF2B5EF4-FFF2-40B4-BE49-F238E27FC236}">
                <a16:creationId xmlns:a16="http://schemas.microsoft.com/office/drawing/2014/main" id="{A6D2D197-3BA7-4D40-254A-199D87C4C883}"/>
              </a:ext>
            </a:extLst>
          </p:cNvPr>
          <p:cNvSpPr txBox="1"/>
          <p:nvPr/>
        </p:nvSpPr>
        <p:spPr>
          <a:xfrm>
            <a:off x="7332472" y="2644140"/>
            <a:ext cx="175768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2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非主流，仍</a:t>
            </a:r>
            <a:r>
              <a:rPr lang="zh-TW" altLang="en-US" sz="22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須檢驗</a:t>
            </a:r>
            <a:endParaRPr lang="zh-TW" altLang="en-US" sz="22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6" name="K10-C7-B4">
            <a:extLst>
              <a:ext uri="{FF2B5EF4-FFF2-40B4-BE49-F238E27FC236}">
                <a16:creationId xmlns:a16="http://schemas.microsoft.com/office/drawing/2014/main" id="{DAD70596-D54B-2D05-6E23-1849599C89CC}"/>
              </a:ext>
            </a:extLst>
          </p:cNvPr>
          <p:cNvSpPr txBox="1"/>
          <p:nvPr/>
        </p:nvSpPr>
        <p:spPr>
          <a:xfrm>
            <a:off x="7332472" y="3380740"/>
            <a:ext cx="1757680" cy="184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如魏格納的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大陸漂移說。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新想法可能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遭到質疑，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仍須依證據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檢驗與</a:t>
            </a:r>
            <a:r>
              <a:rPr lang="zh-TW" altLang="en-US" sz="20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修正。</a:t>
            </a:r>
            <a:endParaRPr lang="zh-TW" altLang="en-US" sz="20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" name="K10-C8-B1">
            <a:extLst>
              <a:ext uri="{FF2B5EF4-FFF2-40B4-BE49-F238E27FC236}">
                <a16:creationId xmlns:a16="http://schemas.microsoft.com/office/drawing/2014/main" id="{0B6DC557-F359-E4AA-FB93-9A897C234BCD}"/>
              </a:ext>
            </a:extLst>
          </p:cNvPr>
          <p:cNvSpPr txBox="1"/>
          <p:nvPr/>
        </p:nvSpPr>
        <p:spPr>
          <a:xfrm>
            <a:off x="9490456" y="1882140"/>
            <a:ext cx="175768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5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正統科學</a:t>
            </a:r>
            <a:endParaRPr lang="zh-TW" altLang="en-US" sz="2500" b="1" dirty="0">
              <a:solidFill>
                <a:srgbClr val="1E7E34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8" name="K10-C8-B2">
            <a:extLst>
              <a:ext uri="{FF2B5EF4-FFF2-40B4-BE49-F238E27FC236}">
                <a16:creationId xmlns:a16="http://schemas.microsoft.com/office/drawing/2014/main" id="{C3AE39EF-D27C-F22B-604E-B5DCE7FA8510}"/>
              </a:ext>
            </a:extLst>
          </p:cNvPr>
          <p:cNvSpPr txBox="1"/>
          <p:nvPr/>
        </p:nvSpPr>
        <p:spPr>
          <a:xfrm>
            <a:off x="9490456" y="2326640"/>
            <a:ext cx="17576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TW" sz="1600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Orthodox science</a:t>
            </a:r>
            <a:endParaRPr lang="zh-TW" altLang="en-US" sz="1600" dirty="0">
              <a:solidFill>
                <a:srgbClr val="1E7E34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9" name="K10-C8-B3">
            <a:extLst>
              <a:ext uri="{FF2B5EF4-FFF2-40B4-BE49-F238E27FC236}">
                <a16:creationId xmlns:a16="http://schemas.microsoft.com/office/drawing/2014/main" id="{4E7DB70C-D41A-70C7-4A4A-5B1522BDC0F1}"/>
              </a:ext>
            </a:extLst>
          </p:cNvPr>
          <p:cNvSpPr txBox="1"/>
          <p:nvPr/>
        </p:nvSpPr>
        <p:spPr>
          <a:xfrm>
            <a:off x="9490456" y="2644140"/>
            <a:ext cx="175768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2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可檢驗，能</a:t>
            </a:r>
            <a:r>
              <a:rPr lang="zh-TW" altLang="en-US" sz="22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重複查核</a:t>
            </a:r>
            <a:endParaRPr lang="zh-TW" altLang="en-US" sz="22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0" name="K10-C8-B4">
            <a:extLst>
              <a:ext uri="{FF2B5EF4-FFF2-40B4-BE49-F238E27FC236}">
                <a16:creationId xmlns:a16="http://schemas.microsoft.com/office/drawing/2014/main" id="{EA980FF9-21EE-01B8-9DE0-B206046B6145}"/>
              </a:ext>
            </a:extLst>
          </p:cNvPr>
          <p:cNvSpPr txBox="1"/>
          <p:nvPr/>
        </p:nvSpPr>
        <p:spPr>
          <a:xfrm>
            <a:off x="9490456" y="3380740"/>
            <a:ext cx="1757680" cy="153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如量子力學、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相對論。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接受新資料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與新的測試，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必要時</a:t>
            </a:r>
            <a:r>
              <a:rPr lang="zh-TW" altLang="en-US" sz="20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修正。</a:t>
            </a:r>
            <a:endParaRPr lang="zh-TW" altLang="en-US" sz="20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dur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dur="1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dur="1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dur="1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dur="1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dur="1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dur="1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dur="1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dur="1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dur="1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dur="1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dur="1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dur="1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1"/>
      <p:bldP spid="16" grpId="2"/>
      <p:bldP spid="17" grpId="3"/>
      <p:bldP spid="18" grpId="4"/>
      <p:bldP spid="19" grpId="5"/>
      <p:bldP spid="20" grpId="6"/>
      <p:bldP spid="21" grpId="7"/>
      <p:bldP spid="22" grpId="8"/>
      <p:bldP spid="23" grpId="9"/>
      <p:bldP spid="24" grpId="10"/>
      <p:bldP spid="25" grpId="11"/>
      <p:bldP spid="26" grpId="12"/>
      <p:bldP spid="27" grpId="13"/>
      <p:bldP spid="28" grpId="14"/>
      <p:bldP spid="29" grpId="15"/>
      <p:bldP spid="30" grpId="16"/>
    </p:bldLst>
  </p:timing>
</p:sld>
</file>

<file path=ppt/slides/slide11.xml><?xml version="1.0" encoding="utf-8"?>
<p:sld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EA4335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607040" cy="841248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defRPr sz="2100" b="0">
                <a:solidFill>
                  <a:srgbClr val="212121"/>
                </a:solidFill>
                <a:latin typeface="Microsoft JhengHei"/>
              </a:defRPr>
            </a:pPr>
            <a:endParaRPr sz="2200" b="1">
              <a:solidFill>
                <a:srgbClr val="EA4335"/>
              </a:solidFill>
              <a:latin typeface="Microsoft JhengHe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607040" cy="841248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E3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defRPr sz="2100" b="0">
                <a:solidFill>
                  <a:srgbClr val="212121"/>
                </a:solidFill>
                <a:latin typeface="Microsoft JhengHei"/>
              </a:defRPr>
            </a:pPr>
            <a:endParaRPr sz="2200" b="1">
              <a:solidFill>
                <a:srgbClr val="E37400"/>
              </a:solidFill>
              <a:latin typeface="Microsoft JhengHe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3611880"/>
            <a:ext cx="10607040" cy="841248"/>
          </a:xfrm>
          <a:prstGeom prst="roundRect">
            <a:avLst/>
          </a:prstGeom>
          <a:solidFill>
            <a:srgbClr val="E0EFF6"/>
          </a:solidFill>
          <a:ln w="15240">
            <a:solidFill>
              <a:srgbClr val="11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defRPr sz="2100" b="0">
                <a:solidFill>
                  <a:srgbClr val="212121"/>
                </a:solidFill>
                <a:latin typeface="Microsoft JhengHei"/>
              </a:defRPr>
            </a:pPr>
            <a:endParaRPr sz="2200" b="1">
              <a:solidFill>
                <a:srgbClr val="1155CC"/>
              </a:solidFill>
              <a:latin typeface="Microsoft Jheng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07040" cy="841248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defRPr sz="2100" b="0">
                <a:solidFill>
                  <a:srgbClr val="212121"/>
                </a:solidFill>
                <a:latin typeface="Microsoft JhengHei"/>
              </a:defRPr>
            </a:pPr>
            <a:endParaRPr sz="2200" b="1">
              <a:solidFill>
                <a:srgbClr val="595959"/>
              </a:solidFill>
              <a:latin typeface="Microsoft JhengHei"/>
            </a:endParaRPr>
          </a:p>
        </p:txBody>
      </p:sp>
      <p:sp>
        <p:nvSpPr>
          <p:cNvPr id="8" name="K-header-label">
            <a:extLst>
              <a:ext uri="{FF2B5EF4-FFF2-40B4-BE49-F238E27FC236}">
                <a16:creationId xmlns:a16="http://schemas.microsoft.com/office/drawing/2014/main" id="{9AD79FDE-7FBB-0D2D-40DB-9CF60A985571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⚔ 實戰大擂台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-header-title">
            <a:extLst>
              <a:ext uri="{FF2B5EF4-FFF2-40B4-BE49-F238E27FC236}">
                <a16:creationId xmlns:a16="http://schemas.microsoft.com/office/drawing/2014/main" id="{C27960E6-1823-2B87-6434-685D0B73546F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嘉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 </a:t>
            </a:r>
            <a:r>
              <a:rPr lang="en-US" altLang="zh-TW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201 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破案挑戰賽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11-C4-B1">
            <a:extLst>
              <a:ext uri="{FF2B5EF4-FFF2-40B4-BE49-F238E27FC236}">
                <a16:creationId xmlns:a16="http://schemas.microsoft.com/office/drawing/2014/main" id="{71A462DA-611A-A94F-BBA0-C2BD891E7FF9}"/>
              </a:ext>
            </a:extLst>
          </p:cNvPr>
          <p:cNvSpPr txBox="1"/>
          <p:nvPr/>
        </p:nvSpPr>
        <p:spPr>
          <a:xfrm>
            <a:off x="922020" y="1729740"/>
            <a:ext cx="102260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情境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占星師：水逆使你倒楣；若順利，是善念抵銷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了。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11-C4-B2">
            <a:extLst>
              <a:ext uri="{FF2B5EF4-FFF2-40B4-BE49-F238E27FC236}">
                <a16:creationId xmlns:a16="http://schemas.microsoft.com/office/drawing/2014/main" id="{5EF74DF0-46F1-B62A-ACE3-913086DA8E34}"/>
              </a:ext>
            </a:extLst>
          </p:cNvPr>
          <p:cNvSpPr txBox="1"/>
          <p:nvPr/>
        </p:nvSpPr>
        <p:spPr>
          <a:xfrm>
            <a:off x="922020" y="2123440"/>
            <a:ext cx="102260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偽科學警訊：總能另找解釋，逃避</a:t>
            </a:r>
            <a:r>
              <a:rPr lang="zh-TW" altLang="en-US" sz="24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反證。</a:t>
            </a:r>
            <a:endParaRPr lang="zh-TW" altLang="en-US" sz="24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11-C5-B1">
            <a:extLst>
              <a:ext uri="{FF2B5EF4-FFF2-40B4-BE49-F238E27FC236}">
                <a16:creationId xmlns:a16="http://schemas.microsoft.com/office/drawing/2014/main" id="{35CB1ACB-F1A4-13A4-693A-AAD9529AB0E1}"/>
              </a:ext>
            </a:extLst>
          </p:cNvPr>
          <p:cNvSpPr txBox="1"/>
          <p:nvPr/>
        </p:nvSpPr>
        <p:spPr>
          <a:xfrm>
            <a:off x="922020" y="2689860"/>
            <a:ext cx="102260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情境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某組單擺週期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差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0.3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秒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，組長偷偷改數據，畫出線性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11-C5-B2">
            <a:extLst>
              <a:ext uri="{FF2B5EF4-FFF2-40B4-BE49-F238E27FC236}">
                <a16:creationId xmlns:a16="http://schemas.microsoft.com/office/drawing/2014/main" id="{F1895542-93CB-510F-99E5-589C2E03A916}"/>
              </a:ext>
            </a:extLst>
          </p:cNvPr>
          <p:cNvSpPr txBox="1"/>
          <p:nvPr/>
        </p:nvSpPr>
        <p:spPr>
          <a:xfrm>
            <a:off x="922020" y="3083560"/>
            <a:ext cx="102260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b="1" dirty="0">
                <a:solidFill>
                  <a:srgbClr val="E374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貨物崇拜式作風：外觀漂亮，資料</a:t>
            </a:r>
            <a:r>
              <a:rPr lang="zh-TW" altLang="en-US" sz="2400" b="1">
                <a:solidFill>
                  <a:srgbClr val="E374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失真。</a:t>
            </a:r>
            <a:endParaRPr lang="zh-TW" altLang="en-US" sz="2400" b="1" dirty="0">
              <a:solidFill>
                <a:srgbClr val="E374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K11-C6-B1">
            <a:extLst>
              <a:ext uri="{FF2B5EF4-FFF2-40B4-BE49-F238E27FC236}">
                <a16:creationId xmlns:a16="http://schemas.microsoft.com/office/drawing/2014/main" id="{5D52D06E-56D5-6421-EA22-8BFCE43956E2}"/>
              </a:ext>
            </a:extLst>
          </p:cNvPr>
          <p:cNvSpPr txBox="1"/>
          <p:nvPr/>
        </p:nvSpPr>
        <p:spPr>
          <a:xfrm>
            <a:off x="922020" y="3649980"/>
            <a:ext cx="102260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情境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1912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，魏格納的大陸漂移說遭主流地質學界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質疑。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K11-C6-B2">
            <a:extLst>
              <a:ext uri="{FF2B5EF4-FFF2-40B4-BE49-F238E27FC236}">
                <a16:creationId xmlns:a16="http://schemas.microsoft.com/office/drawing/2014/main" id="{3CBD3058-3B16-E646-F0F5-97C2A5195A0A}"/>
              </a:ext>
            </a:extLst>
          </p:cNvPr>
          <p:cNvSpPr txBox="1"/>
          <p:nvPr/>
        </p:nvSpPr>
        <p:spPr>
          <a:xfrm>
            <a:off x="922020" y="4043680"/>
            <a:ext cx="102260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b="1" dirty="0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當時的非主流研究：要看提出的證據與</a:t>
            </a:r>
            <a:r>
              <a:rPr lang="zh-TW" altLang="en-US" sz="24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檢驗。</a:t>
            </a:r>
            <a:endParaRPr lang="zh-TW" altLang="en-US" sz="2400" b="1" dirty="0">
              <a:solidFill>
                <a:srgbClr val="1155CC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K11-C7-B1">
            <a:extLst>
              <a:ext uri="{FF2B5EF4-FFF2-40B4-BE49-F238E27FC236}">
                <a16:creationId xmlns:a16="http://schemas.microsoft.com/office/drawing/2014/main" id="{4F72F15E-22E1-2644-FFDB-B831C7E49786}"/>
              </a:ext>
            </a:extLst>
          </p:cNvPr>
          <p:cNvSpPr txBox="1"/>
          <p:nvPr/>
        </p:nvSpPr>
        <p:spPr>
          <a:xfrm>
            <a:off x="922020" y="4610100"/>
            <a:ext cx="102260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情境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國文老師寫一首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探討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孤獨的新詩，感動許多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人。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7" name="K11-C7-B2">
            <a:extLst>
              <a:ext uri="{FF2B5EF4-FFF2-40B4-BE49-F238E27FC236}">
                <a16:creationId xmlns:a16="http://schemas.microsoft.com/office/drawing/2014/main" id="{EF1884A9-84F3-36F2-A625-B05116B8CC06}"/>
              </a:ext>
            </a:extLst>
          </p:cNvPr>
          <p:cNvSpPr txBox="1"/>
          <p:nvPr/>
        </p:nvSpPr>
        <p:spPr>
          <a:xfrm>
            <a:off x="922020" y="5003800"/>
            <a:ext cx="102260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非科學問題：文學有其價值，美感不以證偽</a:t>
            </a:r>
            <a:r>
              <a:rPr lang="zh-TW" altLang="en-US" sz="24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評定。</a:t>
            </a:r>
            <a:endParaRPr lang="zh-TW" altLang="en-US" sz="24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dur="1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dur="1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1"/>
      <p:bldP spid="13" grpId="2"/>
      <p:bldP spid="14" grpId="3"/>
      <p:bldP spid="15" grpId="4"/>
      <p:bldP spid="16" grpId="5"/>
      <p:bldP spid="17" grpId="6"/>
    </p:bldLst>
  </p:timing>
</p:sld>
</file>

<file path=ppt/slides/slide12.xml><?xml version="1.0" encoding="utf-8"?>
<p:sld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3931920"/>
          </a:xfrm>
          <a:prstGeom prst="roundRect">
            <a:avLst/>
          </a:prstGeom>
          <a:solidFill>
            <a:srgbClr val="E0EFF6"/>
          </a:solidFill>
          <a:ln w="19050">
            <a:solidFill>
              <a:srgbClr val="11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400"/>
              </a:spcAft>
              <a:defRPr sz="25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120640" cy="3931920"/>
          </a:xfrm>
          <a:prstGeom prst="roundRect">
            <a:avLst/>
          </a:prstGeom>
          <a:solidFill>
            <a:srgbClr val="E1EFD8"/>
          </a:solidFill>
          <a:ln w="19050">
            <a:solidFill>
              <a:srgbClr val="1E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400"/>
              </a:spcAft>
              <a:defRPr sz="2500" b="1">
                <a:solidFill>
                  <a:srgbClr val="1E7E34"/>
                </a:solidFill>
                <a:latin typeface="Microsoft JhengHei"/>
              </a:defRPr>
            </a:pPr>
            <a:endParaRPr/>
          </a:p>
        </p:txBody>
      </p:sp>
      <p:sp>
        <p:nvSpPr>
          <p:cNvPr id="6" name="K-header-label">
            <a:extLst>
              <a:ext uri="{FF2B5EF4-FFF2-40B4-BE49-F238E27FC236}">
                <a16:creationId xmlns:a16="http://schemas.microsoft.com/office/drawing/2014/main" id="{C6C947E7-E791-17E3-301C-274945BB1DDB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🛡 終局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工具交付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K-header-title">
            <a:extLst>
              <a:ext uri="{FF2B5EF4-FFF2-40B4-BE49-F238E27FC236}">
                <a16:creationId xmlns:a16="http://schemas.microsoft.com/office/drawing/2014/main" id="{B760E788-B48B-AAD8-CB94-5565D8FB0AAC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帶出教室的工具：科學偵測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雙稜鏡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K12-C4-B1">
            <a:extLst>
              <a:ext uri="{FF2B5EF4-FFF2-40B4-BE49-F238E27FC236}">
                <a16:creationId xmlns:a16="http://schemas.microsoft.com/office/drawing/2014/main" id="{1B4500DB-165A-64AC-B365-02DB694BB4B8}"/>
              </a:ext>
            </a:extLst>
          </p:cNvPr>
          <p:cNvSpPr txBox="1"/>
          <p:nvPr/>
        </p:nvSpPr>
        <p:spPr>
          <a:xfrm>
            <a:off x="934720" y="2174240"/>
            <a:ext cx="47142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第一</a:t>
            </a:r>
            <a:r>
              <a:rPr lang="zh-TW" altLang="en-US" sz="26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稜鏡 </a:t>
            </a:r>
            <a:r>
              <a:rPr lang="en-US" altLang="zh-TW" sz="26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6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波</a:t>
            </a:r>
            <a:r>
              <a:rPr lang="zh-TW" altLang="en-US" sz="2600" b="1" dirty="0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普爾</a:t>
            </a:r>
            <a:r>
              <a:rPr lang="zh-TW" altLang="en-US" sz="26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之問</a:t>
            </a:r>
            <a:endParaRPr lang="zh-TW" altLang="en-US" sz="2600" b="1" dirty="0">
              <a:solidFill>
                <a:srgbClr val="1155CC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12-C4-B2">
            <a:extLst>
              <a:ext uri="{FF2B5EF4-FFF2-40B4-BE49-F238E27FC236}">
                <a16:creationId xmlns:a16="http://schemas.microsoft.com/office/drawing/2014/main" id="{89785102-FEA4-6CA5-4BC4-D5D905724A8D}"/>
              </a:ext>
            </a:extLst>
          </p:cNvPr>
          <p:cNvSpPr txBox="1"/>
          <p:nvPr/>
        </p:nvSpPr>
        <p:spPr>
          <a:xfrm>
            <a:off x="934720" y="2694940"/>
            <a:ext cx="47142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檢查他人，也檢查自己的</a:t>
            </a:r>
            <a:r>
              <a:rPr lang="zh-TW" altLang="en-US" sz="24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主張。</a:t>
            </a:r>
            <a:endParaRPr lang="zh-TW" altLang="en-US" sz="24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12-C4-B3">
            <a:extLst>
              <a:ext uri="{FF2B5EF4-FFF2-40B4-BE49-F238E27FC236}">
                <a16:creationId xmlns:a16="http://schemas.microsoft.com/office/drawing/2014/main" id="{9C1CA6C6-0435-C7ED-E7AC-463038B2C867}"/>
              </a:ext>
            </a:extLst>
          </p:cNvPr>
          <p:cNvSpPr txBox="1"/>
          <p:nvPr/>
        </p:nvSpPr>
        <p:spPr>
          <a:xfrm>
            <a:off x="934720" y="3139440"/>
            <a:ext cx="471424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6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「什麼具體結果，會讓你承認這個主張需要修正</a:t>
            </a:r>
            <a:r>
              <a:rPr lang="zh-TW" altLang="en-US" sz="26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？」</a:t>
            </a:r>
            <a:endParaRPr lang="zh-TW" altLang="en-US" sz="26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12-C4-B4">
            <a:extLst>
              <a:ext uri="{FF2B5EF4-FFF2-40B4-BE49-F238E27FC236}">
                <a16:creationId xmlns:a16="http://schemas.microsoft.com/office/drawing/2014/main" id="{864EDF7D-988B-0980-8C34-13B405BD7A5B}"/>
              </a:ext>
            </a:extLst>
          </p:cNvPr>
          <p:cNvSpPr txBox="1"/>
          <p:nvPr/>
        </p:nvSpPr>
        <p:spPr>
          <a:xfrm>
            <a:off x="934720" y="4015740"/>
            <a:ext cx="4714240" cy="111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若答不清楚，先釐清主張</a:t>
            </a:r>
          </a:p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與檢驗條件；若持續迴避</a:t>
            </a:r>
          </a:p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反證，就須提高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警覺。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12-C5-B1">
            <a:extLst>
              <a:ext uri="{FF2B5EF4-FFF2-40B4-BE49-F238E27FC236}">
                <a16:creationId xmlns:a16="http://schemas.microsoft.com/office/drawing/2014/main" id="{4027FEAA-F366-1338-AE9B-E8039FF3EC18}"/>
              </a:ext>
            </a:extLst>
          </p:cNvPr>
          <p:cNvSpPr txBox="1"/>
          <p:nvPr/>
        </p:nvSpPr>
        <p:spPr>
          <a:xfrm>
            <a:off x="6421120" y="2364740"/>
            <a:ext cx="47142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第二</a:t>
            </a:r>
            <a:r>
              <a:rPr lang="zh-TW" altLang="en-US" sz="26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稜鏡 </a:t>
            </a:r>
            <a:r>
              <a:rPr lang="en-US" altLang="zh-TW" sz="26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6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費</a:t>
            </a:r>
            <a:r>
              <a:rPr lang="zh-TW" altLang="en-US" sz="2600" b="1" dirty="0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曼</a:t>
            </a:r>
            <a:r>
              <a:rPr lang="zh-TW" altLang="en-US" sz="26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之問</a:t>
            </a:r>
            <a:endParaRPr lang="zh-TW" altLang="en-US" sz="2600" b="1" dirty="0">
              <a:solidFill>
                <a:srgbClr val="1E7E34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12-C5-B2">
            <a:extLst>
              <a:ext uri="{FF2B5EF4-FFF2-40B4-BE49-F238E27FC236}">
                <a16:creationId xmlns:a16="http://schemas.microsoft.com/office/drawing/2014/main" id="{0E0EC61D-BB66-B606-1083-1186B3033213}"/>
              </a:ext>
            </a:extLst>
          </p:cNvPr>
          <p:cNvSpPr txBox="1"/>
          <p:nvPr/>
        </p:nvSpPr>
        <p:spPr>
          <a:xfrm>
            <a:off x="6421120" y="2885440"/>
            <a:ext cx="47142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檢查自己的資料與</a:t>
            </a:r>
            <a:r>
              <a:rPr lang="zh-TW" altLang="en-US" sz="24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解釋。</a:t>
            </a:r>
            <a:endParaRPr lang="zh-TW" altLang="en-US" sz="24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K12-C5-B3">
            <a:extLst>
              <a:ext uri="{FF2B5EF4-FFF2-40B4-BE49-F238E27FC236}">
                <a16:creationId xmlns:a16="http://schemas.microsoft.com/office/drawing/2014/main" id="{392160FE-F80B-EDD6-0264-06813B3CAAEB}"/>
              </a:ext>
            </a:extLst>
          </p:cNvPr>
          <p:cNvSpPr txBox="1"/>
          <p:nvPr/>
        </p:nvSpPr>
        <p:spPr>
          <a:xfrm>
            <a:off x="6421120" y="3329940"/>
            <a:ext cx="471424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600" b="1" dirty="0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「可能推翻假設的疑點，我有沒有老實交代</a:t>
            </a:r>
            <a:r>
              <a:rPr lang="zh-TW" altLang="en-US" sz="26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？」</a:t>
            </a:r>
            <a:endParaRPr lang="zh-TW" altLang="en-US" sz="2600" b="1" dirty="0">
              <a:solidFill>
                <a:srgbClr val="1E7E34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K12-C5-B4">
            <a:extLst>
              <a:ext uri="{FF2B5EF4-FFF2-40B4-BE49-F238E27FC236}">
                <a16:creationId xmlns:a16="http://schemas.microsoft.com/office/drawing/2014/main" id="{00ADBC4F-DAC9-FDC9-7A38-D34E40F1B069}"/>
              </a:ext>
            </a:extLst>
          </p:cNvPr>
          <p:cNvSpPr txBox="1"/>
          <p:nvPr/>
        </p:nvSpPr>
        <p:spPr>
          <a:xfrm>
            <a:off x="6421120" y="4206240"/>
            <a:ext cx="47142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主動公開限制、異常與其他解釋，是科學誠實的具體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作法。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dur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1"/>
      <p:bldP spid="12" grpId="2"/>
      <p:bldP spid="13" grpId="3"/>
      <p:bldP spid="14" grpId="4"/>
      <p:bldP spid="15" grpId="5"/>
    </p:bldLst>
  </p:timing>
</p:sld>
</file>

<file path=ppt/slides/slide13.xml><?xml version="1.0" encoding="utf-8"?>
<p:sld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07040" cy="1645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0607040" cy="292608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200"/>
              </a:spcAft>
              <a:defRPr sz="28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K13-C3-B1">
            <a:extLst>
              <a:ext uri="{FF2B5EF4-FFF2-40B4-BE49-F238E27FC236}">
                <a16:creationId xmlns:a16="http://schemas.microsoft.com/office/drawing/2014/main" id="{3AFB938F-3928-62DA-ED21-616AD5CF7129}"/>
              </a:ext>
            </a:extLst>
          </p:cNvPr>
          <p:cNvSpPr txBox="1"/>
          <p:nvPr/>
        </p:nvSpPr>
        <p:spPr>
          <a:xfrm>
            <a:off x="731520" y="802640"/>
            <a:ext cx="1060704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40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敬，敢於承認自己錯了</a:t>
            </a:r>
            <a:r>
              <a:rPr lang="zh-TW" altLang="en-US" sz="40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的人</a:t>
            </a:r>
            <a:endParaRPr lang="zh-TW" altLang="en-US" sz="40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K13-C3-B2">
            <a:extLst>
              <a:ext uri="{FF2B5EF4-FFF2-40B4-BE49-F238E27FC236}">
                <a16:creationId xmlns:a16="http://schemas.microsoft.com/office/drawing/2014/main" id="{984E0DBD-AF4E-0255-3DD6-39144B23C4B1}"/>
              </a:ext>
            </a:extLst>
          </p:cNvPr>
          <p:cNvSpPr txBox="1"/>
          <p:nvPr/>
        </p:nvSpPr>
        <p:spPr>
          <a:xfrm>
            <a:off x="731520" y="1488440"/>
            <a:ext cx="1060704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800" b="1" dirty="0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科學讓我們依據證據，勇敢修正自己的</a:t>
            </a:r>
            <a:r>
              <a:rPr lang="zh-TW" altLang="en-US" sz="28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想法。</a:t>
            </a:r>
            <a:endParaRPr lang="zh-TW" altLang="en-US" sz="2800" b="1" dirty="0">
              <a:solidFill>
                <a:srgbClr val="1155CC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K13-C4-B1">
            <a:extLst>
              <a:ext uri="{FF2B5EF4-FFF2-40B4-BE49-F238E27FC236}">
                <a16:creationId xmlns:a16="http://schemas.microsoft.com/office/drawing/2014/main" id="{5A719D1B-0AD8-12DC-38F3-4871A5AD11FC}"/>
              </a:ext>
            </a:extLst>
          </p:cNvPr>
          <p:cNvSpPr txBox="1"/>
          <p:nvPr/>
        </p:nvSpPr>
        <p:spPr>
          <a:xfrm>
            <a:off x="934720" y="2923540"/>
            <a:ext cx="1020064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8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摘下那副木頭耳機，別只期待形式帶來發現。</a:t>
            </a:r>
          </a:p>
          <a:p>
            <a:pPr algn="ctr"/>
            <a:r>
              <a:rPr lang="zh-TW" altLang="en-US" sz="28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嘉</a:t>
            </a:r>
            <a:r>
              <a:rPr lang="zh-TW" altLang="en-US" sz="28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 </a:t>
            </a:r>
            <a:r>
              <a:rPr lang="en-US" altLang="zh-TW" sz="28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201 </a:t>
            </a:r>
            <a:r>
              <a:rPr lang="zh-TW" altLang="en-US" sz="28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</a:t>
            </a:r>
            <a:r>
              <a:rPr lang="zh-TW" altLang="en-US" sz="28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每位同學，都能從誠實面對數據的瑕疵開始，</a:t>
            </a:r>
          </a:p>
          <a:p>
            <a:pPr algn="ctr"/>
            <a:r>
              <a:rPr lang="zh-TW" altLang="en-US" sz="28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一步一步走向真正的</a:t>
            </a:r>
            <a:r>
              <a:rPr lang="zh-TW" altLang="en-US" sz="28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理解。</a:t>
            </a:r>
            <a:endParaRPr lang="zh-TW" altLang="en-US" sz="28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K13-C4-B2">
            <a:extLst>
              <a:ext uri="{FF2B5EF4-FFF2-40B4-BE49-F238E27FC236}">
                <a16:creationId xmlns:a16="http://schemas.microsoft.com/office/drawing/2014/main" id="{B973A1D1-99E3-C300-5BD2-8BD0BD5EE43E}"/>
              </a:ext>
            </a:extLst>
          </p:cNvPr>
          <p:cNvSpPr txBox="1"/>
          <p:nvPr/>
        </p:nvSpPr>
        <p:spPr>
          <a:xfrm>
            <a:off x="934720" y="4371340"/>
            <a:ext cx="102006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4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祝探究與實作</a:t>
            </a:r>
            <a:r>
              <a:rPr lang="zh-TW" altLang="en-US" sz="24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順利 </a:t>
            </a:r>
            <a:r>
              <a:rPr lang="en-US" altLang="zh-TW" sz="24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Q &amp; A </a:t>
            </a:r>
            <a:r>
              <a:rPr lang="zh-TW" altLang="en-US" sz="24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討論時間</a:t>
            </a:r>
            <a:endParaRPr lang="zh-TW" altLang="en-US" sz="24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3499</Words>
  <Application>Microsoft Office PowerPoint</Application>
  <PresentationFormat>寬螢幕</PresentationFormat>
  <Paragraphs>301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8" baseType="lpstr">
      <vt:lpstr>Microsoft JhengHei</vt:lpstr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Chih_Wen Fan</cp:lastModifiedBy>
  <cp:revision>3</cp:revision>
  <dcterms:created xsi:type="dcterms:W3CDTF">2013-01-27T09:14:16Z</dcterms:created>
  <dcterms:modified xsi:type="dcterms:W3CDTF">2026-09-17T20:07:18Z</dcterms:modified>
  <cp:category/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1.0.151</vt:lpwstr>
  </op:property>
  <op:property fmtid="{D5CDD505-2E9C-101B-9397-08002B2CF9AE}" pid="3" name="OfficeCLI.LastModified">
    <vt:lpwstr xmlns:vt="http://schemas.openxmlformats.org/officeDocument/2006/docPropsVTypes">2026-09-17T20:08:01Z</vt:lpwstr>
  </op:property>
</op:Properties>
</file>