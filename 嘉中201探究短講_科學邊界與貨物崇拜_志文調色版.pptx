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EFD8"/>
    <a:srgbClr val="FFF2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4060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【開場破冰 · 1.5分鐘】</a:t>
            </a:r>
          </a:p>
          <a:p>
            <a:r>
              <a:t>各位 201 班同學好！做探究實作時，有圖表、有數據就是科學嗎？今天我們用 15 分鐘，揭開一場跨越 2000 年的真假科學冒險。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【Hook 衝突 · 2分鐘】</a:t>
            </a:r>
          </a:p>
          <a:p>
            <a:r>
              <a:t>請同學看大螢幕這兩個案例。左邊是名詞很高深的手環，右邊是為了分數修改數據的探究報告。誰是真正的科學？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【GPS 導航 · 1分鐘】</a:t>
            </a:r>
          </a:p>
          <a:p>
            <a:r>
              <a:t>帶領同學看清今天的學習路徑，從字源考古到波普爾之刀，再到費曼的照妖鏡與雙稜鏡武器。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【字源考古 · 2分鐘】</a:t>
            </a:r>
          </a:p>
          <a:p>
            <a:r>
              <a:t>說明科學是一套不斷演進的探索方法。亞里斯多德反對憑感覺主觀意見 Doxa；直到 1833 年才有 Scientist 這個詞。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【波普爾分界 · 2.5分鐘】</a:t>
            </a:r>
          </a:p>
          <a:p>
            <a:r>
              <a:t>核心是可證偽性。文學藝術是非科學，不可證偽但有價值；偽科學不可證偽卻假冒科學。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【黑天鵝實驗 · 1.5分鐘】</a:t>
            </a:r>
          </a:p>
          <a:p>
            <a:r>
              <a:t>歸納法的極限：你看了 100 萬隻白天鵝都不能證明理論絕對正確；但澳洲的 1 隻黑天鵝就能瞬間證偽！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【費曼貨物崇拜 · 2分鐘】</a:t>
            </a:r>
          </a:p>
          <a:p>
            <a:r>
              <a:t>島民蓋竹子塔台、戴木頭耳機，為什麼飛機不來？因為形式滿分，物理缺席！研究缺少誠實，也是貨物崇拜。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【密立根爬樓梯 · 2分鐘】</a:t>
            </a:r>
          </a:p>
          <a:p>
            <a:r>
              <a:t>密立根空氣黏滯度算小了，後面的科學家測出高數值卻不敢發表，自己找理由修低！費曼第一原則：絕不欺騙自己。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【探究現場照妖鏡 · 2分鐘】</a:t>
            </a:r>
          </a:p>
          <a:p>
            <a:r>
              <a:t>直擊高二探究痛點：偷刪離群值、先射箭再畫靶。真正的科學是誠實記錄異常、公開所有限制！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【科學光譜 · 1.5分鐘】</a:t>
            </a:r>
          </a:p>
          <a:p>
            <a:r>
              <a:t>從反科學到正統科學。像魏格納提出大陸漂移說，一開始被嘲笑是邊緣科學，但他提出地質證據，最終進入正統科學！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【課堂大挑戰 · 2分鐘】</a:t>
            </a:r>
          </a:p>
          <a:p>
            <a:r>
              <a:t>帶領全班搶答 4 道情境題，現場檢驗「波普爾之刀」的辨識力！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【雙稜鏡交付 · 1.5分鐘】</a:t>
            </a:r>
          </a:p>
          <a:p>
            <a:r>
              <a:t>下課前交給同學的隨身武器：波普爾之鏡照對手，費曼之鏡照自己。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【結語收束 · 1分鐘】</a:t>
            </a:r>
          </a:p>
          <a:p>
            <a:r>
              <a:t>祝嘉中 201 每位同學今年都能做一個誠實、敏銳、敢於修正自己的探究者。謝謝大家！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359317" cy="6858000"/>
          </a:xfrm>
          <a:prstGeom prst="rect">
            <a:avLst/>
          </a:prstGeom>
          <a:solidFill>
            <a:srgbClr val="E0E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0"/>
            <a:ext cx="12192000" cy="1371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222253" y="607154"/>
            <a:ext cx="591183" cy="591183"/>
          </a:xfrm>
          <a:prstGeom prst="rect">
            <a:avLst/>
          </a:prstGeom>
          <a:solidFill>
            <a:srgbClr val="E0E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29920" y="5257800"/>
            <a:ext cx="2326640" cy="457200"/>
          </a:xfrm>
          <a:prstGeom prst="rect">
            <a:avLst/>
          </a:prstGeom>
          <a:solidFill>
            <a:srgbClr val="E1E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C3052"/>
                </a:solidFill>
                <a:latin typeface="Times New Roman"/>
              </a:defRPr>
            </a:pPr>
            <a:r>
              <a:t>Inquiry &amp;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1155CC"/>
                </a:solidFill>
                <a:latin typeface="Microsoft JhengHei"/>
              </a:defRPr>
            </a:pPr>
            <a:r>
              <a:t>國立嘉義高中 201 班 · 自然科學探究與實作短講</a:t>
            </a:r>
          </a:p>
          <a:p>
            <a:pPr>
              <a:spcAft>
                <a:spcPts val="1200"/>
              </a:spcAft>
              <a:defRPr sz="4600" b="1">
                <a:solidFill>
                  <a:srgbClr val="1C3052"/>
                </a:solidFill>
                <a:latin typeface="Microsoft JhengHei"/>
              </a:defRPr>
            </a:pPr>
            <a:r>
              <a:t>木頭耳機能召喚飛機嗎？</a:t>
            </a:r>
          </a:p>
          <a:p>
            <a:pPr>
              <a:spcAft>
                <a:spcPts val="3600"/>
              </a:spcAft>
              <a:defRPr sz="2500">
                <a:solidFill>
                  <a:srgbClr val="212121"/>
                </a:solidFill>
                <a:latin typeface="Microsoft JhengHei"/>
              </a:defRPr>
            </a:pPr>
            <a:r>
              <a:t>探索科學的邊界：從亞里斯多德、波普爾到費曼的「貨物崇拜」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EA4335"/>
                </a:solidFill>
                <a:latin typeface="Microsoft JhengHei"/>
              </a:defRPr>
            </a:pPr>
            <a:r>
              <a:t>⚔️ 認知衝突</a:t>
            </a:r>
          </a:p>
          <a:p>
            <a:pPr>
              <a:defRPr sz="3600" b="1">
                <a:solidFill>
                  <a:srgbClr val="1C3052"/>
                </a:solidFill>
                <a:latin typeface="Microsoft JhengHei"/>
              </a:defRPr>
            </a:pPr>
            <a:r>
              <a:t>哪一個，才是真正的「科學」？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5120640" cy="393192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FFD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400"/>
              </a:spcAft>
              <a:defRPr sz="2600" b="1">
                <a:solidFill>
                  <a:srgbClr val="C5221F"/>
                </a:solidFill>
                <a:latin typeface="Microsoft JhengHei"/>
              </a:defRPr>
            </a:pPr>
            <a:r>
              <a:t>候選者 A：量子共振手環</a:t>
            </a:r>
          </a:p>
          <a:p>
            <a:pPr>
              <a:spcAft>
                <a:spcPts val="800"/>
              </a:spcAft>
              <a:defRPr sz="2300">
                <a:solidFill>
                  <a:srgbClr val="212121"/>
                </a:solidFill>
                <a:latin typeface="Microsoft JhengHei"/>
              </a:defRPr>
            </a:pPr>
            <a:r>
              <a:t>• 宣稱導入「次微米諧振頻率」</a:t>
            </a:r>
          </a:p>
          <a:p>
            <a:pPr>
              <a:spcAft>
                <a:spcPts val="800"/>
              </a:spcAft>
              <a:defRPr sz="2300">
                <a:solidFill>
                  <a:srgbClr val="212121"/>
                </a:solidFill>
                <a:latin typeface="Microsoft JhengHei"/>
              </a:defRPr>
            </a:pPr>
            <a:r>
              <a:t>• 附專利磁場圖譜、國際認證</a:t>
            </a:r>
          </a:p>
          <a:p>
            <a:pPr>
              <a:spcAft>
                <a:spcPts val="800"/>
              </a:spcAft>
              <a:defRPr sz="2300">
                <a:solidFill>
                  <a:srgbClr val="212121"/>
                </a:solidFill>
                <a:latin typeface="Microsoft JhengHei"/>
              </a:defRPr>
            </a:pPr>
            <a:r>
              <a:t>• 售價高達 NT$ 3,990 元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2500" b="1">
                <a:solidFill>
                  <a:srgbClr val="EA4335"/>
                </a:solidFill>
                <a:latin typeface="Microsoft JhengHei"/>
              </a:defRPr>
            </a:pPr>
            <a:r>
              <a:t>❌ 典型「偽科學」！</a:t>
            </a:r>
          </a:p>
          <a:p>
            <a:pPr>
              <a:defRPr sz="2200">
                <a:solidFill>
                  <a:srgbClr val="595959"/>
                </a:solidFill>
                <a:latin typeface="Microsoft JhengHei"/>
              </a:defRPr>
            </a:pPr>
            <a:r>
              <a:t>名詞高大上、永遠不可證偽。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91640"/>
            <a:ext cx="5120640" cy="3931920"/>
          </a:xfrm>
          <a:prstGeom prst="roundRect">
            <a:avLst/>
          </a:prstGeom>
          <a:solidFill>
            <a:srgbClr val="E0EFF6"/>
          </a:solidFill>
          <a:ln w="19050">
            <a:solidFill>
              <a:srgbClr val="1C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400"/>
              </a:spcAft>
              <a:defRPr sz="2600" b="1">
                <a:solidFill>
                  <a:srgbClr val="1C3052"/>
                </a:solidFill>
                <a:latin typeface="Microsoft JhengHei"/>
              </a:defRPr>
            </a:pPr>
            <a:r>
              <a:t>候選者 B：探究 A+ 滿分報告</a:t>
            </a:r>
          </a:p>
          <a:p>
            <a:pPr>
              <a:spcAft>
                <a:spcPts val="800"/>
              </a:spcAft>
              <a:defRPr sz="2300">
                <a:solidFill>
                  <a:srgbClr val="212121"/>
                </a:solidFill>
                <a:latin typeface="Microsoft JhengHei"/>
              </a:defRPr>
            </a:pPr>
            <a:r>
              <a:t>• 單擺週期與公式差了 0.4 秒</a:t>
            </a:r>
          </a:p>
          <a:p>
            <a:pPr>
              <a:spcAft>
                <a:spcPts val="800"/>
              </a:spcAft>
              <a:defRPr sz="2300">
                <a:solidFill>
                  <a:srgbClr val="212121"/>
                </a:solidFill>
                <a:latin typeface="Microsoft JhengHei"/>
              </a:defRPr>
            </a:pPr>
            <a:r>
              <a:t>• 怕被扣分，組員悄悄修改數據</a:t>
            </a:r>
          </a:p>
          <a:p>
            <a:pPr>
              <a:spcAft>
                <a:spcPts val="800"/>
              </a:spcAft>
              <a:defRPr sz="2300">
                <a:solidFill>
                  <a:srgbClr val="212121"/>
                </a:solidFill>
                <a:latin typeface="Microsoft JhengHei"/>
              </a:defRPr>
            </a:pPr>
            <a:r>
              <a:t>• 圖表超漂亮，拿下全班最高分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2500" b="1">
                <a:solidFill>
                  <a:srgbClr val="EA4335"/>
                </a:solidFill>
                <a:latin typeface="Microsoft JhengHei"/>
              </a:defRPr>
            </a:pPr>
            <a:r>
              <a:t>❌ 典型「貨物崇拜」！</a:t>
            </a:r>
          </a:p>
          <a:p>
            <a:pPr>
              <a:defRPr sz="2200">
                <a:solidFill>
                  <a:srgbClr val="595959"/>
                </a:solidFill>
                <a:latin typeface="Microsoft JhengHei"/>
              </a:defRPr>
            </a:pPr>
            <a:r>
              <a:t>外表完美複製，但丟了誠實與靈魂。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155CC"/>
                </a:solidFill>
                <a:latin typeface="Microsoft JhengHei"/>
              </a:defRPr>
            </a:pPr>
            <a:r>
              <a:t>🧭 雙 GPS 定位</a:t>
            </a:r>
          </a:p>
          <a:p>
            <a:pPr>
              <a:defRPr sz="3600" b="1">
                <a:solidFill>
                  <a:srgbClr val="1C3052"/>
                </a:solidFill>
                <a:latin typeface="Microsoft JhengHei"/>
              </a:defRPr>
            </a:pPr>
            <a:r>
              <a:t>今天短講的四個探案關卡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5120640" cy="1828800"/>
          </a:xfrm>
          <a:prstGeom prst="roundRect">
            <a:avLst/>
          </a:prstGeom>
          <a:solidFill>
            <a:srgbClr val="E0EFF6"/>
          </a:solidFill>
          <a:ln w="19050">
            <a:solidFill>
              <a:srgbClr val="1C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2400" b="1">
                <a:solidFill>
                  <a:srgbClr val="1C3052"/>
                </a:solidFill>
                <a:latin typeface="Microsoft JhengHei"/>
              </a:defRPr>
            </a:pPr>
            <a:r>
              <a:t>第一站 · 字源考古</a:t>
            </a:r>
          </a:p>
          <a:p>
            <a:pPr>
              <a:defRPr sz="2000">
                <a:solidFill>
                  <a:srgbClr val="212121"/>
                </a:solidFill>
                <a:latin typeface="Microsoft JhengHei"/>
              </a:defRPr>
            </a:pPr>
            <a:r>
              <a:t>亞里斯多德 Episteme ➔ 羅馬 Scientia ➔ 1833 休厄爾 Scientist ➔ 西周分科之學。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91640"/>
            <a:ext cx="5120640" cy="1828800"/>
          </a:xfrm>
          <a:prstGeom prst="roundRect">
            <a:avLst/>
          </a:prstGeom>
          <a:solidFill>
            <a:srgbClr val="E1EFD8"/>
          </a:solidFill>
          <a:ln w="19050">
            <a:solidFill>
              <a:srgbClr val="99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2400" b="1">
                <a:solidFill>
                  <a:srgbClr val="1C3052"/>
                </a:solidFill>
                <a:latin typeface="Microsoft JhengHei"/>
              </a:defRPr>
            </a:pPr>
            <a:r>
              <a:t>第二站 · 波普爾之刀</a:t>
            </a:r>
          </a:p>
          <a:p>
            <a:pPr>
              <a:defRPr sz="2000">
                <a:solidFill>
                  <a:srgbClr val="212121"/>
                </a:solidFill>
                <a:latin typeface="Microsoft JhengHei"/>
              </a:defRPr>
            </a:pPr>
            <a:r>
              <a:t>分界問題：可證偽性（Falsifiability）。敢冒被推翻風險的才是真正科學！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03320"/>
            <a:ext cx="5120640" cy="182880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FFD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2400" b="1">
                <a:solidFill>
                  <a:srgbClr val="1C3052"/>
                </a:solidFill>
                <a:latin typeface="Microsoft JhengHei"/>
              </a:defRPr>
            </a:pPr>
            <a:r>
              <a:t>第三站 · 費曼照妖鏡</a:t>
            </a:r>
          </a:p>
          <a:p>
            <a:pPr>
              <a:defRPr sz="2000">
                <a:solidFill>
                  <a:srgbClr val="212121"/>
                </a:solidFill>
                <a:latin typeface="Microsoft JhengHei"/>
              </a:defRPr>
            </a:pPr>
            <a:r>
              <a:t>貨物崇拜科學：荒島竹子跑道、密立根油滴爬樓梯、高二探究自欺痛點。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703320"/>
            <a:ext cx="5120640" cy="182880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11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2400" b="1">
                <a:solidFill>
                  <a:srgbClr val="1C3052"/>
                </a:solidFill>
                <a:latin typeface="Microsoft JhengHei"/>
              </a:defRPr>
            </a:pPr>
            <a:r>
              <a:t>第四站 · 實戰雙稜鏡</a:t>
            </a:r>
          </a:p>
          <a:p>
            <a:pPr>
              <a:defRPr sz="2000">
                <a:solidFill>
                  <a:srgbClr val="212121"/>
                </a:solidFill>
                <a:latin typeface="Microsoft JhengHei"/>
              </a:defRPr>
            </a:pPr>
            <a:r>
              <a:t>課堂破案大擂台！交付隨身武器：波普爾之鏡照對手，費曼之鏡照自己。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155CC"/>
                </a:solidFill>
                <a:latin typeface="Microsoft JhengHei"/>
              </a:defRPr>
            </a:pPr>
            <a:r>
              <a:t>🏛️ 第一站：字源考古</a:t>
            </a:r>
          </a:p>
          <a:p>
            <a:pPr>
              <a:defRPr sz="3600" b="1">
                <a:solidFill>
                  <a:srgbClr val="1C3052"/>
                </a:solidFill>
                <a:latin typeface="Microsoft JhengHei"/>
              </a:defRPr>
            </a:pPr>
            <a:r>
              <a:t>「科學」不是天上掉下來的演進史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10607040" cy="841248"/>
          </a:xfrm>
          <a:prstGeom prst="roundRect">
            <a:avLst/>
          </a:prstGeom>
          <a:solidFill>
            <a:srgbClr val="E0EFF6"/>
          </a:solidFill>
          <a:ln w="15240">
            <a:solidFill>
              <a:srgbClr val="1C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2200" b="1">
                <a:solidFill>
                  <a:srgbClr val="1C3052"/>
                </a:solidFill>
                <a:latin typeface="Microsoft JhengHei"/>
              </a:defRPr>
            </a:pPr>
            <a:r>
              <a:t>【西元前 4 世紀 · 希臘】 </a:t>
            </a:r>
            <a:r>
              <a:rPr sz="2200" b="0">
                <a:solidFill>
                  <a:srgbClr val="212121"/>
                </a:solidFill>
                <a:latin typeface="Microsoft JhengHei"/>
              </a:rPr>
              <a:t>亞里斯多德 Episteme（有系統的真知） vs Doxa（憑感覺的主觀意見）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51760"/>
            <a:ext cx="10607040" cy="841248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11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2200" b="1">
                <a:solidFill>
                  <a:srgbClr val="1155CC"/>
                </a:solidFill>
                <a:latin typeface="Microsoft JhengHei"/>
              </a:defRPr>
            </a:pPr>
            <a:r>
              <a:t>【西元前 1 世紀 · 羅馬】 </a:t>
            </a:r>
            <a:r>
              <a:rPr sz="2200" b="0">
                <a:solidFill>
                  <a:srgbClr val="212121"/>
                </a:solidFill>
                <a:latin typeface="Microsoft JhengHei"/>
              </a:rPr>
              <a:t>西塞羅翻譯為 Scientia（字根 scire：去知道、探求），泛指一切學問與技術體系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11880"/>
            <a:ext cx="10607040" cy="841248"/>
          </a:xfrm>
          <a:prstGeom prst="roundRect">
            <a:avLst/>
          </a:prstGeom>
          <a:solidFill>
            <a:srgbClr val="E1EFD8"/>
          </a:solidFill>
          <a:ln w="15240">
            <a:solidFill>
              <a:srgbClr val="1E7E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2200" b="1">
                <a:solidFill>
                  <a:srgbClr val="1E7E34"/>
                </a:solidFill>
                <a:latin typeface="Microsoft JhengHei"/>
              </a:defRPr>
            </a:pPr>
            <a:r>
              <a:t>【1833 年 · 英國】 </a:t>
            </a:r>
            <a:r>
              <a:rPr sz="2200" b="0">
                <a:solidFill>
                  <a:srgbClr val="212121"/>
                </a:solidFill>
                <a:latin typeface="Microsoft JhengHei"/>
              </a:rPr>
              <a:t>休厄爾首創 "Scientist"（科學家），科學正式專指實證的自然科學領域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10607040" cy="841248"/>
          </a:xfrm>
          <a:prstGeom prst="roundRect">
            <a:avLst/>
          </a:prstGeom>
          <a:solidFill>
            <a:srgbClr val="FFF2CC"/>
          </a:solidFill>
          <a:ln w="15240">
            <a:solidFill>
              <a:srgbClr val="FFD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2200" b="1">
                <a:solidFill>
                  <a:srgbClr val="FFD966"/>
                </a:solidFill>
                <a:latin typeface="Microsoft JhengHei"/>
              </a:defRPr>
            </a:pPr>
            <a:r>
              <a:t>【1874 年 · 東亞】 </a:t>
            </a:r>
            <a:r>
              <a:rPr sz="2200" b="0">
                <a:solidFill>
                  <a:srgbClr val="212121"/>
                </a:solidFill>
                <a:latin typeface="Microsoft JhengHei"/>
              </a:rPr>
              <a:t>日本西周翻譯為「科學」（分科之學），梁啟超引入成為五四運動的「賽先生」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155CC"/>
                </a:solidFill>
                <a:latin typeface="Microsoft JhengHei"/>
              </a:defRPr>
            </a:pPr>
            <a:r>
              <a:t>⚖️ 第二站：分界問題</a:t>
            </a:r>
          </a:p>
          <a:p>
            <a:pPr>
              <a:defRPr sz="3600" b="1">
                <a:solidFill>
                  <a:srgbClr val="1C3052"/>
                </a:solidFill>
                <a:latin typeface="Microsoft JhengHei"/>
              </a:defRPr>
            </a:pPr>
            <a:r>
              <a:t>波普爾之刀：科學 vs 非科學 vs 偽科學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3383280" cy="3931920"/>
          </a:xfrm>
          <a:prstGeom prst="roundRect">
            <a:avLst/>
          </a:prstGeom>
          <a:solidFill>
            <a:srgbClr val="E1EFD8"/>
          </a:solidFill>
          <a:ln w="19050">
            <a:solidFill>
              <a:srgbClr val="99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400"/>
              </a:spcAft>
              <a:defRPr sz="2500" b="1">
                <a:solidFill>
                  <a:srgbClr val="1E7E34"/>
                </a:solidFill>
                <a:latin typeface="Microsoft JhengHei"/>
              </a:defRPr>
            </a:pPr>
            <a:r>
              <a:t>科學 (Science)</a:t>
            </a:r>
          </a:p>
          <a:p>
            <a:pPr>
              <a:spcAft>
                <a:spcPts val="1400"/>
              </a:spcAft>
              <a:defRPr sz="1900" b="1">
                <a:solidFill>
                  <a:srgbClr val="1C3052"/>
                </a:solidFill>
                <a:latin typeface="Microsoft JhengHei"/>
              </a:defRPr>
            </a:pPr>
            <a:r>
              <a:t>可證偽性 (Falsifiability)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Microsoft JhengHei"/>
              </a:defRPr>
            </a:pPr>
            <a:r>
              <a:t>• 敢於冒著被證明是錯的風險！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Microsoft JhengHei"/>
              </a:defRPr>
            </a:pPr>
            <a:r>
              <a:t>• 愛因斯坦：日全蝕光線若未彎曲，我認輸！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Microsoft JhengHei"/>
              </a:defRPr>
            </a:pPr>
            <a:r>
              <a:t>• 隨時準備接受客觀檢驗與推翻。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91640"/>
            <a:ext cx="3383280" cy="393192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400"/>
              </a:spcAft>
              <a:defRPr sz="2500" b="1">
                <a:solidFill>
                  <a:srgbClr val="595959"/>
                </a:solidFill>
                <a:latin typeface="Microsoft JhengHei"/>
              </a:defRPr>
            </a:pPr>
            <a:r>
              <a:t>非科學 (Non-science)</a:t>
            </a:r>
          </a:p>
          <a:p>
            <a:pPr>
              <a:spcAft>
                <a:spcPts val="1400"/>
              </a:spcAft>
              <a:defRPr sz="1900" b="1">
                <a:solidFill>
                  <a:srgbClr val="1C3052"/>
                </a:solidFill>
                <a:latin typeface="Microsoft JhengHei"/>
              </a:defRPr>
            </a:pPr>
            <a:r>
              <a:t>無意偽裝的領域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Microsoft JhengHei"/>
              </a:defRPr>
            </a:pPr>
            <a:r>
              <a:t>• 文學、藝術、哲學、宗教信仰。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Microsoft JhengHei"/>
              </a:defRPr>
            </a:pPr>
            <a:r>
              <a:t>• 無法做實驗證明「這首詩美不美」。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Microsoft JhengHei"/>
              </a:defRPr>
            </a:pPr>
            <a:r>
              <a:t>• 具備無可替代的人文價值，不需強求符合科學。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91640"/>
            <a:ext cx="3383280" cy="393192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FFD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400"/>
              </a:spcAft>
              <a:defRPr sz="2500" b="1">
                <a:solidFill>
                  <a:srgbClr val="C5221F"/>
                </a:solidFill>
                <a:latin typeface="Microsoft JhengHei"/>
              </a:defRPr>
            </a:pPr>
            <a:r>
              <a:t>偽科學 (Pseudoscience)</a:t>
            </a:r>
          </a:p>
          <a:p>
            <a:pPr>
              <a:spcAft>
                <a:spcPts val="1400"/>
              </a:spcAft>
              <a:defRPr sz="1900" b="1">
                <a:solidFill>
                  <a:srgbClr val="1C3052"/>
                </a:solidFill>
                <a:latin typeface="Microsoft JhengHei"/>
              </a:defRPr>
            </a:pPr>
            <a:r>
              <a:t>披著羊皮的狼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Microsoft JhengHei"/>
              </a:defRPr>
            </a:pPr>
            <a:r>
              <a:t>• 明明不可證偽，卻宣稱符合最新科學！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Microsoft JhengHei"/>
              </a:defRPr>
            </a:pPr>
            <a:r>
              <a:t>• 算命占星：準了是大師神，不準是水逆干擾。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Microsoft JhengHei"/>
              </a:defRPr>
            </a:pPr>
            <a:r>
              <a:t>• 永遠立於不敗之地 ＝ 永遠不是科學！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155CC"/>
                </a:solidFill>
                <a:latin typeface="Microsoft JhengHei"/>
              </a:defRPr>
            </a:pPr>
            <a:r>
              <a:t>🦢 關鍵思維實驗</a:t>
            </a:r>
          </a:p>
          <a:p>
            <a:pPr>
              <a:defRPr sz="3600" b="1">
                <a:solidFill>
                  <a:srgbClr val="1C3052"/>
                </a:solidFill>
                <a:latin typeface="Microsoft JhengHei"/>
              </a:defRPr>
            </a:pPr>
            <a:r>
              <a:t>一萬隻白天鵝，能證明「全天下天鵝皆白」嗎？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10607040" cy="2468880"/>
          </a:xfrm>
          <a:prstGeom prst="roundRect">
            <a:avLst/>
          </a:prstGeom>
          <a:solidFill>
            <a:srgbClr val="E0EFF6"/>
          </a:solidFill>
          <a:ln w="19050">
            <a:solidFill>
              <a:srgbClr val="1C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200"/>
              </a:spcAft>
              <a:defRPr sz="2600" b="1">
                <a:solidFill>
                  <a:srgbClr val="1C3052"/>
                </a:solidFill>
                <a:latin typeface="Microsoft JhengHei"/>
              </a:defRPr>
            </a:pPr>
            <a:r>
              <a:t>💥 歸納法的致命死穴與一擊必殺</a:t>
            </a:r>
          </a:p>
          <a:p>
            <a:pPr>
              <a:defRPr sz="2300">
                <a:solidFill>
                  <a:srgbClr val="212121"/>
                </a:solidFill>
                <a:latin typeface="Microsoft JhengHei"/>
              </a:defRPr>
            </a:pPr>
            <a:r>
              <a:t>• 你在歐洲觀測了 1,000 隻、10,000 隻、1,000,000 隻白天鵝...</a:t>
            </a:r>
          </a:p>
          <a:p>
            <a:pPr>
              <a:spcAft>
                <a:spcPts val="800"/>
              </a:spcAft>
              <a:defRPr sz="2200">
                <a:solidFill>
                  <a:srgbClr val="595959"/>
                </a:solidFill>
                <a:latin typeface="Microsoft JhengHei"/>
              </a:defRPr>
            </a:pPr>
            <a:r>
              <a:t>   ➔ 你只能說「目前為止都是白的」，但永遠無法證明「世界上沒有其他顏色」。</a:t>
            </a:r>
          </a:p>
          <a:p>
            <a:pPr>
              <a:defRPr sz="2300" b="1">
                <a:solidFill>
                  <a:srgbClr val="EA4335"/>
                </a:solidFill>
                <a:latin typeface="Microsoft JhengHei"/>
              </a:defRPr>
            </a:pPr>
            <a:r>
              <a:t>• 然而，只要在澳洲發現【1 隻黑天鵝】——</a:t>
            </a:r>
          </a:p>
          <a:p>
            <a:pPr>
              <a:defRPr sz="2200" b="1">
                <a:solidFill>
                  <a:srgbClr val="C5221F"/>
                </a:solidFill>
                <a:latin typeface="Microsoft JhengHei"/>
              </a:defRPr>
            </a:pPr>
            <a:r>
              <a:t>   ➔ 累積千百年的美麗假說，在 0.1 秒內瞬間粉碎！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343400"/>
            <a:ext cx="10607040" cy="128016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FFD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400"/>
              </a:spcAft>
              <a:defRPr sz="2400" b="1">
                <a:solidFill>
                  <a:srgbClr val="1C3052"/>
                </a:solidFill>
                <a:latin typeface="Microsoft JhengHei"/>
              </a:defRPr>
            </a:pPr>
            <a:r>
              <a:t>💡 波普爾洞見：</a:t>
            </a:r>
          </a:p>
          <a:p>
            <a:pPr>
              <a:defRPr sz="2500" b="1">
                <a:solidFill>
                  <a:srgbClr val="C5221F"/>
                </a:solidFill>
                <a:latin typeface="Microsoft JhengHei"/>
              </a:defRPr>
            </a:pPr>
            <a:r>
              <a:t>科學理論永遠不可能被「完全證實」，它只能被「暫時未被推翻」！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155CC"/>
                </a:solidFill>
                <a:latin typeface="Microsoft JhengHei"/>
              </a:defRPr>
            </a:pPr>
            <a:r>
              <a:t>✈️ 第三站：費曼照妖鏡</a:t>
            </a:r>
          </a:p>
          <a:p>
            <a:pPr>
              <a:defRPr sz="3600" b="1">
                <a:solidFill>
                  <a:srgbClr val="1C3052"/>
                </a:solidFill>
                <a:latin typeface="Microsoft JhengHei"/>
              </a:defRPr>
            </a:pPr>
            <a:r>
              <a:t>費曼 1974 傳奇演說：貨物崇拜科學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5120640" cy="3931920"/>
          </a:xfrm>
          <a:prstGeom prst="roundRect">
            <a:avLst/>
          </a:prstGeom>
          <a:solidFill>
            <a:srgbClr val="E0EFF6"/>
          </a:solidFill>
          <a:ln w="19050">
            <a:solidFill>
              <a:srgbClr val="1C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200"/>
              </a:spcAft>
              <a:defRPr sz="2600" b="1">
                <a:solidFill>
                  <a:srgbClr val="1C3052"/>
                </a:solidFill>
                <a:latin typeface="Microsoft JhengHei"/>
              </a:defRPr>
            </a:pPr>
            <a:r>
              <a:t>🏝️ 南太平洋荒島儀式</a:t>
            </a:r>
          </a:p>
          <a:p>
            <a:pPr>
              <a:spcAft>
                <a:spcPts val="600"/>
              </a:spcAft>
              <a:defRPr sz="2200">
                <a:solidFill>
                  <a:srgbClr val="212121"/>
                </a:solidFill>
                <a:latin typeface="Microsoft JhengHei"/>
              </a:defRPr>
            </a:pPr>
            <a:r>
              <a:t>• 二戰美軍降落小島帶來大量物資</a:t>
            </a:r>
          </a:p>
          <a:p>
            <a:pPr>
              <a:spcAft>
                <a:spcPts val="600"/>
              </a:spcAft>
              <a:defRPr sz="2200">
                <a:solidFill>
                  <a:srgbClr val="212121"/>
                </a:solidFill>
                <a:latin typeface="Microsoft JhengHei"/>
              </a:defRPr>
            </a:pPr>
            <a:r>
              <a:t>• 戰後美軍離開，物資徹底中斷</a:t>
            </a:r>
          </a:p>
          <a:p>
            <a:pPr>
              <a:spcAft>
                <a:spcPts val="600"/>
              </a:spcAft>
              <a:defRPr sz="2200">
                <a:solidFill>
                  <a:srgbClr val="212121"/>
                </a:solidFill>
                <a:latin typeface="Microsoft JhengHei"/>
              </a:defRPr>
            </a:pPr>
            <a:r>
              <a:t>• 島民用泥土開闢跑道、生起篝火</a:t>
            </a:r>
          </a:p>
          <a:p>
            <a:pPr>
              <a:spcAft>
                <a:spcPts val="600"/>
              </a:spcAft>
              <a:defRPr sz="2200">
                <a:solidFill>
                  <a:srgbClr val="212121"/>
                </a:solidFill>
                <a:latin typeface="Microsoft JhengHei"/>
              </a:defRPr>
            </a:pPr>
            <a:r>
              <a:t>• 用竹子蓋塔台、戴原木雕刻耳機</a:t>
            </a:r>
          </a:p>
          <a:p>
            <a:pPr>
              <a:spcAft>
                <a:spcPts val="600"/>
              </a:spcAft>
              <a:defRPr sz="2200">
                <a:solidFill>
                  <a:srgbClr val="212121"/>
                </a:solidFill>
                <a:latin typeface="Microsoft JhengHei"/>
              </a:defRPr>
            </a:pPr>
            <a:r>
              <a:t>• 虔誠祈禱，深信飛機會再次降落</a:t>
            </a:r>
          </a:p>
          <a:p>
            <a:pPr>
              <a:spcBef>
                <a:spcPts val="800"/>
              </a:spcBef>
              <a:defRPr sz="2400" b="1">
                <a:solidFill>
                  <a:srgbClr val="EA4335"/>
                </a:solidFill>
                <a:latin typeface="Microsoft JhengHei"/>
              </a:defRPr>
            </a:pPr>
            <a:r>
              <a:t>👉 結果：飛機永遠沒有再來！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91640"/>
            <a:ext cx="5242560" cy="393192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FFD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000"/>
              </a:spcAft>
              <a:defRPr sz="2600" b="1">
                <a:solidFill>
                  <a:srgbClr val="C5221F"/>
                </a:solidFill>
                <a:latin typeface="Microsoft JhengHei"/>
              </a:defRPr>
            </a:pPr>
            <a:r>
              <a:rPr dirty="0"/>
              <a:t>🪵 </a:t>
            </a:r>
            <a:r>
              <a:rPr dirty="0" err="1"/>
              <a:t>費曼的辛辣批判</a:t>
            </a:r>
            <a:endParaRPr dirty="0"/>
          </a:p>
          <a:p>
            <a:pPr>
              <a:spcAft>
                <a:spcPts val="1000"/>
              </a:spcAft>
              <a:defRPr sz="2200" b="1">
                <a:solidFill>
                  <a:srgbClr val="1C3052"/>
                </a:solidFill>
                <a:latin typeface="Microsoft JhengHei"/>
              </a:defRPr>
            </a:pPr>
            <a:r>
              <a:rPr dirty="0" err="1"/>
              <a:t>許多實驗報告與專案，就像那副木頭耳機</a:t>
            </a:r>
            <a:r>
              <a:rPr dirty="0"/>
              <a:t>！</a:t>
            </a:r>
          </a:p>
          <a:p>
            <a:pPr>
              <a:spcAft>
                <a:spcPts val="600"/>
              </a:spcAft>
              <a:defRPr sz="2200">
                <a:solidFill>
                  <a:srgbClr val="212121"/>
                </a:solidFill>
                <a:latin typeface="Microsoft JhengHei"/>
              </a:defRPr>
            </a:pPr>
            <a:r>
              <a:rPr dirty="0"/>
              <a:t>• </a:t>
            </a:r>
            <a:r>
              <a:rPr dirty="0" err="1"/>
              <a:t>實驗步驟很完整、統計圖表很炫砲</a:t>
            </a:r>
            <a:endParaRPr dirty="0"/>
          </a:p>
          <a:p>
            <a:pPr>
              <a:spcAft>
                <a:spcPts val="600"/>
              </a:spcAft>
              <a:defRPr sz="2200">
                <a:solidFill>
                  <a:srgbClr val="212121"/>
                </a:solidFill>
                <a:latin typeface="Microsoft JhengHei"/>
              </a:defRPr>
            </a:pPr>
            <a:r>
              <a:rPr dirty="0"/>
              <a:t>• </a:t>
            </a:r>
            <a:r>
              <a:rPr dirty="0" err="1"/>
              <a:t>引用大量權威論文與高深專有名詞</a:t>
            </a:r>
            <a:endParaRPr dirty="0"/>
          </a:p>
          <a:p>
            <a:pPr>
              <a:spcAft>
                <a:spcPts val="600"/>
              </a:spcAft>
              <a:defRPr sz="2200">
                <a:solidFill>
                  <a:srgbClr val="212121"/>
                </a:solidFill>
                <a:latin typeface="Microsoft JhengHei"/>
              </a:defRPr>
            </a:pPr>
            <a:r>
              <a:rPr dirty="0"/>
              <a:t>• </a:t>
            </a:r>
            <a:r>
              <a:rPr dirty="0" err="1"/>
              <a:t>表面外觀形式做足了</a:t>
            </a:r>
            <a:r>
              <a:rPr dirty="0"/>
              <a:t> 100 分</a:t>
            </a:r>
            <a:endParaRPr lang="en-US" dirty="0"/>
          </a:p>
          <a:p>
            <a:pPr>
              <a:spcBef>
                <a:spcPts val="1000"/>
              </a:spcBef>
              <a:defRPr sz="2400" b="1">
                <a:solidFill>
                  <a:srgbClr val="C5221F"/>
                </a:solidFill>
                <a:latin typeface="Microsoft JhengHei"/>
              </a:defRPr>
            </a:pPr>
            <a:r>
              <a:rPr lang="zh-TW" altLang="en-US" dirty="0">
                <a:solidFill>
                  <a:srgbClr val="FFF2CC"/>
                </a:solidFill>
              </a:rPr>
              <a:t>底層卻徹底喪失了</a:t>
            </a:r>
            <a:r>
              <a:rPr lang="en-US" altLang="zh-TW" dirty="0">
                <a:solidFill>
                  <a:srgbClr val="FFF2CC"/>
                </a:solidFill>
              </a:rPr>
              <a:t>【</a:t>
            </a:r>
            <a:r>
              <a:rPr lang="zh-TW" altLang="en-US" dirty="0">
                <a:solidFill>
                  <a:srgbClr val="FFF2CC"/>
                </a:solidFill>
              </a:rPr>
              <a:t>科學誠實</a:t>
            </a:r>
            <a:r>
              <a:rPr lang="en-US" altLang="zh-TW" dirty="0">
                <a:solidFill>
                  <a:srgbClr val="FFF2CC"/>
                </a:solidFill>
              </a:rPr>
              <a:t>】</a:t>
            </a:r>
            <a:r>
              <a:rPr lang="zh-TW" altLang="en-US" dirty="0">
                <a:solidFill>
                  <a:srgbClr val="FFF2CC"/>
                </a:solidFill>
              </a:rPr>
              <a:t>！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4875678-6513-6D6A-63C5-1B54E07470E7}"/>
              </a:ext>
            </a:extLst>
          </p:cNvPr>
          <p:cNvSpPr txBox="1"/>
          <p:nvPr/>
        </p:nvSpPr>
        <p:spPr>
          <a:xfrm>
            <a:off x="6316243" y="4704695"/>
            <a:ext cx="61451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400" b="1">
                <a:solidFill>
                  <a:srgbClr val="C5221F"/>
                </a:solidFill>
                <a:latin typeface="Microsoft JhengHei"/>
              </a:defRPr>
            </a:pPr>
            <a:r>
              <a:rPr lang="zh-TW" altLang="en-US" dirty="0"/>
              <a:t>⚠️ 底層卻徹底喪失了</a:t>
            </a:r>
            <a:r>
              <a:rPr lang="en-US" altLang="zh-TW" dirty="0"/>
              <a:t>【</a:t>
            </a:r>
            <a:r>
              <a:rPr lang="zh-TW" altLang="en-US" dirty="0"/>
              <a:t>科學誠實</a:t>
            </a:r>
            <a:r>
              <a:rPr lang="en-US" altLang="zh-TW" dirty="0"/>
              <a:t>】</a:t>
            </a:r>
            <a:r>
              <a:rPr lang="zh-TW" altLang="en-US" dirty="0"/>
              <a:t>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155CC"/>
                </a:solidFill>
                <a:latin typeface="Microsoft JhengHei"/>
              </a:defRPr>
            </a:pPr>
            <a:r>
              <a:t>📉 科學史最酸故事</a:t>
            </a:r>
          </a:p>
          <a:p>
            <a:pPr>
              <a:defRPr sz="3600" b="1">
                <a:solidFill>
                  <a:srgbClr val="1C3052"/>
                </a:solidFill>
                <a:latin typeface="Microsoft JhengHei"/>
              </a:defRPr>
            </a:pPr>
            <a:r>
              <a:t>密立根油滴實驗：連大科學家都會集體自欺！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10607040" cy="256032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FFD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000"/>
              </a:spcAft>
              <a:defRPr sz="2600" b="1">
                <a:solidFill>
                  <a:srgbClr val="1C3052"/>
                </a:solidFill>
                <a:latin typeface="Microsoft JhengHei"/>
              </a:defRPr>
            </a:pPr>
            <a:r>
              <a:t>長達 25 年的「爬樓梯」集體自我欺騙</a:t>
            </a:r>
          </a:p>
          <a:p>
            <a:pPr>
              <a:spcAft>
                <a:spcPts val="400"/>
              </a:spcAft>
              <a:defRPr sz="2200">
                <a:solidFill>
                  <a:srgbClr val="212121"/>
                </a:solidFill>
                <a:latin typeface="Microsoft JhengHei"/>
              </a:defRPr>
            </a:pPr>
            <a:r>
              <a:t>• 密立根測量電子電荷 e，因空氣黏滯係數基準偏低，數值稍微偏小。</a:t>
            </a:r>
          </a:p>
          <a:p>
            <a:pPr>
              <a:defRPr sz="2200" b="1">
                <a:solidFill>
                  <a:srgbClr val="1C3052"/>
                </a:solidFill>
                <a:latin typeface="Microsoft JhengHei"/>
              </a:defRPr>
            </a:pPr>
            <a:r>
              <a:t>• 後續科學家重複實驗：</a:t>
            </a:r>
          </a:p>
          <a:p>
            <a:pPr>
              <a:defRPr sz="2100">
                <a:solidFill>
                  <a:srgbClr val="EA4335"/>
                </a:solidFill>
                <a:latin typeface="Microsoft JhengHei"/>
              </a:defRPr>
            </a:pPr>
            <a:r>
              <a:t>   - 測出太高？➔「密立根是大師，肯定是我儀器量錯！」➔ 找藉口把數據修低。</a:t>
            </a:r>
          </a:p>
          <a:p>
            <a:pPr>
              <a:defRPr sz="2100">
                <a:solidFill>
                  <a:srgbClr val="1E7E34"/>
                </a:solidFill>
                <a:latin typeface="Microsoft JhengHei"/>
              </a:defRPr>
            </a:pPr>
            <a:r>
              <a:t>   - 測出相近？➔「太棒了，我做對了！」➔ 滿意發表。</a:t>
            </a:r>
          </a:p>
          <a:p>
            <a:pPr>
              <a:spcBef>
                <a:spcPts val="400"/>
              </a:spcBef>
              <a:defRPr sz="2200" b="1">
                <a:solidFill>
                  <a:srgbClr val="212121"/>
                </a:solidFill>
                <a:latin typeface="Microsoft JhengHei"/>
              </a:defRPr>
            </a:pPr>
            <a:r>
              <a:t>• 結果：數值花了整整 25 年，才一點一滴「爬」到現代真實值！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434840"/>
            <a:ext cx="10607040" cy="1234440"/>
          </a:xfrm>
          <a:prstGeom prst="roundRect">
            <a:avLst/>
          </a:prstGeom>
          <a:solidFill>
            <a:srgbClr val="E1EFD8"/>
          </a:solidFill>
          <a:ln w="19050">
            <a:solidFill>
              <a:srgbClr val="99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400"/>
              </a:spcAft>
              <a:defRPr sz="2300" b="1">
                <a:solidFill>
                  <a:srgbClr val="1E7E34"/>
                </a:solidFill>
                <a:latin typeface="Microsoft JhengHei"/>
              </a:defRPr>
            </a:pPr>
            <a:r>
              <a:t>🔥 費曼第一原則 (Feynman's First Principle)：</a:t>
            </a:r>
          </a:p>
          <a:p>
            <a:pPr>
              <a:defRPr sz="2500" b="1">
                <a:solidFill>
                  <a:srgbClr val="1C3052"/>
                </a:solidFill>
                <a:latin typeface="Microsoft JhengHei"/>
              </a:defRPr>
            </a:pPr>
            <a:r>
              <a:t>「第一原則是你絕不能欺騙自己，而你自己就是最容易被欺騙的人！」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EA4335"/>
                </a:solidFill>
                <a:latin typeface="Microsoft JhengHei"/>
              </a:defRPr>
            </a:pPr>
            <a:r>
              <a:t>🎯 痛擊探究現場</a:t>
            </a:r>
          </a:p>
          <a:p>
            <a:pPr>
              <a:defRPr sz="3600" b="1">
                <a:solidFill>
                  <a:srgbClr val="1C3052"/>
                </a:solidFill>
                <a:latin typeface="Microsoft JhengHei"/>
              </a:defRPr>
            </a:pPr>
            <a:r>
              <a:t>嘉中 201 探究實作自檢：你戴上木頭耳機了嗎？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5120640" cy="393192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FFD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400"/>
              </a:spcAft>
              <a:defRPr sz="2600" b="1">
                <a:solidFill>
                  <a:srgbClr val="C5221F"/>
                </a:solidFill>
                <a:latin typeface="Microsoft JhengHei"/>
              </a:defRPr>
            </a:pPr>
            <a:r>
              <a:t>❌ 貨物崇拜（假科學惡習）</a:t>
            </a:r>
          </a:p>
          <a:p>
            <a:pPr>
              <a:spcAft>
                <a:spcPts val="1000"/>
              </a:spcAft>
              <a:defRPr sz="2200">
                <a:solidFill>
                  <a:srgbClr val="212121"/>
                </a:solidFill>
                <a:latin typeface="Microsoft JhengHei"/>
              </a:defRPr>
            </a:pPr>
            <a:r>
              <a:t>• 偷刪離群值：數據不漂亮直接 Delete</a:t>
            </a:r>
          </a:p>
          <a:p>
            <a:pPr>
              <a:spcAft>
                <a:spcPts val="1000"/>
              </a:spcAft>
              <a:defRPr sz="2200">
                <a:solidFill>
                  <a:srgbClr val="212121"/>
                </a:solidFill>
                <a:latin typeface="Microsoft JhengHei"/>
              </a:defRPr>
            </a:pPr>
            <a:r>
              <a:t>• 先射箭再畫靶：硬湊課本公式結論</a:t>
            </a:r>
          </a:p>
          <a:p>
            <a:pPr>
              <a:spcAft>
                <a:spcPts val="1000"/>
              </a:spcAft>
              <a:defRPr sz="2200">
                <a:solidFill>
                  <a:srgbClr val="212121"/>
                </a:solidFill>
                <a:latin typeface="Microsoft JhengHei"/>
              </a:defRPr>
            </a:pPr>
            <a:r>
              <a:t>• 隱匿失敗：只放成功的 2 次，隱瞞失敗的 8 次</a:t>
            </a:r>
          </a:p>
          <a:p>
            <a:pPr>
              <a:spcAft>
                <a:spcPts val="1000"/>
              </a:spcAft>
              <a:defRPr sz="2200">
                <a:solidFill>
                  <a:srgbClr val="212121"/>
                </a:solidFill>
                <a:latin typeface="Microsoft JhengHei"/>
              </a:defRPr>
            </a:pPr>
            <a:r>
              <a:t>• 把排版當科學：圖表美觀但物理意義空白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91640"/>
            <a:ext cx="5120640" cy="3931920"/>
          </a:xfrm>
          <a:prstGeom prst="roundRect">
            <a:avLst/>
          </a:prstGeom>
          <a:solidFill>
            <a:srgbClr val="E1EFD8"/>
          </a:solidFill>
          <a:ln w="19050">
            <a:solidFill>
              <a:srgbClr val="99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400"/>
              </a:spcAft>
              <a:defRPr sz="2600" b="1">
                <a:solidFill>
                  <a:srgbClr val="1E7E34"/>
                </a:solidFill>
                <a:latin typeface="Microsoft JhengHei"/>
              </a:defRPr>
            </a:pPr>
            <a:r>
              <a:rPr dirty="0" err="1">
                <a:solidFill>
                  <a:srgbClr val="E1EFD8"/>
                </a:solidFill>
              </a:rPr>
              <a:t>正統探究（科學誠實姿態</a:t>
            </a:r>
            <a:r>
              <a:rPr dirty="0">
                <a:solidFill>
                  <a:srgbClr val="E1EFD8"/>
                </a:solidFill>
              </a:rPr>
              <a:t>）</a:t>
            </a:r>
            <a:r>
              <a:rPr lang="en-US" altLang="zh-TW" dirty="0">
                <a:solidFill>
                  <a:srgbClr val="E1EFD8"/>
                </a:solidFill>
              </a:rPr>
              <a:t>))</a:t>
            </a:r>
            <a:endParaRPr dirty="0">
              <a:solidFill>
                <a:srgbClr val="E1EFD8"/>
              </a:solidFill>
            </a:endParaRPr>
          </a:p>
          <a:p>
            <a:pPr>
              <a:spcAft>
                <a:spcPts val="1000"/>
              </a:spcAft>
              <a:defRPr sz="2200">
                <a:solidFill>
                  <a:srgbClr val="212121"/>
                </a:solidFill>
                <a:latin typeface="Microsoft JhengHei"/>
              </a:defRPr>
            </a:pPr>
            <a:r>
              <a:rPr dirty="0"/>
              <a:t>• </a:t>
            </a:r>
            <a:r>
              <a:rPr dirty="0" err="1"/>
              <a:t>保留異常：離群點往往隱藏未控制的關鍵變因</a:t>
            </a:r>
            <a:r>
              <a:rPr dirty="0"/>
              <a:t>！</a:t>
            </a:r>
          </a:p>
          <a:p>
            <a:pPr>
              <a:spcAft>
                <a:spcPts val="1000"/>
              </a:spcAft>
              <a:defRPr sz="2200">
                <a:solidFill>
                  <a:srgbClr val="212121"/>
                </a:solidFill>
                <a:latin typeface="Microsoft JhengHei"/>
              </a:defRPr>
            </a:pPr>
            <a:r>
              <a:rPr dirty="0"/>
              <a:t>• </a:t>
            </a:r>
            <a:r>
              <a:rPr dirty="0" err="1"/>
              <a:t>誠實面對假說破產：證明此路不通也是大貢獻</a:t>
            </a:r>
            <a:endParaRPr dirty="0"/>
          </a:p>
          <a:p>
            <a:pPr>
              <a:spcAft>
                <a:spcPts val="1000"/>
              </a:spcAft>
              <a:defRPr sz="2200">
                <a:solidFill>
                  <a:srgbClr val="212121"/>
                </a:solidFill>
                <a:latin typeface="Microsoft JhengHei"/>
              </a:defRPr>
            </a:pPr>
            <a:r>
              <a:rPr dirty="0"/>
              <a:t>• </a:t>
            </a:r>
            <a:r>
              <a:rPr dirty="0" err="1"/>
              <a:t>公開限制：主動把儀器誤差與局限攤在陽光下</a:t>
            </a:r>
            <a:endParaRPr dirty="0"/>
          </a:p>
          <a:p>
            <a:pPr>
              <a:spcAft>
                <a:spcPts val="1000"/>
              </a:spcAft>
              <a:defRPr sz="2200">
                <a:solidFill>
                  <a:srgbClr val="212121"/>
                </a:solidFill>
                <a:latin typeface="Microsoft JhengHei"/>
              </a:defRPr>
            </a:pPr>
            <a:r>
              <a:rPr dirty="0"/>
              <a:t>• </a:t>
            </a:r>
            <a:r>
              <a:rPr dirty="0" err="1"/>
              <a:t>絕不自欺：寧交有瑕疵的真數據，不交美化贗品</a:t>
            </a:r>
            <a:endParaRPr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230AC1F-732B-F6B6-82E6-E6141A233A74}"/>
              </a:ext>
            </a:extLst>
          </p:cNvPr>
          <p:cNvSpPr txBox="1"/>
          <p:nvPr/>
        </p:nvSpPr>
        <p:spPr>
          <a:xfrm>
            <a:off x="5705660" y="1791509"/>
            <a:ext cx="61451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2600" b="1">
                <a:solidFill>
                  <a:srgbClr val="1E7E34"/>
                </a:solidFill>
                <a:latin typeface="Microsoft JhengHei"/>
              </a:defRPr>
            </a:pPr>
            <a:r>
              <a:rPr lang="zh-TW" altLang="en-US" dirty="0"/>
              <a:t>✅ 正統探究（科學誠實姿態）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155CC"/>
                </a:solidFill>
                <a:latin typeface="Microsoft JhengHei"/>
              </a:defRPr>
            </a:pPr>
            <a:r>
              <a:t>🌈 第四站：科學光譜</a:t>
            </a:r>
          </a:p>
          <a:p>
            <a:pPr>
              <a:defRPr sz="3600" b="1">
                <a:solidFill>
                  <a:srgbClr val="1C3052"/>
                </a:solidFill>
                <a:latin typeface="Microsoft JhengHei"/>
              </a:defRPr>
            </a:pPr>
            <a:r>
              <a:t>科學光譜五重奏：你在哪一個頻段？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2011680" cy="3931920"/>
          </a:xfrm>
          <a:prstGeom prst="roundRect">
            <a:avLst/>
          </a:prstGeom>
          <a:solidFill>
            <a:srgbClr val="FDE8E8"/>
          </a:solidFill>
          <a:ln w="15240">
            <a:solidFill>
              <a:srgbClr val="F28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600"/>
              </a:spcAft>
              <a:defRPr sz="2100" b="1">
                <a:solidFill>
                  <a:srgbClr val="C5221F"/>
                </a:solidFill>
                <a:latin typeface="Microsoft JhengHei"/>
              </a:defRPr>
            </a:pPr>
            <a:r>
              <a:t>反科學</a:t>
            </a:r>
            <a:br/>
            <a:r>
              <a:t>(Anti-science)</a:t>
            </a:r>
          </a:p>
          <a:p>
            <a:pPr>
              <a:spcAft>
                <a:spcPts val="1000"/>
              </a:spcAft>
              <a:defRPr sz="1700" b="1">
                <a:solidFill>
                  <a:srgbClr val="1C3052"/>
                </a:solidFill>
                <a:latin typeface="Microsoft JhengHei"/>
              </a:defRPr>
            </a:pPr>
            <a:r>
              <a:t>公開反對科學共識</a:t>
            </a:r>
          </a:p>
          <a:p>
            <a:pPr>
              <a:defRPr sz="1800">
                <a:solidFill>
                  <a:srgbClr val="212121"/>
                </a:solidFill>
                <a:latin typeface="Microsoft JhengHei"/>
              </a:defRPr>
            </a:pPr>
            <a:r>
              <a:t>如地平說、反疫苗。</a:t>
            </a:r>
            <a:br/>
            <a:r>
              <a:t>出於意識形態或利益，拒絕理性對話。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89504" y="1691640"/>
            <a:ext cx="2011680" cy="3931920"/>
          </a:xfrm>
          <a:prstGeom prst="roundRect">
            <a:avLst/>
          </a:prstGeom>
          <a:solidFill>
            <a:srgbClr val="FFF2CC"/>
          </a:solidFill>
          <a:ln w="15240">
            <a:solidFill>
              <a:srgbClr val="FFD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600"/>
              </a:spcAft>
              <a:defRPr sz="2100" b="1">
                <a:solidFill>
                  <a:srgbClr val="EA4335"/>
                </a:solidFill>
                <a:latin typeface="Microsoft JhengHei"/>
              </a:defRPr>
            </a:pPr>
            <a:r>
              <a:rPr dirty="0" err="1"/>
              <a:t>偽科學</a:t>
            </a:r>
            <a:br>
              <a:rPr dirty="0"/>
            </a:br>
            <a:r>
              <a:rPr dirty="0"/>
              <a:t>(Pseudo-)</a:t>
            </a:r>
          </a:p>
          <a:p>
            <a:pPr>
              <a:spcAft>
                <a:spcPts val="1000"/>
              </a:spcAft>
              <a:defRPr sz="1700" b="1">
                <a:solidFill>
                  <a:srgbClr val="1C3052"/>
                </a:solidFill>
                <a:latin typeface="Microsoft JhengHei"/>
              </a:defRPr>
            </a:pPr>
            <a:r>
              <a:rPr dirty="0" err="1"/>
              <a:t>模仿名詞，不可證偽</a:t>
            </a:r>
            <a:endParaRPr dirty="0"/>
          </a:p>
          <a:p>
            <a:pPr>
              <a:defRPr sz="1800">
                <a:solidFill>
                  <a:srgbClr val="212121"/>
                </a:solidFill>
                <a:latin typeface="Microsoft JhengHei"/>
              </a:defRPr>
            </a:pPr>
            <a:r>
              <a:rPr dirty="0" err="1"/>
              <a:t>如量子手環、占星</a:t>
            </a:r>
            <a:r>
              <a:rPr dirty="0"/>
              <a:t>。</a:t>
            </a:r>
            <a:br>
              <a:rPr dirty="0"/>
            </a:br>
            <a:r>
              <a:rPr dirty="0" err="1"/>
              <a:t>永遠立於不敗之地，絕不認錯</a:t>
            </a:r>
            <a:r>
              <a:rPr dirty="0"/>
              <a:t>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47488" y="1691640"/>
            <a:ext cx="2011680" cy="3931920"/>
          </a:xfrm>
          <a:prstGeom prst="roundRect">
            <a:avLst/>
          </a:prstGeom>
          <a:solidFill>
            <a:srgbClr val="FFF8E1"/>
          </a:solidFill>
          <a:ln w="15240">
            <a:solidFill>
              <a:srgbClr val="F6B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600"/>
              </a:spcAft>
              <a:defRPr sz="2100" b="1">
                <a:solidFill>
                  <a:srgbClr val="E37400"/>
                </a:solidFill>
                <a:latin typeface="Microsoft JhengHei"/>
              </a:defRPr>
            </a:pPr>
            <a:r>
              <a:rPr dirty="0" err="1"/>
              <a:t>貨物崇拜</a:t>
            </a:r>
            <a:br>
              <a:rPr dirty="0"/>
            </a:br>
            <a:r>
              <a:rPr dirty="0"/>
              <a:t>(Cargo Cult)</a:t>
            </a:r>
          </a:p>
          <a:p>
            <a:pPr>
              <a:spcAft>
                <a:spcPts val="1000"/>
              </a:spcAft>
              <a:defRPr sz="1700" b="1">
                <a:solidFill>
                  <a:srgbClr val="1C3052"/>
                </a:solidFill>
                <a:latin typeface="Microsoft JhengHei"/>
              </a:defRPr>
            </a:pPr>
            <a:r>
              <a:rPr dirty="0" err="1"/>
              <a:t>具備外殼，缺乏誠實</a:t>
            </a:r>
            <a:endParaRPr dirty="0"/>
          </a:p>
          <a:p>
            <a:pPr>
              <a:defRPr sz="1800">
                <a:solidFill>
                  <a:srgbClr val="212121"/>
                </a:solidFill>
                <a:latin typeface="Microsoft JhengHei"/>
              </a:defRPr>
            </a:pPr>
            <a:r>
              <a:rPr dirty="0" err="1"/>
              <a:t>如探究偷改數據、先射箭再畫靶</a:t>
            </a:r>
            <a:r>
              <a:rPr dirty="0"/>
              <a:t>。</a:t>
            </a:r>
            <a:br>
              <a:rPr dirty="0"/>
            </a:br>
            <a:r>
              <a:rPr dirty="0" err="1"/>
              <a:t>形式滿分、靈魂缺席</a:t>
            </a:r>
            <a:r>
              <a:rPr dirty="0"/>
              <a:t>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5472" y="1691640"/>
            <a:ext cx="2011680" cy="3931920"/>
          </a:xfrm>
          <a:prstGeom prst="roundRect">
            <a:avLst/>
          </a:prstGeom>
          <a:solidFill>
            <a:srgbClr val="E0EFF6"/>
          </a:solidFill>
          <a:ln w="15240">
            <a:solidFill>
              <a:srgbClr val="1C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600"/>
              </a:spcAft>
              <a:defRPr sz="2100" b="1">
                <a:solidFill>
                  <a:srgbClr val="1155CC"/>
                </a:solidFill>
                <a:latin typeface="Microsoft JhengHei"/>
              </a:defRPr>
            </a:pPr>
            <a:r>
              <a:t>邊緣科學</a:t>
            </a:r>
            <a:br/>
            <a:r>
              <a:t>(Proto-)</a:t>
            </a:r>
          </a:p>
          <a:p>
            <a:pPr>
              <a:spcAft>
                <a:spcPts val="1000"/>
              </a:spcAft>
              <a:defRPr sz="1700" b="1">
                <a:solidFill>
                  <a:srgbClr val="1C3052"/>
                </a:solidFill>
                <a:latin typeface="Microsoft JhengHei"/>
              </a:defRPr>
            </a:pPr>
            <a:r>
              <a:t>非主流，但接受檢驗</a:t>
            </a:r>
          </a:p>
          <a:p>
            <a:pPr>
              <a:defRPr sz="1800">
                <a:solidFill>
                  <a:srgbClr val="212121"/>
                </a:solidFill>
                <a:latin typeface="Microsoft JhengHei"/>
              </a:defRPr>
            </a:pPr>
            <a:r>
              <a:t>如魏格納大陸漂移說。</a:t>
            </a:r>
            <a:br/>
            <a:r>
              <a:t>雖被嘲笑但尊重證據，有潛力升格。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63456" y="1691640"/>
            <a:ext cx="2011680" cy="3931920"/>
          </a:xfrm>
          <a:prstGeom prst="roundRect">
            <a:avLst/>
          </a:prstGeom>
          <a:solidFill>
            <a:srgbClr val="E1EFD8"/>
          </a:solidFill>
          <a:ln w="15240">
            <a:solidFill>
              <a:srgbClr val="99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600"/>
              </a:spcAft>
              <a:defRPr sz="2100" b="1">
                <a:solidFill>
                  <a:srgbClr val="1E7E34"/>
                </a:solidFill>
                <a:latin typeface="Microsoft JhengHei"/>
              </a:defRPr>
            </a:pPr>
            <a:r>
              <a:rPr dirty="0" err="1"/>
              <a:t>正統科學</a:t>
            </a:r>
            <a:br>
              <a:rPr dirty="0"/>
            </a:br>
            <a:r>
              <a:rPr dirty="0"/>
              <a:t>(Orthodox)</a:t>
            </a:r>
          </a:p>
          <a:p>
            <a:pPr>
              <a:spcAft>
                <a:spcPts val="1000"/>
              </a:spcAft>
              <a:defRPr sz="1700" b="1">
                <a:solidFill>
                  <a:srgbClr val="1C3052"/>
                </a:solidFill>
                <a:latin typeface="Microsoft JhengHei"/>
              </a:defRPr>
            </a:pPr>
            <a:r>
              <a:rPr dirty="0" err="1"/>
              <a:t>可證偽、重複檢驗</a:t>
            </a:r>
            <a:endParaRPr dirty="0"/>
          </a:p>
          <a:p>
            <a:pPr>
              <a:defRPr sz="1800">
                <a:solidFill>
                  <a:srgbClr val="212121"/>
                </a:solidFill>
                <a:latin typeface="Microsoft JhengHei"/>
              </a:defRPr>
            </a:pPr>
            <a:r>
              <a:rPr dirty="0" err="1"/>
              <a:t>如量子力學、相對論</a:t>
            </a:r>
            <a:r>
              <a:rPr dirty="0"/>
              <a:t>。</a:t>
            </a:r>
            <a:br>
              <a:rPr dirty="0"/>
            </a:br>
            <a:r>
              <a:rPr dirty="0" err="1"/>
              <a:t>歡迎全世界拿數據來打臉修正</a:t>
            </a:r>
            <a:r>
              <a:rPr dirty="0"/>
              <a:t>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EA4335"/>
                </a:solidFill>
                <a:latin typeface="Microsoft JhengHei"/>
              </a:defRPr>
            </a:pPr>
            <a:r>
              <a:t>⚔️ 實戰大擂台</a:t>
            </a:r>
          </a:p>
          <a:p>
            <a:pPr>
              <a:defRPr sz="3600" b="1">
                <a:solidFill>
                  <a:srgbClr val="1C3052"/>
                </a:solidFill>
                <a:latin typeface="Microsoft JhengHei"/>
              </a:defRPr>
            </a:pPr>
            <a:r>
              <a:t>嘉中 201 破案挑戰賽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10607040" cy="841248"/>
          </a:xfrm>
          <a:prstGeom prst="roundRect">
            <a:avLst/>
          </a:prstGeom>
          <a:solidFill>
            <a:srgbClr val="FFF2CC"/>
          </a:solidFill>
          <a:ln w="1524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2100" b="0">
                <a:solidFill>
                  <a:srgbClr val="212121"/>
                </a:solidFill>
                <a:latin typeface="Microsoft JhengHei"/>
              </a:defRPr>
            </a:pPr>
            <a:r>
              <a:t>情境 1：占星大師說水逆讓你倒楣，若順利是你心存善念抵銷了。  </a:t>
            </a:r>
            <a:r>
              <a:rPr sz="2200" b="1">
                <a:solidFill>
                  <a:srgbClr val="EA4335"/>
                </a:solidFill>
                <a:latin typeface="Microsoft JhengHei"/>
              </a:rPr>
              <a:t>👉 【偽科學】（永遠能圓場，不可證偽）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51760"/>
            <a:ext cx="10607040" cy="841248"/>
          </a:xfrm>
          <a:prstGeom prst="roundRect">
            <a:avLst/>
          </a:prstGeom>
          <a:solidFill>
            <a:srgbClr val="FFF8E1"/>
          </a:solidFill>
          <a:ln w="15240">
            <a:solidFill>
              <a:srgbClr val="E37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2100" b="0">
                <a:solidFill>
                  <a:srgbClr val="212121"/>
                </a:solidFill>
                <a:latin typeface="Microsoft JhengHei"/>
              </a:defRPr>
            </a:pPr>
            <a:r>
              <a:t>情境 2：高二某組單擺週期差 0.3 秒，組長偷偷改數據做出線性圖。  </a:t>
            </a:r>
            <a:r>
              <a:rPr sz="2200" b="1">
                <a:solidFill>
                  <a:srgbClr val="E37400"/>
                </a:solidFill>
                <a:latin typeface="Microsoft JhengHei"/>
              </a:rPr>
              <a:t>👉 【貨物崇拜科學】（外殼完美，欺騙自己）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11880"/>
            <a:ext cx="10607040" cy="841248"/>
          </a:xfrm>
          <a:prstGeom prst="roundRect">
            <a:avLst/>
          </a:prstGeom>
          <a:solidFill>
            <a:srgbClr val="E0EFF6"/>
          </a:solidFill>
          <a:ln w="15240">
            <a:solidFill>
              <a:srgbClr val="11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2100" b="0">
                <a:solidFill>
                  <a:srgbClr val="212121"/>
                </a:solidFill>
                <a:latin typeface="Microsoft JhengHei"/>
              </a:defRPr>
            </a:pPr>
            <a:r>
              <a:t>情境 3：1912 年魏格納提出大陸漂移說，當時被主流地質界笑是瘋子。  </a:t>
            </a:r>
            <a:r>
              <a:rPr sz="2200" b="1">
                <a:solidFill>
                  <a:srgbClr val="1155CC"/>
                </a:solidFill>
                <a:latin typeface="Microsoft JhengHei"/>
              </a:rPr>
              <a:t>👉 【邊緣科學】（提出證據並勇於接受檢驗）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10607040" cy="841248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2100" b="0">
                <a:solidFill>
                  <a:srgbClr val="212121"/>
                </a:solidFill>
                <a:latin typeface="Microsoft JhengHei"/>
              </a:defRPr>
            </a:pPr>
            <a:r>
              <a:t>情境 4：國文老師寫了一首探討 AI 與孤獨的新詩，感動無數人。  </a:t>
            </a:r>
            <a:r>
              <a:rPr sz="2200" b="1">
                <a:solidFill>
                  <a:srgbClr val="595959"/>
                </a:solidFill>
                <a:latin typeface="Microsoft JhengHei"/>
              </a:rPr>
              <a:t>👉 【非科學】（文學創作，深具價值但不需證偽）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155CC"/>
                </a:solidFill>
                <a:latin typeface="Microsoft JhengHei"/>
              </a:defRPr>
            </a:pPr>
            <a:r>
              <a:t>🛡️ 終局裝備交付</a:t>
            </a:r>
          </a:p>
          <a:p>
            <a:pPr>
              <a:defRPr sz="3600" b="1">
                <a:solidFill>
                  <a:srgbClr val="1C3052"/>
                </a:solidFill>
                <a:latin typeface="Microsoft JhengHei"/>
              </a:defRPr>
            </a:pPr>
            <a:r>
              <a:t>帶出教室的防身武器：科學偵測雙稜鏡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5120640" cy="3931920"/>
          </a:xfrm>
          <a:prstGeom prst="roundRect">
            <a:avLst/>
          </a:prstGeom>
          <a:solidFill>
            <a:srgbClr val="E0EFF6"/>
          </a:solidFill>
          <a:ln w="19050">
            <a:solidFill>
              <a:srgbClr val="11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400"/>
              </a:spcAft>
              <a:defRPr sz="2500" b="1">
                <a:solidFill>
                  <a:srgbClr val="1155CC"/>
                </a:solidFill>
                <a:latin typeface="Microsoft JhengHei"/>
              </a:defRPr>
            </a:pPr>
            <a:r>
              <a:t>🔍 第一稜鏡 · 波普爾之鏡（照對手）</a:t>
            </a:r>
          </a:p>
          <a:p>
            <a:pPr>
              <a:spcAft>
                <a:spcPts val="600"/>
              </a:spcAft>
              <a:defRPr sz="2200" b="1">
                <a:solidFill>
                  <a:srgbClr val="1C3052"/>
                </a:solidFill>
                <a:latin typeface="Microsoft JhengHei"/>
              </a:defRPr>
            </a:pPr>
            <a:r>
              <a:t>靈魂提問句：</a:t>
            </a:r>
          </a:p>
          <a:p>
            <a:pPr>
              <a:spcAft>
                <a:spcPts val="1400"/>
              </a:spcAft>
              <a:defRPr sz="2400" b="1">
                <a:solidFill>
                  <a:srgbClr val="C5221F"/>
                </a:solidFill>
                <a:latin typeface="Microsoft JhengHei"/>
              </a:defRPr>
            </a:pPr>
            <a:r>
              <a:t>「請問在什麼具體條件下，你會承認你的主張是錯的？」</a:t>
            </a:r>
          </a:p>
          <a:p>
            <a:pPr>
              <a:defRPr sz="2100" b="1">
                <a:solidFill>
                  <a:srgbClr val="1C3052"/>
                </a:solidFill>
                <a:latin typeface="Microsoft JhengHei"/>
              </a:defRPr>
            </a:pPr>
            <a:r>
              <a:t>👉 判定原則：</a:t>
            </a:r>
          </a:p>
          <a:p>
            <a:pPr>
              <a:defRPr sz="2200">
                <a:solidFill>
                  <a:srgbClr val="212121"/>
                </a:solidFill>
                <a:latin typeface="Microsoft JhengHei"/>
              </a:defRPr>
            </a:pPr>
            <a:r>
              <a:t>答不出來或永遠有藉口圓場者，立刻判定為【偽科學】！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91640"/>
            <a:ext cx="5120640" cy="3931920"/>
          </a:xfrm>
          <a:prstGeom prst="roundRect">
            <a:avLst/>
          </a:prstGeom>
          <a:solidFill>
            <a:srgbClr val="E1EFD8"/>
          </a:solidFill>
          <a:ln w="19050">
            <a:solidFill>
              <a:srgbClr val="1E7E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400"/>
              </a:spcAft>
              <a:defRPr sz="2500" b="1">
                <a:solidFill>
                  <a:srgbClr val="1E7E34"/>
                </a:solidFill>
                <a:latin typeface="Microsoft JhengHei"/>
              </a:defRPr>
            </a:pPr>
            <a:r>
              <a:t>🛡️ 第二稜鏡 · 費曼之鏡（照自己）</a:t>
            </a:r>
          </a:p>
          <a:p>
            <a:pPr>
              <a:spcAft>
                <a:spcPts val="600"/>
              </a:spcAft>
              <a:defRPr sz="2200" b="1">
                <a:solidFill>
                  <a:srgbClr val="1C3052"/>
                </a:solidFill>
                <a:latin typeface="Microsoft JhengHei"/>
              </a:defRPr>
            </a:pPr>
            <a:r>
              <a:t>靈魂提問句：</a:t>
            </a:r>
          </a:p>
          <a:p>
            <a:pPr>
              <a:spcAft>
                <a:spcPts val="1400"/>
              </a:spcAft>
              <a:defRPr sz="2400" b="1">
                <a:solidFill>
                  <a:srgbClr val="1E7E34"/>
                </a:solidFill>
                <a:latin typeface="Microsoft JhengHei"/>
              </a:defRPr>
            </a:pPr>
            <a:r>
              <a:t>「我有沒有把可能推翻我假設的一切疑點，老實交代清楚？」</a:t>
            </a:r>
          </a:p>
          <a:p>
            <a:pPr>
              <a:defRPr sz="2100" b="1">
                <a:solidFill>
                  <a:srgbClr val="1C3052"/>
                </a:solidFill>
                <a:latin typeface="Microsoft JhengHei"/>
              </a:defRPr>
            </a:pPr>
            <a:r>
              <a:t>👉 判定原則：</a:t>
            </a:r>
          </a:p>
          <a:p>
            <a:pPr>
              <a:defRPr sz="2200">
                <a:solidFill>
                  <a:srgbClr val="212121"/>
                </a:solidFill>
                <a:latin typeface="Microsoft JhengHei"/>
              </a:defRPr>
            </a:pPr>
            <a:r>
              <a:t>寫探究報告時主動公開限制與異常，是【最高貴的科學品格】！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000" b="1">
                <a:solidFill>
                  <a:srgbClr val="1C3052"/>
                </a:solidFill>
                <a:latin typeface="Microsoft JhengHei"/>
              </a:defRPr>
            </a:pPr>
            <a:r>
              <a:t>敬！敢於承認自己錯了的勇者</a:t>
            </a:r>
          </a:p>
          <a:p>
            <a:pPr>
              <a:defRPr sz="2800" b="1">
                <a:solidFill>
                  <a:srgbClr val="1155CC"/>
                </a:solidFill>
                <a:latin typeface="Microsoft JhengHei"/>
              </a:defRPr>
            </a:pPr>
            <a:r>
              <a:t>科學不是標準答案，而是一套勇敢修正自己的思考工具！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77440"/>
            <a:ext cx="10607040" cy="292608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FFD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200"/>
              </a:spcAft>
              <a:defRPr sz="2800" b="1">
                <a:solidFill>
                  <a:srgbClr val="1C3052"/>
                </a:solidFill>
                <a:latin typeface="Microsoft JhengHei"/>
              </a:defRPr>
            </a:pPr>
            <a:r>
              <a:t>「摘下那副木頭耳機，不要再為虛假的飛機祈禱。</a:t>
            </a:r>
          </a:p>
          <a:p>
            <a:pPr>
              <a:spcAft>
                <a:spcPts val="1200"/>
              </a:spcAft>
              <a:defRPr sz="2800" b="1">
                <a:solidFill>
                  <a:srgbClr val="1C3052"/>
                </a:solidFill>
                <a:latin typeface="Microsoft JhengHei"/>
              </a:defRPr>
            </a:pPr>
            <a:r>
              <a:t> 當嘉中 201 的每位同學都敢誠實面對數據的瑕疵，</a:t>
            </a:r>
          </a:p>
          <a:p>
            <a:pPr>
              <a:spcAft>
                <a:spcPts val="2000"/>
              </a:spcAft>
              <a:defRPr sz="2800" b="1">
                <a:solidFill>
                  <a:srgbClr val="C5221F"/>
                </a:solidFill>
                <a:latin typeface="Microsoft JhengHei"/>
              </a:defRPr>
            </a:pPr>
            <a:r>
              <a:t> 真正的科學發現，就在那裡誕生。」</a:t>
            </a:r>
          </a:p>
          <a:p>
            <a:pPr>
              <a:defRPr sz="2400" b="1">
                <a:solidFill>
                  <a:srgbClr val="595959"/>
                </a:solidFill>
                <a:latin typeface="Microsoft JhengHei"/>
              </a:defRPr>
            </a:pPr>
            <a:r>
              <a:t>祝全班自然科學探究與實作順利 · Q &amp; A 討論時間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1003</Words>
  <Application>Microsoft Office PowerPoint</Application>
  <PresentationFormat>寬螢幕</PresentationFormat>
  <Paragraphs>166</Paragraphs>
  <Slides>13</Slides>
  <Notes>13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7" baseType="lpstr">
      <vt:lpstr>Microsoft JhengHei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Chih_Wen Fan</cp:lastModifiedBy>
  <cp:revision>2</cp:revision>
  <dcterms:created xsi:type="dcterms:W3CDTF">2013-01-27T09:14:16Z</dcterms:created>
  <dcterms:modified xsi:type="dcterms:W3CDTF">2026-09-17T19:04:36Z</dcterms:modified>
  <cp:category/>
</cp:coreProperties>
</file>