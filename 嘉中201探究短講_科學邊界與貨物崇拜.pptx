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【開場破冰 · 1.5分鐘】</a:t>
            </a:r>
          </a:p>
          <a:p>
            <a:r>
              <a:t>各位 201 班同學好！做探究實作時，有圖表、有數據就是科學嗎？今天我們用 15 分鐘，揭開一場跨越 2000 年的真假科學冒險。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【Hook 衝突 · 2分鐘】</a:t>
            </a:r>
          </a:p>
          <a:p>
            <a:r>
              <a:t>請同學看大螢幕這兩個案例。左邊是名詞很高深的手環，右邊是為了分數修改數據的探究報告。殘酷的是：兩者都是假科學！因為科學的靈魂不在外殼，而在誠實。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【GPS 導航 · 1分鐘】</a:t>
            </a:r>
          </a:p>
          <a:p>
            <a:r>
              <a:t>帶領同學看清今天的學習路徑，從字源考古到波普爾之刀，再到費曼的照妖鏡與最後的雙稜鏡武器交付。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【字源考古 · 2分鐘】</a:t>
            </a:r>
          </a:p>
          <a:p>
            <a:r>
              <a:t>說明科學是一套不斷演進的探索方法。亞里斯多德反對憑感覺主觀意見 Doxa；1833 年休厄爾才首創 Scientist。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【波普爾分界 · 2.5分鐘】</a:t>
            </a:r>
          </a:p>
          <a:p>
            <a:r>
              <a:t>核心是可證偽性。文學藝術是非科學，不可證偽但有價值；偽科學不可證偽卻硬裝成科學，永遠立於不敗之地。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【黑天鵝實驗 · 1.5分鐘】</a:t>
            </a:r>
          </a:p>
          <a:p>
            <a:r>
              <a:t>歸納法的極限：你看了 100 萬隻白天鵝都不能證明理論絕對正確；但澳洲的 1 隻黑天鵝就能瞬間證偽！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【費曼貨物崇拜 · 2分鐘】</a:t>
            </a:r>
          </a:p>
          <a:p>
            <a:r>
              <a:t>島民蓋竹子塔台、戴木頭耳機，為什麼飛機不來？因為形式滿分，物理缺席！研究缺少誠實，也是貨物崇拜。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【密立根爬樓梯 · 2分鐘】</a:t>
            </a:r>
          </a:p>
          <a:p>
            <a:r>
              <a:t>密立根空氣黏滯度算小了，後面的科學家測出高數值卻不敢發表，自己找理由修低！費曼第一原則：絕不欺騙自己。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【探究現場照妖鏡 · 2分鐘】</a:t>
            </a:r>
          </a:p>
          <a:p>
            <a:r>
              <a:t>直擊高二探究痛點：偷刪離群值、先射箭再畫靶。真正的科學是誠實記錄異常、公開所有限制！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【科學光譜 · 1.5分鐘】</a:t>
            </a:r>
          </a:p>
          <a:p>
            <a:r>
              <a:t>從反科學到正統科學。像魏格納提出大陸漂移說，一開始被嘲笑是邊緣科學，但他提出地質證據，最終進入正統科學！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【課堂大挑戰 · 2分鐘】</a:t>
            </a:r>
          </a:p>
          <a:p>
            <a:r>
              <a:t>帶領全班搶答 4 道情境題，現場檢驗「波普爾之刀」的辨識力！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【雙稜鏡交付 · 1.5分鐘】</a:t>
            </a:r>
          </a:p>
          <a:p>
            <a:r>
              <a:t>下課前交給同學的隨身武器：波普爾之鏡照對手，費曼之鏡照自己。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【結語收束 · 1分鐘】</a:t>
            </a:r>
          </a:p>
          <a:p>
            <a:r>
              <a:t>祝嘉中 201 每位同學今年都能做一個誠實、敏銳、敢於修正自己的探究者。謝謝大家！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0F2FE"/>
                </a:solidFill>
              </a:defRPr>
            </a:pPr>
            <a:r>
              <a:t>嘉義高中 201 班 · 自然科學探究與實作短講</a:t>
            </a:r>
          </a:p>
          <a:p>
            <a:pPr>
              <a:spcAft>
                <a:spcPts val="1600"/>
              </a:spcAft>
              <a:defRPr sz="5200" b="1">
                <a:solidFill>
                  <a:srgbClr val="FFFFFF"/>
                </a:solidFill>
              </a:defRPr>
            </a:pPr>
            <a:r>
              <a:t>木頭耳機能召喚飛機嗎？</a:t>
            </a:r>
          </a:p>
          <a:p>
            <a:pPr>
              <a:spcAft>
                <a:spcPts val="3200"/>
              </a:spcAft>
              <a:defRPr sz="2800">
                <a:solidFill>
                  <a:srgbClr val="94A3B8"/>
                </a:solidFill>
              </a:defRPr>
            </a:pPr>
            <a:r>
              <a:t>探索科學的邊界：從亞里斯多德、波普爾到費曼的「貨物崇拜」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授課教師：樊志文 老師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⚔️ 認知衝突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哪一個，才是真正的「科學」？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spcAft>
                <a:spcPts val="1400"/>
              </a:spcAft>
              <a:defRPr sz="2600" b="1">
                <a:solidFill>
                  <a:srgbClr val="00F2FE"/>
                </a:solidFill>
              </a:defRPr>
            </a:pPr>
            <a:r>
              <a:t>候選者 A：量子共振手環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宣稱導入「次微米諧振頻率」</a:t>
            </a:r>
            <a:br/>
            <a:r>
              <a:t>• 附專利磁場圖譜、國際認證</a:t>
            </a:r>
            <a:br/>
            <a:r>
              <a:t>• 售價 NT$ 3,990</a:t>
            </a:r>
            <a:br/>
            <a:br/>
            <a:r>
              <a:t>❌ 典型「偽科學」！</a:t>
            </a:r>
            <a:br/>
            <a:r>
              <a:t>名詞高大上，但永遠不可證偽。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spcAft>
                <a:spcPts val="1400"/>
              </a:spcAft>
              <a:defRPr sz="2600" b="1">
                <a:solidFill>
                  <a:srgbClr val="F59E0B"/>
                </a:solidFill>
              </a:defRPr>
            </a:pPr>
            <a:r>
              <a:t>候選者 B：探究 A+ 滿分報告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單擺週期與公式差 0.4 秒</a:t>
            </a:r>
            <a:br/>
            <a:r>
              <a:t>• 怕被扣分，悄悄修改數據</a:t>
            </a:r>
            <a:br/>
            <a:r>
              <a:t>• 圖表超完美，拿下全班最高分</a:t>
            </a:r>
            <a:br/>
            <a:br/>
            <a:r>
              <a:t>❌ 典型「貨物崇拜」！</a:t>
            </a:r>
            <a:br/>
            <a:r>
              <a:t>外表完美複製，但丟了誠實。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🧭 雙 GPS 定位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今天短講的四個探案關卡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5029200" cy="1920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20040"/>
          <a:lstStyle/>
          <a:p>
            <a:pPr algn="ctr">
              <a:spcAft>
                <a:spcPts val="600"/>
              </a:spcAft>
              <a:defRPr sz="2400" b="1">
                <a:solidFill>
                  <a:srgbClr val="00F2FE"/>
                </a:solidFill>
              </a:defRPr>
            </a:pPr>
            <a:r>
              <a:t>第一站 · 字源考古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亞里斯多德 Episteme ➔ 羅馬 Scientia ➔ 1833 休厄爾 Scientist ➔ 西周分科之學。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920240"/>
            <a:ext cx="5029200" cy="1920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20040"/>
          <a:lstStyle/>
          <a:p>
            <a:pPr algn="ctr">
              <a:spcAft>
                <a:spcPts val="600"/>
              </a:spcAft>
              <a:defRPr sz="2400" b="1">
                <a:solidFill>
                  <a:srgbClr val="F59E0B"/>
                </a:solidFill>
              </a:defRPr>
            </a:pPr>
            <a:r>
              <a:t>第二站 · 波普爾之刀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分界問題：可證偽性（Falsifiability）。敢冒被推翻風險的才是真正科學！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5029200" cy="1920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20040"/>
          <a:lstStyle/>
          <a:p>
            <a:pPr algn="ctr">
              <a:spcAft>
                <a:spcPts val="600"/>
              </a:spcAft>
              <a:defRPr sz="2400" b="1">
                <a:solidFill>
                  <a:srgbClr val="FF416C"/>
                </a:solidFill>
              </a:defRPr>
            </a:pPr>
            <a:r>
              <a:t>第三站 · 費曼照妖鏡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貨物崇拜科學：荒島竹子跑道、密立根油滴爬樓梯、高二探究自欺痛點。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5029200" cy="1920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lIns="320040"/>
          <a:lstStyle/>
          <a:p>
            <a:pPr algn="ctr">
              <a:spcAft>
                <a:spcPts val="600"/>
              </a:spcAft>
              <a:defRPr sz="2400" b="1">
                <a:solidFill>
                  <a:srgbClr val="10B981"/>
                </a:solidFill>
              </a:defRPr>
            </a:pPr>
            <a:r>
              <a:t>第四站 · 實戰雙稜鏡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課堂破案大擂台！交付隨身武器：波普爾之鏡照對手，費曼之鏡照自己。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🏛️ 第一站：字源考古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「科學」不是天上掉下來的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62895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/>
          <a:lstStyle/>
          <a:p>
            <a:pPr algn="ctr">
              <a:spcAft>
                <a:spcPts val="1600"/>
              </a:spcAft>
              <a:defRPr sz="2300">
                <a:solidFill>
                  <a:srgbClr val="FFFFFF"/>
                </a:solidFill>
              </a:defRPr>
            </a:pPr>
            <a:r>
              <a:t>【西元前 4 世紀·希臘】 亞里斯多德 Episteme（有系統的真知）vs Doxa（憑感覺的主觀意見）</a:t>
            </a:r>
          </a:p>
          <a:p>
            <a:pPr>
              <a:spcAft>
                <a:spcPts val="1600"/>
              </a:spcAft>
              <a:defRPr sz="2300">
                <a:solidFill>
                  <a:srgbClr val="FFFFFF"/>
                </a:solidFill>
              </a:defRPr>
            </a:pPr>
            <a:r>
              <a:t>【西元前 1 世紀·羅馬】 西塞羅翻譯為 Scientia（字根 scire：去知道、探求），泛指一切學問</a:t>
            </a:r>
          </a:p>
          <a:p>
            <a:pPr>
              <a:spcAft>
                <a:spcPts val="1600"/>
              </a:spcAft>
              <a:defRPr sz="2300">
                <a:solidFill>
                  <a:srgbClr val="FFFFFF"/>
                </a:solidFill>
              </a:defRPr>
            </a:pPr>
            <a:r>
              <a:t>【1833 年·英國】 休厄爾首創 "Scientist"（科學家），科學正式專指自然科學</a:t>
            </a:r>
          </a:p>
          <a:p>
            <a:pPr>
              <a:spcAft>
                <a:spcPts val="1600"/>
              </a:spcAft>
              <a:defRPr sz="2300">
                <a:solidFill>
                  <a:srgbClr val="FFFFFF"/>
                </a:solidFill>
              </a:defRPr>
            </a:pPr>
            <a:r>
              <a:t>【1874 年·東亞】 日本西周翻譯為「科學」（分科之學），梁啟超引入成為五四賽先生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⚖️ 第二站：分界問題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波普爾之刀：科學 vs 非科學 vs 偽科學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329184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10B981"/>
                </a:solidFill>
              </a:defRPr>
            </a:pPr>
            <a:r>
              <a:t>科學 (Science)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可證偽性 (Falsifiability)</a:t>
            </a:r>
            <a:br/>
            <a:br/>
            <a:r>
              <a:t>• 敢於冒著被證明是錯的風險！</a:t>
            </a:r>
            <a:br/>
            <a:r>
              <a:t>• 愛因斯坦：日全蝕光線若未彎曲，我認輸！</a:t>
            </a:r>
            <a:br/>
            <a:r>
              <a:t>• 隨時準備接受檢驗與推翻。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920240"/>
            <a:ext cx="329184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00F2FE"/>
                </a:solidFill>
              </a:defRPr>
            </a:pPr>
            <a:r>
              <a:t>非科學 (Non-science)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無意偽裝的領域</a:t>
            </a:r>
            <a:br/>
            <a:br/>
            <a:r>
              <a:t>• 文學、藝術、哲學、宗教。</a:t>
            </a:r>
            <a:br/>
            <a:r>
              <a:t>• 無法做實驗證明「詩美不美」。</a:t>
            </a:r>
            <a:br/>
            <a:r>
              <a:t>• 具備無可替代的人文價值，不需用科學強求。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920240"/>
            <a:ext cx="329184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274320"/>
          <a:lstStyle/>
          <a:p>
            <a:pPr algn="ctr">
              <a:spcAft>
                <a:spcPts val="1200"/>
              </a:spcAft>
              <a:defRPr sz="2400" b="1">
                <a:solidFill>
                  <a:srgbClr val="FF416C"/>
                </a:solidFill>
              </a:defRPr>
            </a:pPr>
            <a:r>
              <a:t>偽科學 (Pseudoscience)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披著羊皮的狼</a:t>
            </a:r>
            <a:br/>
            <a:br/>
            <a:r>
              <a:t>• 明明不可證偽，卻宣稱符合科學！</a:t>
            </a:r>
            <a:br/>
            <a:r>
              <a:t>• 算命占星：準了是大師神，不準是水逆干擾。</a:t>
            </a:r>
            <a:br/>
            <a:r>
              <a:t>• 永遠立於不敗之地＝永遠不是科學！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🦢 關鍵思維實驗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一萬隻白天鵝，能證明「全天下天鵝皆白」嗎？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62895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/>
          <a:lstStyle/>
          <a:p>
            <a:pPr algn="ctr">
              <a:spcAft>
                <a:spcPts val="1600"/>
              </a:spcAft>
              <a:defRPr sz="2800" b="1">
                <a:solidFill>
                  <a:srgbClr val="00F2FE"/>
                </a:solidFill>
              </a:defRPr>
            </a:pPr>
            <a:r>
              <a:t>💥 歸納法的致命死穴與一擊必殺</a:t>
            </a:r>
          </a:p>
          <a:p>
            <a:pPr>
              <a:spcAft>
                <a:spcPts val="2000"/>
              </a:spcAft>
              <a:defRPr sz="2400">
                <a:solidFill>
                  <a:srgbClr val="FFFFFF"/>
                </a:solidFill>
              </a:defRPr>
            </a:pPr>
            <a:r>
              <a:t>• 你在歐洲觀測了 1,000 隻、10,000 隻、1,000,000 隻白天鵝...</a:t>
            </a:r>
            <a:br/>
            <a:r>
              <a:t>  ➔ 你只能說「目前為止都是白的」，無法證明「世界上沒有其他顏色」。</a:t>
            </a:r>
            <a:br/>
            <a:br/>
            <a:r>
              <a:t>• 然而，只要在澳洲發現【1 隻黑天鵝】——</a:t>
            </a:r>
            <a:br/>
            <a:r>
              <a:t>  ➔ 累積千百年的美麗假說，在 0.1 秒內瞬間粉碎！</a:t>
            </a:r>
          </a:p>
          <a:p>
            <a:pPr>
              <a:defRPr sz="2400" b="1">
                <a:solidFill>
                  <a:srgbClr val="F59E0B"/>
                </a:solidFill>
              </a:defRPr>
            </a:pPr>
            <a:r>
              <a:t>💡 波普爾洞見：科學理論永遠不可能被「完全證明」，只能被「暫時未推翻」！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✈️ 第三站：費曼照妖鏡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費曼 1974 傳奇演說：貨物崇拜科學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365760"/>
          <a:lstStyle/>
          <a:p>
            <a:pPr algn="ctr">
              <a:spcAft>
                <a:spcPts val="1200"/>
              </a:spcAft>
              <a:defRPr sz="2600" b="1">
                <a:solidFill>
                  <a:srgbClr val="F59E0B"/>
                </a:solidFill>
              </a:defRPr>
            </a:pPr>
            <a:r>
              <a:t>🏝️ 南太平洋荒島儀式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• 二戰美軍降落小島帶來大量貨物</a:t>
            </a:r>
            <a:br/>
            <a:r>
              <a:t>• 戰後美軍離開，物資中斷</a:t>
            </a:r>
            <a:br/>
            <a:r>
              <a:t>• 島民用泥土開闢跑道、生起篝火</a:t>
            </a:r>
            <a:br/>
            <a:r>
              <a:t>• 用竹子蓋塔台、戴原木雕刻耳機</a:t>
            </a:r>
            <a:br/>
            <a:r>
              <a:t>• 虔誠祈禱，深信飛機會再降落</a:t>
            </a:r>
            <a:br/>
            <a:br/>
            <a:r>
              <a:t>👉 飛機永遠沒有再來！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365760"/>
          <a:lstStyle/>
          <a:p>
            <a:pPr algn="ctr">
              <a:spcAft>
                <a:spcPts val="1200"/>
              </a:spcAft>
              <a:defRPr sz="2600" b="1">
                <a:solidFill>
                  <a:srgbClr val="FF416C"/>
                </a:solidFill>
              </a:defRPr>
            </a:pPr>
            <a:r>
              <a:t>🪵 費曼的辛辣批判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許多實驗報告與專案，就像那副木頭耳機！</a:t>
            </a:r>
            <a:br/>
            <a:br/>
            <a:r>
              <a:t>• 步驟很完整、統計圖表很炫砲</a:t>
            </a:r>
            <a:br/>
            <a:r>
              <a:t>• 引用很多權威論文</a:t>
            </a:r>
            <a:br/>
            <a:r>
              <a:t>• 表面形式做足了 100 分</a:t>
            </a:r>
            <a:br/>
            <a:br/>
            <a:r>
              <a:t>⚠️ 底層卻徹底喪失了【科學誠實】與自我懷疑精神！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📉 科學史最酸故事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密立根油滴實驗：連大科學家都會集體自欺！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62895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457200"/>
          <a:lstStyle/>
          <a:p>
            <a:pPr algn="ctr">
              <a:spcAft>
                <a:spcPts val="1400"/>
              </a:spcAft>
              <a:defRPr sz="2600" b="1">
                <a:solidFill>
                  <a:srgbClr val="00F2FE"/>
                </a:solidFill>
              </a:defRPr>
            </a:pPr>
            <a:r>
              <a:t>長達 25 年的「爬樓梯」集體自我欺騙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密立根測量電子電荷 e，因空氣黏滯係數基準偏低，數值稍微偏小。</a:t>
            </a:r>
            <a:br/>
            <a:r>
              <a:t>• 後續科學家重複實驗：</a:t>
            </a:r>
            <a:br/>
            <a:r>
              <a:t>  - 測出太高？➔「密立根是大師，肯定是我漏電或量錯！」➔ 找藉口把數據修低。</a:t>
            </a:r>
            <a:br/>
            <a:r>
              <a:t>  - 測出相近？➔「太棒了，我做對了！」➔ 滿意發表。</a:t>
            </a:r>
            <a:br/>
            <a:r>
              <a:t>• 結果：數值花了整整 25 年，才一點一滴「爬」到現代真實值！</a:t>
            </a:r>
          </a:p>
          <a:p>
            <a:pPr>
              <a:defRPr sz="2400" b="1">
                <a:solidFill>
                  <a:srgbClr val="FF416C"/>
                </a:solidFill>
              </a:defRPr>
            </a:pPr>
            <a:r>
              <a:t>🔥 費曼第一原則：第一原則是你絕不能欺騙自己，而你自己就是最容易被欺騙的人！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🎯 痛擊探究現場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嘉中 201 探究實作自檢：你戴上木頭耳機了嗎？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spcAft>
                <a:spcPts val="1200"/>
              </a:spcAft>
              <a:defRPr sz="2400" b="1">
                <a:solidFill>
                  <a:srgbClr val="FF416C"/>
                </a:solidFill>
              </a:defRPr>
            </a:pPr>
            <a:r>
              <a:t>❌ 貨物崇拜（假科學惡習）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• 偷刪離群值：數據不漂亮直接 Delete</a:t>
            </a:r>
            <a:br/>
            <a:r>
              <a:t>• 先射箭再畫靶：硬湊課本公式結論</a:t>
            </a:r>
            <a:br/>
            <a:r>
              <a:t>• 隱匿失敗：只放成功的 2 次，隱瞞失敗的 8 次</a:t>
            </a:r>
            <a:br/>
            <a:r>
              <a:t>• 把排版當科學：圖表美觀但物理意義空白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365760"/>
          <a:lstStyle/>
          <a:p>
            <a:pPr algn="ctr">
              <a:spcAft>
                <a:spcPts val="1200"/>
              </a:spcAft>
              <a:defRPr sz="2400" b="1">
                <a:solidFill>
                  <a:srgbClr val="10B981"/>
                </a:solidFill>
              </a:defRPr>
            </a:pPr>
            <a:r>
              <a:t>✅ 正統探究（科學誠實姿態）</a:t>
            </a:r>
          </a:p>
          <a:p>
            <a:pPr>
              <a:defRPr sz="2100">
                <a:solidFill>
                  <a:srgbClr val="FFFFFF"/>
                </a:solidFill>
              </a:defRPr>
            </a:pPr>
            <a:r>
              <a:t>• 保留異常：離群點往往隱藏未控制的關鍵變因！</a:t>
            </a:r>
            <a:br/>
            <a:r>
              <a:t>• 誠實面對假說破產：證明此路不通也是大貢獻</a:t>
            </a:r>
            <a:br/>
            <a:r>
              <a:t>• 公開限制：主動把儀器誤差與局限攤在陽光下</a:t>
            </a:r>
            <a:br/>
            <a:r>
              <a:t>• 絕不自欺：寧交有瑕疵的真數據，不交美化贗品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🌈 第四站：科學光譜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科學光譜五重奏：你在哪一個頻段？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05740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FF416C"/>
                </a:solidFill>
              </a:defRPr>
            </a:pPr>
            <a:r>
              <a:t>反科學 (Anti-science)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公開反對科學共識</a:t>
            </a:r>
            <a:br/>
            <a:r>
              <a:t>如地平說、反疫苗。出於意識形態或利益，拒絕理性對話。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07791" y="1920240"/>
            <a:ext cx="205740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F59E0B"/>
                </a:solidFill>
              </a:defRPr>
            </a:pPr>
            <a:r>
              <a:t>偽科學 (Pseudoscience)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模仿科學名詞，不可證偽</a:t>
            </a:r>
            <a:br/>
            <a:r>
              <a:t>如量子手環、占星。永遠立於不敗之地，絕不認錯。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4064" y="1920240"/>
            <a:ext cx="205740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00F2FE"/>
                </a:solidFill>
              </a:defRPr>
            </a:pPr>
            <a:r>
              <a:t>貨物崇拜 (Cargo Cult)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徒具形式外殼，缺乏誠實</a:t>
            </a:r>
            <a:br/>
            <a:r>
              <a:t>如探究偷改數據、先射箭再畫靶。形式滿分、靈魂缺席。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0336" y="1920240"/>
            <a:ext cx="205740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38BDF8"/>
                </a:solidFill>
              </a:defRPr>
            </a:pPr>
            <a:r>
              <a:t>原科學 / 邊緣科學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非主流萌芽，但接受檢驗</a:t>
            </a:r>
            <a:br/>
            <a:r>
              <a:t>如魏格納大陸漂移說。雖被嘲笑但尊重證據，有潛力升格。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36608" y="1920240"/>
            <a:ext cx="2057400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/>
          <a:lstStyle/>
          <a:p>
            <a:pPr algn="ctr">
              <a:spcAft>
                <a:spcPts val="1000"/>
              </a:spcAft>
              <a:defRPr sz="2000" b="1">
                <a:solidFill>
                  <a:srgbClr val="10B981"/>
                </a:solidFill>
              </a:defRPr>
            </a:pPr>
            <a:r>
              <a:t>正統科學 (Orthodox)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t>可證偽、同儕審查、重複檢驗</a:t>
            </a:r>
            <a:br/>
            <a:r>
              <a:t>如量子力學、相對論。歡迎全世界拿數據來打臉修正！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⚔️ 實戰大擂台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嘉中 201 破案挑戰賽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10362895" cy="420624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457200"/>
          <a:lstStyle/>
          <a:p>
            <a:pPr algn="ctr"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情境 1：占星大師說水逆讓你倒楣，若順利是你心存善念抵銷了。</a:t>
            </a:r>
          </a:p>
          <a:p>
            <a:pPr>
              <a:spcAft>
                <a:spcPts val="1200"/>
              </a:spcAft>
              <a:defRPr sz="2200" b="1">
                <a:solidFill>
                  <a:srgbClr val="00F2FE"/>
                </a:solidFill>
              </a:defRPr>
            </a:pPr>
            <a:r>
              <a:t>   👉 【偽科學】（永遠能圓場，不可證偽）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情境 2：高二某組單擺週期差 0.3 秒，組長偷偷改數據做出線性圖。</a:t>
            </a:r>
          </a:p>
          <a:p>
            <a:pPr>
              <a:spcAft>
                <a:spcPts val="1200"/>
              </a:spcAft>
              <a:defRPr sz="2200" b="1">
                <a:solidFill>
                  <a:srgbClr val="00F2FE"/>
                </a:solidFill>
              </a:defRPr>
            </a:pPr>
            <a:r>
              <a:t>   👉 【貨物崇拜科學】（外殼完美，欺騙自己）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情境 3：1912 年魏格納提出大陸漂移說，當時被主流地質界笑是瘋子。</a:t>
            </a:r>
          </a:p>
          <a:p>
            <a:pPr>
              <a:spcAft>
                <a:spcPts val="1200"/>
              </a:spcAft>
              <a:defRPr sz="2200" b="1">
                <a:solidFill>
                  <a:srgbClr val="00F2FE"/>
                </a:solidFill>
              </a:defRPr>
            </a:pPr>
            <a:r>
              <a:t>   👉 【邊緣科學】（提出證據並接受檢驗）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</a:defRPr>
            </a:pPr>
            <a:r>
              <a:t>情境 4：國文老師寫了一首探討 AI 與孤獨的新詩，感動無數人。</a:t>
            </a:r>
          </a:p>
          <a:p>
            <a:pPr>
              <a:spcAft>
                <a:spcPts val="1200"/>
              </a:spcAft>
              <a:defRPr sz="2200" b="1">
                <a:solidFill>
                  <a:srgbClr val="00F2FE"/>
                </a:solidFill>
              </a:defRPr>
            </a:pPr>
            <a:r>
              <a:t>   👉 【非科學】（文學創作，深具價值但不需證偽）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11887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0F2FE"/>
                </a:solidFill>
              </a:defRPr>
            </a:pPr>
            <a:r>
              <a:t>🛡️ 終局裝備交付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帶出教室的防身武器：科學偵測雙稜鏡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00F2FE"/>
                </a:solidFill>
              </a:defRPr>
            </a:pPr>
            <a:r>
              <a:t>🔍 第一稜鏡 · 波普爾之鏡（照對手）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靈魂提問句：</a:t>
            </a:r>
            <a:br/>
            <a:br/>
            <a:r>
              <a:t>「請問在什麼具體條件下，</a:t>
            </a:r>
            <a:br/>
            <a:r>
              <a:t>你會承認你的主張是錯的？」</a:t>
            </a:r>
            <a:br/>
            <a:br/>
            <a:r>
              <a:t>👉 答不出來或永遠有藉口圓場：</a:t>
            </a:r>
            <a:br/>
            <a:r>
              <a:t>立刻判定為偽科學！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920240"/>
            <a:ext cx="4846320" cy="4114800"/>
          </a:xfrm>
          <a:prstGeom prst="roundRect">
            <a:avLst/>
          </a:prstGeom>
          <a:solidFill>
            <a:srgbClr val="1A2438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20040" lIns="365760"/>
          <a:lstStyle/>
          <a:p>
            <a:pPr algn="ctr">
              <a:spcAft>
                <a:spcPts val="1400"/>
              </a:spcAft>
              <a:defRPr sz="2400" b="1">
                <a:solidFill>
                  <a:srgbClr val="F59E0B"/>
                </a:solidFill>
              </a:defRPr>
            </a:pPr>
            <a:r>
              <a:t>🛡️ 第二稜鏡 · 費曼之鏡（照自己）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靈魂提問句：</a:t>
            </a:r>
            <a:br/>
            <a:br/>
            <a:r>
              <a:t>「我有沒有把可能推翻我假設的一切疑點，老實交代清楚？」</a:t>
            </a:r>
            <a:br/>
            <a:br/>
            <a:r>
              <a:t>👉 寫探究報告時主動公開限制：</a:t>
            </a:r>
            <a:br/>
            <a:r>
              <a:t>這是最高貴的科學品格！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0B981"/>
                </a:solidFill>
              </a:defRPr>
            </a:pPr>
            <a:r>
              <a:t>敬！敢於承認自己錯了的勇者</a:t>
            </a:r>
          </a:p>
          <a:p>
            <a:pPr>
              <a:spcAft>
                <a:spcPts val="2400"/>
              </a:spcAft>
              <a:defRPr sz="4600" b="1">
                <a:solidFill>
                  <a:srgbClr val="FFFFFF"/>
                </a:solidFill>
              </a:defRPr>
            </a:pPr>
            <a:r>
              <a:t>科學不是標準答案，</a:t>
            </a:r>
            <a:br/>
            <a:r>
              <a:t>而是一套勇敢修正自己的思考工具！</a:t>
            </a:r>
          </a:p>
          <a:p>
            <a:pPr>
              <a:spcAft>
                <a:spcPts val="2400"/>
              </a:spcAft>
              <a:defRPr sz="2600">
                <a:solidFill>
                  <a:srgbClr val="94A3B8"/>
                </a:solidFill>
              </a:defRPr>
            </a:pPr>
            <a:r>
              <a:t>「摘下那副木頭耳機，不要再為虛假的飛機祈禱。</a:t>
            </a:r>
            <a:br/>
            <a:r>
              <a:t>當嘉中 201 的每位同學都敢誠實面對數據的瑕疵，</a:t>
            </a:r>
            <a:br/>
            <a:r>
              <a:t>真正的科學發現，就在那裡誕生。」</a:t>
            </a:r>
          </a:p>
          <a:p>
            <a:pPr>
              <a:defRPr sz="2400" b="1">
                <a:solidFill>
                  <a:srgbClr val="00F2FE"/>
                </a:solidFill>
              </a:defRPr>
            </a:pPr>
            <a:r>
              <a:t>祝全班探究與實作順利 · 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